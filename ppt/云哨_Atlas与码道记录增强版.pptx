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mp4" ContentType="video/mp4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Default Extension="jpg" ContentType="image/jpe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d9107d54ea463a" /><Relationship Type="http://schemas.openxmlformats.org/officeDocument/2006/relationships/extended-properties" Target="/docProps/app.xml" Id="R266a04b0c3554ccc" /><Relationship Type="http://schemas.openxmlformats.org/officeDocument/2006/relationships/officeDocument" Target="/ppt/presentation.xml" Id="R1ac727f6898643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faee5929994099"/>
  </p:sldMasterIdLst>
  <p:notesMasterIdLst>
    <p:notesMasterId xmlns:r="http://schemas.openxmlformats.org/officeDocument/2006/relationships" r:id="Rd9acc96261554f3f"/>
  </p:notesMasterIdLst>
  <p:sldIdLst>
    <p:sldId xmlns:r="http://schemas.openxmlformats.org/officeDocument/2006/relationships" id="256" r:id="R4a89be96ad544e80"/>
    <p:sldId xmlns:r="http://schemas.openxmlformats.org/officeDocument/2006/relationships" id="257" r:id="Rd0c6220ab22b452a"/>
    <p:sldId xmlns:r="http://schemas.openxmlformats.org/officeDocument/2006/relationships" id="258" r:id="Refc1e4ce1ee6436b"/>
    <p:sldId xmlns:r="http://schemas.openxmlformats.org/officeDocument/2006/relationships" id="259" r:id="R1e6ed16b5e50457b"/>
    <p:sldId xmlns:r="http://schemas.openxmlformats.org/officeDocument/2006/relationships" id="260" r:id="R4f2a7d83816d4cfc"/>
    <p:sldId xmlns:ns1="http://schemas.openxmlformats.org/officeDocument/2006/relationships" id="273" ns1:id="RNetworkTopology"/>
    <p:sldId xmlns:ns1="http://schemas.openxmlformats.org/officeDocument/2006/relationships" id="274" ns1:id="RNetworkBoundary"/>
    <p:sldId xmlns:r="http://schemas.openxmlformats.org/officeDocument/2006/relationships" id="261" r:id="R7ee71f7068374da3"/>
    <p:sldId xmlns:r="http://schemas.openxmlformats.org/officeDocument/2006/relationships" id="262" r:id="Rab83f7c546994ff4"/>
    <p:sldId xmlns:ns1="http://schemas.openxmlformats.org/officeDocument/2006/relationships" id="301" ns1:id="RAtlasAdd1"/>
    <p:sldId xmlns:ns1="http://schemas.openxmlformats.org/officeDocument/2006/relationships" id="302" ns1:id="RAtlasAdd2"/>
    <p:sldId xmlns:r="http://schemas.openxmlformats.org/officeDocument/2006/relationships" id="263" r:id="R02530ed4a5a54de3"/>
    <p:sldId xmlns:r="http://schemas.openxmlformats.org/officeDocument/2006/relationships" id="264" r:id="R51fc1f642f504d13"/>
    <p:sldId xmlns:r="http://schemas.openxmlformats.org/officeDocument/2006/relationships" id="265" r:id="R7f715dd759654cbd"/>
    <p:sldId xmlns:r="http://schemas.openxmlformats.org/officeDocument/2006/relationships" id="266" r:id="Rc6d6392538ec4d0c"/>
    <p:sldId xmlns:r="http://schemas.openxmlformats.org/officeDocument/2006/relationships" id="267" r:id="R4d314046df0f4fe5"/>
    <p:sldId xmlns:r="http://schemas.openxmlformats.org/officeDocument/2006/relationships" id="268" r:id="R6214393fa4314b38"/>
    <p:sldId xmlns:r="http://schemas.openxmlformats.org/officeDocument/2006/relationships" id="269" r:id="Rf24bba3db054405f"/>
    <p:sldId xmlns:r="http://schemas.openxmlformats.org/officeDocument/2006/relationships" id="270" r:id="R9b2da97d33be4004"/>
    <p:sldId xmlns:ns1="http://schemas.openxmlformats.org/officeDocument/2006/relationships" id="303" ns1:id="RAtlasAdd3"/>
    <p:sldId xmlns:ns1="http://schemas.openxmlformats.org/officeDocument/2006/relationships" id="304" ns1:id="RAtlasAdd4"/>
    <p:sldId xmlns:ns1="http://schemas.openxmlformats.org/officeDocument/2006/relationships" id="305" ns1:id="RAtlasAdd5"/>
    <p:sldId xmlns:r="http://schemas.openxmlformats.org/officeDocument/2006/relationships" id="271" r:id="Rdb043bb258844587"/>
    <p:sldId xmlns:r="http://schemas.openxmlformats.org/officeDocument/2006/relationships" id="272" r:id="Rf548beb299184d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a21bb01827974c50"/><Relationship Type="http://schemas.openxmlformats.org/officeDocument/2006/relationships/slideMaster" Target="/ppt/slideMasters/slideMaster1.xml" Id="R1efaee5929994099"/><Relationship Type="http://schemas.openxmlformats.org/officeDocument/2006/relationships/notesMaster" Target="/ppt/notesMasters/notesMaster1.xml" Id="Rd9acc96261554f3f"/><Relationship Type="http://schemas.openxmlformats.org/officeDocument/2006/relationships/presProps" Target="/ppt/presProps.xml" Id="Rc108dbd4c1d34d58"/><Relationship Type="http://schemas.openxmlformats.org/officeDocument/2006/relationships/tableStyles" Target="/ppt/tableStyles.xml" Id="Rdeb17026ce344526"/><Relationship Type="http://schemas.openxmlformats.org/officeDocument/2006/relationships/slide" Target="/ppt/slides/slide1.xml" Id="R4a89be96ad544e80"/><Relationship Type="http://schemas.openxmlformats.org/officeDocument/2006/relationships/slide" Target="/ppt/slides/slide2.xml" Id="Rd0c6220ab22b452a"/><Relationship Type="http://schemas.openxmlformats.org/officeDocument/2006/relationships/slide" Target="/ppt/slides/slide3.xml" Id="Refc1e4ce1ee6436b"/><Relationship Type="http://schemas.openxmlformats.org/officeDocument/2006/relationships/slide" Target="/ppt/slides/slide4.xml" Id="R1e6ed16b5e50457b"/><Relationship Type="http://schemas.openxmlformats.org/officeDocument/2006/relationships/slide" Target="/ppt/slides/slide5.xml" Id="R4f2a7d83816d4cfc"/><Relationship Type="http://schemas.openxmlformats.org/officeDocument/2006/relationships/slide" Target="/ppt/slides/slide6.xml" Id="R7ee71f7068374da3"/><Relationship Type="http://schemas.openxmlformats.org/officeDocument/2006/relationships/slide" Target="/ppt/slides/slide7.xml" Id="Rab83f7c546994ff4"/><Relationship Type="http://schemas.openxmlformats.org/officeDocument/2006/relationships/slide" Target="/ppt/slides/slide8.xml" Id="R02530ed4a5a54de3"/><Relationship Type="http://schemas.openxmlformats.org/officeDocument/2006/relationships/slide" Target="/ppt/slides/slide9.xml" Id="R51fc1f642f504d13"/><Relationship Type="http://schemas.openxmlformats.org/officeDocument/2006/relationships/slide" Target="/ppt/slides/slide10.xml" Id="R7f715dd759654cbd"/><Relationship Type="http://schemas.openxmlformats.org/officeDocument/2006/relationships/slide" Target="/ppt/slides/slide11.xml" Id="Rc6d6392538ec4d0c"/><Relationship Type="http://schemas.openxmlformats.org/officeDocument/2006/relationships/slide" Target="/ppt/slides/slide12.xml" Id="R4d314046df0f4fe5"/><Relationship Type="http://schemas.openxmlformats.org/officeDocument/2006/relationships/slide" Target="/ppt/slides/slide13.xml" Id="R6214393fa4314b38"/><Relationship Type="http://schemas.openxmlformats.org/officeDocument/2006/relationships/slide" Target="/ppt/slides/slide14.xml" Id="Rf24bba3db054405f"/><Relationship Type="http://schemas.openxmlformats.org/officeDocument/2006/relationships/slide" Target="/ppt/slides/slide15.xml" Id="R9b2da97d33be4004"/><Relationship Type="http://schemas.openxmlformats.org/officeDocument/2006/relationships/slide" Target="/ppt/slides/slide16.xml" Id="Rdb043bb258844587"/><Relationship Type="http://schemas.openxmlformats.org/officeDocument/2006/relationships/slide" Target="/ppt/slides/slide17.xml" Id="Rf548beb299184da4"/><Relationship Id="RNetworkTopology" Type="http://schemas.openxmlformats.org/officeDocument/2006/relationships/slide" Target="/ppt/slides/slide18.xml"/><Relationship Id="RNetworkBoundary" Type="http://schemas.openxmlformats.org/officeDocument/2006/relationships/slide" Target="/ppt/slides/slide19.xml"/><Relationship Id="RAtlasAdd1" Type="http://schemas.openxmlformats.org/officeDocument/2006/relationships/slide" Target="/ppt/slides/slide20.xml"/><Relationship Id="RAtlasAdd2" Type="http://schemas.openxmlformats.org/officeDocument/2006/relationships/slide" Target="/ppt/slides/slide21.xml"/><Relationship Id="RAtlasAdd3" Type="http://schemas.openxmlformats.org/officeDocument/2006/relationships/slide" Target="/ppt/slides/slide22.xml"/><Relationship Id="RAtlasAdd4" Type="http://schemas.openxmlformats.org/officeDocument/2006/relationships/slide" Target="/ppt/slides/slide23.xml"/><Relationship Id="RAtlasAdd5" Type="http://schemas.openxmlformats.org/officeDocument/2006/relationships/slide" Target="/ppt/slides/slide24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ec83c9a7d84d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4bebd1345e4f67" /><Relationship Type="http://schemas.openxmlformats.org/officeDocument/2006/relationships/notesMaster" Target="/ppt/notesMasters/notesMaster1.xml" Id="R964a689028d045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a8d818d4364bc4" /><Relationship Type="http://schemas.openxmlformats.org/officeDocument/2006/relationships/notesMaster" Target="/ppt/notesMasters/notesMaster1.xml" Id="R0a06b44ba33b4b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dd551f92d6492c" /><Relationship Type="http://schemas.openxmlformats.org/officeDocument/2006/relationships/notesMaster" Target="/ppt/notesMasters/notesMaster1.xml" Id="Rc3a7f7f8fb214d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a48751aae45de" /><Relationship Type="http://schemas.openxmlformats.org/officeDocument/2006/relationships/notesMaster" Target="/ppt/notesMasters/notesMaster1.xml" Id="Ra7a2fea4e0ae4d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66281c49354ba0" /><Relationship Type="http://schemas.openxmlformats.org/officeDocument/2006/relationships/notesMaster" Target="/ppt/notesMasters/notesMaster1.xml" Id="Rd9828d050d9440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2145b5f7f24d76" /><Relationship Type="http://schemas.openxmlformats.org/officeDocument/2006/relationships/notesMaster" Target="/ppt/notesMasters/notesMaster1.xml" Id="R4b00a89cbbb245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9b2657725245eb" /><Relationship Type="http://schemas.openxmlformats.org/officeDocument/2006/relationships/notesMaster" Target="/ppt/notesMasters/notesMaster1.xml" Id="Rf1959d48dde243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c50790323a4519" /><Relationship Type="http://schemas.openxmlformats.org/officeDocument/2006/relationships/notesMaster" Target="/ppt/notesMasters/notesMaster1.xml" Id="Rbabca4aa3e614c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30240050894729" /><Relationship Type="http://schemas.openxmlformats.org/officeDocument/2006/relationships/notesMaster" Target="/ppt/notesMasters/notesMaster1.xml" Id="R121f80f9455549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1330f2a3ef4f91" /><Relationship Type="http://schemas.openxmlformats.org/officeDocument/2006/relationships/notesMaster" Target="/ppt/notesMasters/notesMaster1.xml" Id="R3fe0a85c317145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a3b9e206814c8c" /><Relationship Type="http://schemas.openxmlformats.org/officeDocument/2006/relationships/notesMaster" Target="/ppt/notesMasters/notesMaster1.xml" Id="R155df9a50ec74c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4c7fd950bc4569" /><Relationship Type="http://schemas.openxmlformats.org/officeDocument/2006/relationships/notesMaster" Target="/ppt/notesMasters/notesMaster1.xml" Id="R308903327ff54e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826f9d2c1a4e0b" /><Relationship Type="http://schemas.openxmlformats.org/officeDocument/2006/relationships/notesMaster" Target="/ppt/notesMasters/notesMaster1.xml" Id="Rad9be4b9a4c04e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e46f5bf9e34507" /><Relationship Type="http://schemas.openxmlformats.org/officeDocument/2006/relationships/notesMaster" Target="/ppt/notesMasters/notesMaster1.xml" Id="R84b3ff4af63644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bf7b4d3a304c88" /><Relationship Type="http://schemas.openxmlformats.org/officeDocument/2006/relationships/notesMaster" Target="/ppt/notesMasters/notesMaster1.xml" Id="R52ff9ff90aca47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f5b20fa9234410" /><Relationship Type="http://schemas.openxmlformats.org/officeDocument/2006/relationships/notesMaster" Target="/ppt/notesMasters/notesMaster1.xml" Id="R1e6f3957e9ab4a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b0aff168af4c8b" /><Relationship Type="http://schemas.openxmlformats.org/officeDocument/2006/relationships/notesMaster" Target="/ppt/notesMasters/notesMaster1.xml" Id="Rd7bd7b4b9d0b4bb6" 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d3be012749424226"/><Relationship Type="http://schemas.openxmlformats.org/officeDocument/2006/relationships/notesMaster" Target="/ppt/notesMasters/notesMaster1.xml" Id="Rf7d0084bfe6645e6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a6c57d23152844f0"/><Relationship Type="http://schemas.openxmlformats.org/officeDocument/2006/relationships/notesMaster" Target="/ppt/notesMasters/notesMaster1.xml" Id="R4819ce812f87451b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/Users/jiangdongting/Yunshao-project/Yunshao/README.md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说明：封面使用用户提供的参考演示文稿的通用科技背景。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/Users/jiangdongting/Yunshao-project/Yunshao/README.md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/Users/jiangdongting/Yunshao-project/Yunshao/ppt/assets/slides/overview.png</a:t>
            </a:r>
          </a:p>
          <a:p xmlns:a="http://schemas.openxmlformats.org/drawingml/2006/main">
            <a:r>
              <a:t>/Users/jiangdongting/Yunshao-project/Yunshao/ppt/SCREENSHOTS.md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说明：截图来自项目运行中的系统，模拟数据已标注。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/Users/jiangdongting/Yunshao-project/Yunshao/project/docs/Analysis/SPEC.md</a:t>
            </a:r>
          </a:p>
          <a:p xmlns:a="http://schemas.openxmlformats.org/drawingml/2006/main">
            <a:r>
              <a:t>说明：本页描述目标业务闭环，不宣称全部真实链路已经验收。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/Users/jiangdongting/Yunshao-project/Yunshao/readme/assets/system-network-current.svg</a:t>
            </a:r>
          </a:p>
          <a:p xmlns:a="http://schemas.openxmlformats.org/drawingml/2006/main">
            <a:r>
              <a:t>/Users/jiangdongting/Yunshao-project/Yunshao/readme/assets/system-network-current.drawio</a:t>
            </a:r>
          </a:p>
          <a:p xmlns:a="http://schemas.openxmlformats.org/drawingml/2006/main">
            <a:r>
              <a:t>/Users/jiangdongting/Yunshao-project/Yunshao/project/docs/Design/STRUCTURE.md</a:t>
            </a:r>
          </a:p>
          <a:p xmlns:a="http://schemas.openxmlformats.org/drawingml/2006/main">
            <a:r>
              <a:t>说明：依据实际单园区网络图提炼，跨园区公有云图仍为规划。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/Users/jiangdongting/Yunshao-project/Yunshao/project/docs/Design/STRUCTURE.md</a:t>
            </a:r>
          </a:p>
          <a:p xmlns:a="http://schemas.openxmlformats.org/drawingml/2006/main">
            <a:r>
              <a:t>说明：讲话出处：https://www.cac.gov.cn/2026-05/15/c_1780587100779588.htm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/Users/jiangdongting/Yunshao-project/Yunshao/project/docs/Specification/atlas_edge_runtime/tasks.md</a:t>
            </a:r>
          </a:p>
          <a:p xmlns:a="http://schemas.openxmlformats.org/drawingml/2006/main">
            <a:r>
              <a:t>/Users/jiangdongting/Yunshao-project/Yunshao/project/docs/Analysis/SPEC.md</a:t>
            </a:r>
          </a:p>
          <a:p xmlns:a="http://schemas.openxmlformats.org/drawingml/2006/main">
            <a:r>
              <a:t>说明：硬件图来自项目资料；不表示团队部署实拍。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/Users/jiangdongting/Yunshao-project/Yunshao/video/classroom_behavior.mp4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/Users/jiangdongting/Yunshao-project/Yunshao/project/docs/Specification/atlas_edge_runtime/tasks.md</a:t>
            </a:r>
          </a:p>
          <a:p xmlns:a="http://schemas.openxmlformats.org/drawingml/2006/main">
            <a:r>
              <a:t>说明：嵌入的真实课堂视频是场景素材，未展示模型推理或告警验收结果。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/Users/jiangdongting/Yunshao-project/Yunshao/project/src/clients/web/src/pages/DeviceDetailPage.vue</a:t>
            </a:r>
          </a:p>
          <a:p xmlns:a="http://schemas.openxmlformats.org/drawingml/2006/main">
            <a:r>
              <a:t>说明：只有规则启用且设备侧生效后，符合条件的检测才产生事件。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/Users/jiangdongting/Yunshao-project/Yunshao/ppt/assets/slides/monitor.png</a:t>
            </a:r>
          </a:p>
          <a:p xmlns:a="http://schemas.openxmlformats.org/drawingml/2006/main">
            <a:r>
              <a:t>/Users/jiangdongting/Yunshao-project/Yunshao/ppt/SCREENSHOTS.md</a:t>
            </a:r>
          </a:p>
          <a:p xmlns:a="http://schemas.openxmlformats.org/drawingml/2006/main">
            <a:r>
              <a:t>/Users/jiangdongting/Yunshao-project/Yunshao/project/src/clients/web/src/pages/MonitorPage.vue</a:t>
            </a:r>
          </a:p>
          <a:p xmlns:a="http://schemas.openxmlformats.org/drawingml/2006/main">
            <a:r>
              <a:t>说明：系统截图；当前显示无真实视频状态，不代表媒体链路已验收。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/Users/jiangdongting/Yunshao-project/Yunshao/project/docs/Analysis/SPEC.md</a:t>
            </a:r>
          </a:p>
          <a:p xmlns:a="http://schemas.openxmlformats.org/drawingml/2006/main">
            <a:r>
              <a:t>/Users/jiangdongting/Yunshao-project/Yunshao/project/src/clients/web/src/pages/EventDetailPage.vue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/Users/jiangdongting/Yunshao-project/Yunshao/project/docs/Specification/web_pwa_client/tasks.md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/Users/jiangdongting/Yunshao-project/Yunshao/project/src/clients/web/src/pages/AnalyticsPage.vue</a:t>
            </a:r>
          </a:p>
          <a:p xmlns:a="http://schemas.openxmlformats.org/drawingml/2006/main">
            <a:r>
              <a:t>/Users/jiangdongting/Yunshao-project/Yunshao/project/docs/Specification/platform_deployment/evidence/local_pc_20261020.json</a:t>
            </a:r>
          </a:p>
          <a:p xmlns:a="http://schemas.openxmlformats.org/drawingml/2006/main">
            <a:r>
              <a:t>说明：不使用虚构数据。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来源：AtomGit milo-ally-stu/Yunshao 的 model_codex_single-classroom-cycle 分支，提交 844135f，codearts_proof/skills/yunshao-classroom-model-rnd/SKILL.md；AtomGit jdt_123/Yunshao main 分支的 classroom_behavior_training.json 与 model_val/reports；华为云 CodeArts Agent Skills 官方文档 https://support.huaweicloud.com/intl/en-us/usermanual-codeartsagent/codeartsagent_ug_0024.html。图片由 OpenAI image_gen 生成，说明 CodeArts Agent 按 Skill 组织研发的工作方式，不是实际操作截图。仓库训练记录与 Skill 标准配置不同，不据此声称 Skill 全流程已验收。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来源：AtomGit jdt_123/Yunshao main 分支：codearts_proof/prompts/prompt.txt 的提示词3；codearts_proof/skills/project-spec-workflow/SKILL.md；project/docs/Specification/project_spec_workflow/{proposal,spec,design,tasks}.md；华为云 CodeArts Agent Skills 官方文档 https://support.huaweicloud.com/intl/en-us/usermanual-codeartsagent/codeartsagent_ug_0024.html。tasks.md 中 T-01、T-02、T-03 标为完成，包含 AC-01.1 至 AC-04.2 验收记录。图片由 OpenAI image_gen 生成，仅说明 CodeArts Agent + Skill 的工作方式，不是 CodeArts 操作界面截图。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/Users/jiangdongting/Yunshao-project/Yunshao/project/docs/Specification/platform_deployment/evidence/local_pc_20261020.json</a:t>
            </a:r>
          </a:p>
          <a:p xmlns:a="http://schemas.openxmlformats.org/drawingml/2006/main">
            <a:r>
              <a:t>/Users/jiangdongting/Yunshao-project/Yunshao/project/docs/Specification/atlas_edge_runtime/tasks.md</a:t>
            </a:r>
          </a:p>
          <a:p xmlns:a="http://schemas.openxmlformats.org/drawingml/2006/main">
            <a:r>
              <a:t>/Users/jiangdongting/Yunshao-project/Yunshao/project/docs/Specification/web_pwa_client/tasks.md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/Users/jiangdongting/Yunshao-project/Yunshao/project/docs/Design/STRUCTURE.md</a:t>
            </a:r>
          </a:p>
          <a:p xmlns:a="http://schemas.openxmlformats.org/drawingml/2006/main">
            <a:r>
              <a:t>说明：后续规划不代表已经交付。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/Users/jiangdongting/Yunshao-project/Yunshao/readme/assets/system-network-current.svg</a:t>
            </a:r>
          </a:p>
          <a:p xmlns:a="http://schemas.openxmlformats.org/drawingml/2006/main">
            <a:r>
              <a:t>/Users/jiangdongting/Yunshao-project/Yunshao/readme/assets/system-network-current.drawio</a:t>
            </a:r>
          </a:p>
          <a:p xmlns:a="http://schemas.openxmlformats.org/drawingml/2006/main">
            <a:r>
              <a:t>说明：按用户提供的现状拓扑重新排版。公网部署与跨园区 VPN 为后续规划；本页说明当前单园区链路。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/Users/jiangdongting/Yunshao-project/Yunshao/readme/assets/system-network-current.svg</a:t>
            </a:r>
          </a:p>
          <a:p xmlns:a="http://schemas.openxmlformats.org/drawingml/2006/main">
            <a:r>
              <a:t>/Users/jiangdongting/Yunshao-project/Yunshao/project/docs/Design/STRUCTURE.md</a:t>
            </a:r>
          </a:p>
          <a:p xmlns:a="http://schemas.openxmlformats.org/drawingml/2006/main">
            <a:r>
              <a:t>说明：表格依据用户提供的“网络路径与暴露边界”八条记录整理，保留主要端口与访问限制。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c018cd39a48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b68ca5bb649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d0bb408b645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c31c1eb3642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14a5068bc41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79a29f6cf44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0431B9-654A-43E0-A060-42F7A6A53B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07297B-CEA1-4798-B8F7-3C84B7576F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2AD7D7-0216-44BB-A6C6-1E5F863B4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574F8E-E1E7-40F1-B20D-9758A566C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3AA8EE-65C6-49F4-ACE6-9BC1DA6F68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64935E-05BF-4483-B2D0-F61BA5B39B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40D614-C560-44DF-825B-AAE2BD9F53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B72E98-C487-4456-80BC-C79060CBC3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B51E5F-3881-4B6F-88EE-F59AFA81DD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0A99DC-A79A-4F8E-AA91-7DD33B433A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0afb04d0564171" /><Relationship Type="http://schemas.openxmlformats.org/officeDocument/2006/relationships/slideLayout" Target="/ppt/slideLayouts/slideLayout1.xml" Id="R6193b0b96fef4c9c" /><Relationship Type="http://schemas.openxmlformats.org/officeDocument/2006/relationships/slideLayout" Target="/ppt/slideLayouts/slideLayout2.xml" Id="R46ce45956b50450b" /><Relationship Type="http://schemas.openxmlformats.org/officeDocument/2006/relationships/slideLayout" Target="/ppt/slideLayouts/slideLayout3.xml" Id="R91a68104fe4b45f8" /><Relationship Type="http://schemas.openxmlformats.org/officeDocument/2006/relationships/slideLayout" Target="/ppt/slideLayouts/slideLayout4.xml" Id="R4bc341a47c6d43d5" /><Relationship Type="http://schemas.openxmlformats.org/officeDocument/2006/relationships/slideLayout" Target="/ppt/slideLayouts/slideLayout5.xml" Id="Rb8b3463f7414466e" /><Relationship Type="http://schemas.openxmlformats.org/officeDocument/2006/relationships/slideLayout" Target="/ppt/slideLayouts/slideLayout6.xml" Id="Rebddb89cb382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93b0b96fef4c9c"/>
    <p:sldLayoutId xmlns:r="http://schemas.openxmlformats.org/officeDocument/2006/relationships" id="2147483650" r:id="R46ce45956b50450b"/>
    <p:sldLayoutId xmlns:r="http://schemas.openxmlformats.org/officeDocument/2006/relationships" id="2147483651" r:id="R91a68104fe4b45f8"/>
    <p:sldLayoutId xmlns:r="http://schemas.openxmlformats.org/officeDocument/2006/relationships" id="2147483652" r:id="R4bc341a47c6d43d5"/>
    <p:sldLayoutId xmlns:r="http://schemas.openxmlformats.org/officeDocument/2006/relationships" id="2147483653" r:id="Rb8b3463f7414466e"/>
    <p:sldLayoutId xmlns:r="http://schemas.openxmlformats.org/officeDocument/2006/relationships" id="2147483654" r:id="Rebddb89cb382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437ee673c48fd" /><Relationship Type="http://schemas.openxmlformats.org/officeDocument/2006/relationships/image" Target="/ppt/media/image.png" Id="R19e1a3c391d54837" /><Relationship Type="http://schemas.openxmlformats.org/officeDocument/2006/relationships/notesSlide" Target="/ppt/notesSlides/notesSlide1.xml" Id="Ra2190c1f96a944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600642d6b4ec2" /><Relationship Type="http://schemas.openxmlformats.org/officeDocument/2006/relationships/image" Target="/ppt/media/image2.png" Id="R30cfddf63e6f4822" /><Relationship Type="http://schemas.openxmlformats.org/officeDocument/2006/relationships/notesSlide" Target="/ppt/notesSlides/notesSlide2.xml" Id="Rfcfa5f24d93a45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35cbd73e4645d6" /><Relationship Type="http://schemas.openxmlformats.org/officeDocument/2006/relationships/image" Target="/ppt/media/image3.png" Id="R48d93f93050a46df" /><Relationship Type="http://schemas.openxmlformats.org/officeDocument/2006/relationships/image" Target="/ppt/media/image4.png" Id="R087b603f8ad54c60" /><Relationship Type="http://schemas.openxmlformats.org/officeDocument/2006/relationships/notesSlide" Target="/ppt/notesSlides/notesSlide3.xml" Id="Re422ee42425b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a712c2e904604" /><Relationship Type="http://schemas.openxmlformats.org/officeDocument/2006/relationships/image" Target="/ppt/media/image5.png" Id="Ra7c8ea42736f462c" /><Relationship Type="http://schemas.openxmlformats.org/officeDocument/2006/relationships/notesSlide" Target="/ppt/notesSlides/notesSlide4.xml" Id="Rc703f9df57634a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3b7cc85ff4608" /><Relationship Type="http://schemas.openxmlformats.org/officeDocument/2006/relationships/image" Target="/ppt/media/image6.png" Id="R65d1a7818dfe467f" /><Relationship Type="http://schemas.openxmlformats.org/officeDocument/2006/relationships/notesSlide" Target="/ppt/notesSlides/notesSlide5.xml" Id="Ra370fbf818a744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b0768bb0f4d2d" /><Relationship Type="http://schemas.openxmlformats.org/officeDocument/2006/relationships/image" Target="/ppt/media/image7.png" Id="R559bb1c990af4353" /><Relationship Type="http://schemas.openxmlformats.org/officeDocument/2006/relationships/notesSlide" Target="/ppt/notesSlides/notesSlide6.xml" Id="R3691a0a57d4849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bc9b49f904ae3" /><Relationship Type="http://schemas.openxmlformats.org/officeDocument/2006/relationships/image" Target="/ppt/media/image8.png" Id="R45ba7618df504e54" /><Relationship Type="http://schemas.openxmlformats.org/officeDocument/2006/relationships/image" Target="/ppt/media/image9.png" Id="R5c2ce8af3d294088" /><Relationship Type="http://schemas.openxmlformats.org/officeDocument/2006/relationships/notesSlide" Target="/ppt/notesSlides/notesSlide7.xml" Id="R18874b7fb2014a09" 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4bca00e97db402a"/><Relationship Type="http://schemas.openxmlformats.org/officeDocument/2006/relationships/image" Target="/ppt/media/image10.png" Id="Re8679f0bc7f04e68"/><Relationship Type="http://schemas.openxmlformats.org/officeDocument/2006/relationships/image" Target="/ppt/media/image11.png" Id="R02fd2d5819b04e47"/><Relationship Type="http://schemas.openxmlformats.org/officeDocument/2006/relationships/notesSlide" Target="/ppt/notesSlides/notesSlide8.xml" Id="R0c43f4e4b78d4416"/><Relationship Id="R1023VideoLink" Type="http://schemas.openxmlformats.org/officeDocument/2006/relationships/video" Target="../media/classroom_behavior_1023.mp4"/><Relationship Id="R1023VideoMedia" Type="http://schemas.microsoft.com/office/2007/relationships/media" Target="../media/classroom_behavior_1023.mp4"/><Relationship Id="R1023VideoPoster" Type="http://schemas.openxmlformats.org/officeDocument/2006/relationships/image" Target="../media/classroom_behavior_1023.jpg"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70434bcb44ec9" /><Relationship Type="http://schemas.openxmlformats.org/officeDocument/2006/relationships/image" Target="/ppt/media/image12.png" Id="R568ee8ac15044985" /><Relationship Type="http://schemas.openxmlformats.org/officeDocument/2006/relationships/notesSlide" Target="/ppt/notesSlides/notesSlide9.xml" Id="R1585d90a5bf64e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f3fa0119e47cb" /><Relationship Type="http://schemas.openxmlformats.org/officeDocument/2006/relationships/image" Target="/ppt/media/image13.png" Id="R174350ca359e44c1" /><Relationship Type="http://schemas.openxmlformats.org/officeDocument/2006/relationships/image" Target="/ppt/media/image14.png" Id="Rd269cee6013045fc" /><Relationship Type="http://schemas.openxmlformats.org/officeDocument/2006/relationships/notesSlide" Target="/ppt/notesSlides/notesSlide10.xml" Id="R584d3b48d64242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39f1b3402489a" /><Relationship Type="http://schemas.openxmlformats.org/officeDocument/2006/relationships/image" Target="/ppt/media/image15.png" Id="R845236b2fcdd4e72" /><Relationship Type="http://schemas.openxmlformats.org/officeDocument/2006/relationships/notesSlide" Target="/ppt/notesSlides/notesSlide11.xml" Id="Rb0a855e65d7f43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0f3eaaa6dd41cc" /><Relationship Type="http://schemas.openxmlformats.org/officeDocument/2006/relationships/image" Target="/ppt/media/image16.png" Id="R885dbb1cc40f4f63" /><Relationship Type="http://schemas.openxmlformats.org/officeDocument/2006/relationships/notesSlide" Target="/ppt/notesSlides/notesSlide12.xml" Id="R58e2aeb165364c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572c8e7228487d" /><Relationship Type="http://schemas.openxmlformats.org/officeDocument/2006/relationships/image" Target="/ppt/media/image17.png" Id="Rb3cc69ecb55b47cf" /><Relationship Type="http://schemas.openxmlformats.org/officeDocument/2006/relationships/notesSlide" Target="/ppt/notesSlides/notesSlide13.xml" Id="R712a3fbde37249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2b9e5358b4ba0" /><Relationship Type="http://schemas.openxmlformats.org/officeDocument/2006/relationships/image" Target="/ppt/media/image18.png" Id="R5a366d4a64c1437d" /><Relationship Type="http://schemas.openxmlformats.org/officeDocument/2006/relationships/image" Target="/ppt/media/image19.png" Id="Rb229929f9ebe4415" /><Relationship Type="http://schemas.openxmlformats.org/officeDocument/2006/relationships/notesSlide" Target="/ppt/notesSlides/notesSlide14.xml" Id="Rd564e6a393de41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658e6d60945d0" /><Relationship Type="http://schemas.openxmlformats.org/officeDocument/2006/relationships/image" Target="/ppt/media/image20.png" Id="Rd68ef80a39964fab" /><Relationship Type="http://schemas.openxmlformats.org/officeDocument/2006/relationships/image" Target="/ppt/media/image21.png" Id="Rfa19c64be3614f93" /><Relationship Type="http://schemas.openxmlformats.org/officeDocument/2006/relationships/notesSlide" Target="/ppt/notesSlides/notesSlide15.xml" Id="Rc58f5736220042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a439bffa74126" /><Relationship Type="http://schemas.openxmlformats.org/officeDocument/2006/relationships/image" Target="/ppt/media/image22.png" Id="R22d2d09990cd45e1" /><Relationship Type="http://schemas.openxmlformats.org/officeDocument/2006/relationships/notesSlide" Target="/ppt/notesSlides/notesSlide16.xml" Id="R4c2bb028d8f644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7496847914ab1" /><Relationship Type="http://schemas.openxmlformats.org/officeDocument/2006/relationships/image" Target="/ppt/media/image23.png" Id="R9f6fe92789fa44b3" /><Relationship Type="http://schemas.openxmlformats.org/officeDocument/2006/relationships/notesSlide" Target="/ppt/notesSlides/notesSlide17.xml" Id="R73a650ef9d514b29" 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d44ff3daaab43dd"/><Relationship Type="http://schemas.openxmlformats.org/officeDocument/2006/relationships/image" Target="/ppt/media/yunshao-network-topology.png" Id="R7dea1ee9b83e4b31"/><Relationship Type="http://schemas.openxmlformats.org/officeDocument/2006/relationships/notesSlide" Target="/ppt/notesSlides/notesSlide18.xml" Id="Rd5dadc634e764d1f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8e390688ca0443a"/><Relationship Type="http://schemas.openxmlformats.org/officeDocument/2006/relationships/image" Target="/ppt/media/yunshao-network-boundaries.png" Id="R2f0bad197d884956"/><Relationship Type="http://schemas.openxmlformats.org/officeDocument/2006/relationships/notesSlide" Target="/ppt/notesSlides/notesSlide19.xml" Id="R21a7d78ce93341f0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00079949aad4353"/><Relationship Type="http://schemas.openxmlformats.org/officeDocument/2006/relationships/image" Target="/ppt/media/atlasadd-1-image.png" Id="Rd7bd8a2ff4f34f44"/><Relationship Type="http://schemas.openxmlformats.org/officeDocument/2006/relationships/image" Target="/ppt/media/atlasadd-1-image2.png" Id="Rf6c59e2c524a4a0c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8d244c9cd494cb9"/><Relationship Type="http://schemas.openxmlformats.org/officeDocument/2006/relationships/image" Target="/ppt/media/atlasadd-2-image3.png" Id="Rc1bdde9a220c4201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53327c6f07642bd"/><Relationship Type="http://schemas.openxmlformats.org/officeDocument/2006/relationships/image" Target="/ppt/media/atlasadd-3-image4.png" Id="R8bf78aa456274086"/><Relationship Type="http://schemas.openxmlformats.org/officeDocument/2006/relationships/image" Target="/ppt/media/atlasadd-3-image.jpeg" Id="R6d329ee4064a445e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dfea9daec4e441a"/><Relationship Type="http://schemas.openxmlformats.org/officeDocument/2006/relationships/image" Target="/ppt/media/atlasadd-4-image5.png" Id="R7d766acf38884f57"/><Relationship Type="http://schemas.openxmlformats.org/officeDocument/2006/relationships/image" Target="/ppt/media/atlasadd-4-image2.jpeg" Id="R76b4c0ae9f834e83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417f57a0ce249e4"/><Relationship Type="http://schemas.openxmlformats.org/officeDocument/2006/relationships/image" Target="/ppt/media/atlasadd-5-image6.png" Id="Rc002c0f8a84a4f5d"/><Relationship Type="http://schemas.openxmlformats.org/officeDocument/2006/relationships/image" Target="/ppt/media/atlasadd-5-image3.jpeg" Id="Rc2f6d08e3be44cbd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E4D10-EF80-4168-8F5A-9C8FE4280E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1a3c391d548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0F85F-AC2D-4D2C-BD38-FB665F6F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AE64B-E7A4-4CFE-9357-8E4B5EFF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AIoT EDGE 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5390C-4DC7-4477-AE76-AB6C1121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B1B22-5D3B-4C13-B179-6E992D9A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云  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3C8CA-9E8E-4D2E-AC10-E69AB8AB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000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面向多行业的 AIoT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边缘视频智能平台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A9E44-0EB6-43D1-A275-027D6DE1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产品定位  ·  平台能力  ·  试点验证  ·  CodeArts 开发过程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3A525-D330-4B78-9E54-59469E11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48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6698568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D3932-13E7-42C6-99DC-4C7BE6F07D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fddf63e6f48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C29C0-D9CD-4D2E-8CC7-F9F0300D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C78B2-EEA3-4FE1-9970-9B298D24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F8C6F-25F5-43E9-A043-CABCC7E8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28956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02348-1A09-4098-9AB9-6E195ED8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33625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DDC3F-4551-4247-B4A8-AF929BCD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620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630BA-099A-4FF6-B25B-D4E3D5B7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266825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B20C7-D264-4692-B681-40395EE7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5ADCE-541A-4827-A61E-3C6482AD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1620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882A3-7960-4DD6-8049-E2B38326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266825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核心架构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E0512-57F0-4507-99FC-F3BF96D7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FB75D-4EB8-4A2B-A8CD-70BB3920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62BD1-557D-4BB6-911B-6BE7667E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828925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场景演示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B56AD-9EBC-4F84-8460-C6A3F6B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5C440-AD73-4615-AFAE-BE360249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FA59D-A5C6-42AF-B70A-CA8A0BCC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28925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运营闭环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793ED-E1CD-4763-8AC9-3B2BD02F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A6438-214D-4B1E-95F0-935F21BA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E4C78-DCAF-420D-985C-EFE14373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391025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 实践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9232C-ACCC-443B-ACF0-3654ECA9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244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98045-9E57-48F2-859B-05C18211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862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A25BC-1329-4E4F-B973-50956A2D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391025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32737-C2BB-4561-9963-264AF6D1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EE874C-9216-46FA-BA29-35B2830D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从首发教室试点，走向可复用的多行业平台</a:t>
            </a:r>
          </a:p>
        </p:txBody>
      </p:sp>
    </p:spTree>
    <p:extLst>
      <p:ext uri="{BB962C8B-B14F-4D97-AF65-F5344CB8AC3E}">
        <p14:creationId xmlns:p14="http://schemas.microsoft.com/office/powerpoint/2010/main" val="13007345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5D834-CEBF-4B84-809F-F99D2C1361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93f93050a46df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056FC-05D2-4221-9D1B-54471C6D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A4DCE-66EE-4C75-850E-3D1616C9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20A65-771C-4724-AD19-046B9194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01 / 产品定位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E42DF-2815-41AA-BFAE-E033446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一套平台，连接多种现场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72EAA-62DB-42EE-A147-F5FE1B2D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6FE03-DB9F-4B3F-81AB-8D5FB140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云哨定位：面向多行业的 AIoT 边缘视频智能平台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BC51B-2E5E-4FEC-973E-85BC51F0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B6C53-8689-443D-86B1-2854DD0E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53528-3E01-4AB6-AAFE-7F0D5C4A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底座复用，算法按场景扩展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0F78B-AAFD-4970-A3B1-24D40142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4381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接入 · 视频 · 规则 · 事件 · 通知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EE0E9-3B23-4F63-B96E-C1F14B21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44386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以教室行为检测为首发试点，复用统一平台能力扩展园区、仓储等场景。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2A434-77EE-4DE0-A039-0D58E14418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b603f8ad54c60"/>
          <a:stretch xmlns:a="http://schemas.openxmlformats.org/drawingml/2006/main"/>
        </p:blipFill>
        <p:spPr>
          <a:xfrm xmlns:a="http://schemas.openxmlformats.org/drawingml/2006/main">
            <a:off x="5638800" y="2106083"/>
            <a:ext cx="5791200" cy="3217333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FE303-8ED7-4763-AC43-3E34A9AD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85975"/>
            <a:ext cx="57912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B0786-1F8B-44AA-AEB9-DC2EA57A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505450"/>
            <a:ext cx="5800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rPr>
              <a:t>真实系统页面；设备与事件为模拟数据</a:t>
            </a:r>
          </a:p>
        </p:txBody>
      </p:sp>
    </p:spTree>
    <p:extLst>
      <p:ext uri="{BB962C8B-B14F-4D97-AF65-F5344CB8AC3E}">
        <p14:creationId xmlns:p14="http://schemas.microsoft.com/office/powerpoint/2010/main" val="18907004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E5F66B-737B-4289-A042-02D283C526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8ea42736f462c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72F5C-153A-4312-8763-F9E176A7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B4D6B-E49A-40AE-BF34-0054CC89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970A0-104A-4DB2-B0CB-873F3E43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02 / 业务闭环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8522E-03D4-4BEE-81A9-ED7AD3DF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从画面到处置，形成可追踪闭环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99E5-6B74-42DF-9C1A-0F9ADE91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33E98-0FC2-4DD2-9187-3D061A52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首发规格覆盖完整链路；实际端到端能力以真实设备验收为准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AFAA2-657D-4D05-AA50-16712E3C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CA39D-28C7-490D-8269-E2C6CA95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52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F2779-17D0-4534-A2EE-30778E31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97615-2DD1-4D3A-BAA4-8FEAB18B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视频接入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2B8E2-30EF-4BEA-AFA9-FA2BC7EA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2447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摄像头画面与设备状态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20693-5E4B-4ACB-8842-CC42440C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765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F79B7-600F-44C9-B023-624AD174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252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CF3D2-66DD-4191-9AF0-0250BE19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09850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F85FB-ED88-462C-9C54-DF5FD2B4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671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边缘识别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83D3A-2621-48FC-954E-760CB599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43400"/>
            <a:ext cx="2447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模型输出目标与行为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72C01-2D47-4A74-A46E-53BF6F8D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765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AF921-3544-4A12-90E1-20DCC930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19350"/>
            <a:ext cx="252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636D3-798B-4840-AAB3-34263E44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09850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06758-51EC-405B-AFFF-74CAE0CE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671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规则告警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647AA-D4A8-4D8D-8A63-B5E8672F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43400"/>
            <a:ext cx="2447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命中规则才产生事件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D2585-9CF9-44BF-9FF9-BEAB5301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765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3EC487-5199-42C3-BD66-7535181E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19350"/>
            <a:ext cx="252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756DAC-5071-49F6-B985-015D940B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5CE20C-91E3-4F64-9FCA-51A96E95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671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协同处置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7CA2B4-E6F0-4426-A546-B098ACB2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43400"/>
            <a:ext cx="2447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Web / PWA 查看与处理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70FC21-CB02-4A23-B984-ABC99553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848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9A364-B9F1-4ABF-B53D-90620B0B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边缘实时处理    /    事件证据沉淀    /    人员处理记录</a:t>
            </a:r>
          </a:p>
        </p:txBody>
      </p:sp>
    </p:spTree>
    <p:extLst>
      <p:ext uri="{BB962C8B-B14F-4D97-AF65-F5344CB8AC3E}">
        <p14:creationId xmlns:p14="http://schemas.microsoft.com/office/powerpoint/2010/main" val="13787591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68451-433B-4ACE-8126-FCF77D5C2F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1a7818dfe467f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24F3C-9710-4399-8194-D52B937A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4C8CB-8F7E-48B2-BE6C-FF8EFA7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8310D-8714-411C-B8C3-BD3E3D30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03 / 核心架构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475C6-744D-4F49-BE40-542C84CD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边缘负责识别，平台负责协同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74024-A364-43D8-B79B-31C092E5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E7C4F-9867-41B8-BEE7-13503E93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当前首发为单园区部署；跨园区公有云拓扑仍属规划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ED12D-B7C1-4998-9269-A5A7A2A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24881-997E-4CE8-989B-7D819CDF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23526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2F143-3289-4592-A02B-30F67743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2352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21BB9-7111-451A-9594-AA1C9B78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574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FC00D-6B1D-4B8B-B706-C6D7731A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242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摄像头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CB339-72B7-4D1B-B4D6-51C9B0D9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338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H.264 / RTSP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71BCC-095A-4A34-8C6B-7184B6BC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0D045-78F8-437B-A477-BD840CF2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23526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C8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3BAEA-B93A-4897-9393-3F0C760A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2352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FD9C9-B8D8-4365-9DB5-8E11508D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574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1D2D2-E5C0-4F55-B104-025E7613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边缘端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93AEA-8F47-41AA-968D-4E250FAF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338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本地推理 / 事件筛选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6587DA-0D02-4377-BC49-433C769D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051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62F15-55D9-4718-B393-44A5D4BB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57450"/>
            <a:ext cx="23526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6FBC7-A248-4EC1-83AC-E487C028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57450"/>
            <a:ext cx="2352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77AD24-8B91-49C2-8E63-957BCE25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574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810B9-1FED-4065-8916-CE202D5D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242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园区平台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C8A36-DB95-4ABB-8BE1-BCBAF44C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7338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媒体 / 设备 / 事件 / Push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91E969-8049-4E37-ADDA-58F40A9A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3DB915-410B-4A4C-8B86-EBA6BE23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23526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60B8D-E360-442D-A48E-A73B2E8C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2352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A8A4F-5B25-44AB-BF82-0C2B3F66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574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568963-B89B-4557-ADFB-3E8BC42D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242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PWA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1FDCA1-DA72-4813-BD4C-FA4B366E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实时查看 / 追溯处置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84F420-350B-470D-B5C9-2E8B78E5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1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RTSP 摄像头 → Atlas 推理 → MQTT/TLS 事件上报 → 云端业务服务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1A70E2-1660-485F-A93D-A63040A7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MediaMTX 管理 RTSP / WebRTC / HLS；浏览器经 Nginx HTTPS 443 访问，数据库仅内部 TCP 5432。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293BF8-3C40-4DA5-8856-3AD51FB2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0275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rPr>
              <a:t>当前单园区网络拓扑详图与 draw.io 源文件保留在项目 readme/assets。</a:t>
            </a:r>
          </a:p>
        </p:txBody>
      </p:sp>
    </p:spTree>
    <p:extLst>
      <p:ext uri="{BB962C8B-B14F-4D97-AF65-F5344CB8AC3E}">
        <p14:creationId xmlns:p14="http://schemas.microsoft.com/office/powerpoint/2010/main" val="6740874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0B2BE-C695-4AC4-82CB-562E2F4499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bb1c990af4353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E3CB8-D806-47F7-8FBA-4B857E0C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6166C-13E1-4CBB-916C-ECFF796E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5FEF4-C025-4DA2-A74F-59E6A3F6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04 / 核心亮点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D1FC6-9DEC-4585-B535-06BC734B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多行业扩展的四个支点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4EEC1-A24D-4E07-A6A3-C011ED3A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45D0E-17D8-4A82-B4B6-03FBB407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平台能力和场景算法解耦，先验证一条真实链路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16B27-5204-4980-9830-E0746A2F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932BC-0EA7-48B2-A17A-C8E75F1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571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5C413-999E-4F61-AD74-59E49093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边缘识别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B144B-C8B2-4293-BE0B-96FA85A2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43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现场完成模型推理，降低中心端负担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2040F-A58E-449B-A95D-EBB06406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571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A3ADD-636F-4089-9DF6-B1814F6F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62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规则驱动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C3991-3C23-4629-944B-42CE2389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0375"/>
            <a:ext cx="4943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检测与告警分开配置，按需触发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B4CA6-0EF8-45CA-8442-91871C20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67175"/>
            <a:ext cx="571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8FE56-D636-47CB-BC1C-0294E819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统一处置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E1159-5253-4140-9A28-61340700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4943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截图、状态与处理记录集中追踪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16B4B-288E-4CCD-B9E6-AF364F6F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67175"/>
            <a:ext cx="571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8D117-2E52-4272-B0B5-1FF290A3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481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底座复用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BFBFC-AB3C-41AC-B56F-A6FCD4E8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86300"/>
            <a:ext cx="4943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接入、视频、事件和通知能力共享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2A417-40A1-48D2-925F-F9675FB3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习近平：推动互联网、大数据、人工智能同实体经济深度融合。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065D4-D72F-46BB-A834-056FFDBD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43625"/>
            <a:ext cx="1083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项目实践：把算法部署到 Atlas 边缘端，验证现场识别与云端业务协同。</a:t>
            </a:r>
          </a:p>
        </p:txBody>
      </p:sp>
    </p:spTree>
    <p:extLst>
      <p:ext uri="{BB962C8B-B14F-4D97-AF65-F5344CB8AC3E}">
        <p14:creationId xmlns:p14="http://schemas.microsoft.com/office/powerpoint/2010/main" val="18723167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DC4F6-BA70-4A37-875D-F7021265AF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a7618df504e54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599C9-55F0-4BA4-A2BD-A9B5C7AF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F60E5-90CE-4248-A0BB-B4EA3F58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F3EAD-3E4D-4CA4-8405-AA956B62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05 / 边缘计算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E5302-75EB-4F4A-8E25-5BC617C4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200I DK A2：模型落在现场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F5AE8-84DD-489E-90EB-6543BDDD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B9C52-E3E5-4476-A647-A554089F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板端已有模型加载与合成视频处理验证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F4845-1BA5-4C2B-913C-FC076F0B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A08DF-C4FE-4FE4-B534-B0D0302B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8769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DBE41-CEAF-46B8-BAC5-599898FF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876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4E8DD-6A44-4D22-B210-C919BDADF1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ce8af3d294088"/>
          <a:stretch xmlns:a="http://schemas.openxmlformats.org/drawingml/2006/main"/>
        </p:blipFill>
        <p:spPr>
          <a:xfrm xmlns:a="http://schemas.openxmlformats.org/drawingml/2006/main">
            <a:off x="800100" y="2490224"/>
            <a:ext cx="5476875" cy="242047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7E050-9CA2-41E4-A1ED-C7851C0F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rPr>
              <a:t>现有硬件产品图，非团队部署实拍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0AD7C-88FB-4A5F-9D00-1B68F8B9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955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C21C9-63A7-4A5D-989E-A58AA47F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66950"/>
            <a:ext cx="3838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现场推理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7FF41-E5C0-4D18-8009-ACCB0C84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19425"/>
            <a:ext cx="4095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Ascend 310B4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D753F-8E9D-4D13-A80D-F74C1C98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290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YOLO11n / 640 模型流程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3F990-39D1-4FAC-ABA1-744635E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81550"/>
            <a:ext cx="4010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真实相机 → 浏览器播放链路仍待联调验收。</a:t>
            </a:r>
          </a:p>
        </p:txBody>
      </p:sp>
    </p:spTree>
    <p:extLst>
      <p:ext uri="{BB962C8B-B14F-4D97-AF65-F5344CB8AC3E}">
        <p14:creationId xmlns:p14="http://schemas.microsoft.com/office/powerpoint/2010/main" val="9055989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1828A-23DE-4EA4-BBBC-031E1B93C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79f0bc7f04e68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C99D8-D183-4F90-B0FB-4AC68F52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3FAD7-96B7-42FD-A948-53C5E15F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0427E-A119-4087-B678-5BC3200B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06 / 场景演示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C5362-33B1-430B-9EA4-AC6509A0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教室可见行为：用真实视频说明场景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3686B-A437-47EF-AE25-8329DF74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1DC15-1A22-425E-9A74-8275C518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15 秒课堂素材；放映时点击视频画面播放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25FEC-3458-4E14-B8F5-DFDBCEE5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A2CA5-FACB-4412-B738-DEA7AF9732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d2d5819b04e47"/>
          <a:srcRect xmlns:a="http://schemas.openxmlformats.org/drawingml/2006/main" l="0" t="44" r="0" b="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047875"/>
            <a:ext cx="7219950" cy="4057650"/>
          </a:xfrm>
          <a:prstGeom xmlns:a="http://schemas.openxmlformats.org/drawingml/2006/main"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9" name="课堂行为演示视频">
            <a:hlinkClick action="ppaction://media"/>
          </p:cNvPr>
          <p:cNvPicPr>
            <a:picLocks noChangeAspect="1"/>
          </p:cNvPicPr>
          <p:nvPr>
            <a:videoFile r:link="R1023VideoLink"/>
            <p:extLst>
              <p:ext uri="{DAA4B4D4-6D71-4841-9C94-3DE7FCFB9230}">
                <p14:media xmlns:p14="http://schemas.microsoft.com/office/powerpoint/2010/main" r:embed="R1023VideoMedia"/>
              </p:ext>
            </p:extLst>
          </p:nvPr>
        </p:nvPicPr>
        <p:blipFill>
          <a:blip r:embed="R1023VideoPoster"/>
          <a:stretch>
            <a:fillRect/>
          </a:stretch>
        </p:blipFill>
        <p:spPr>
          <a:xfrm>
            <a:off x="619125" y="2047875"/>
            <a:ext cx="7219950" cy="4057650"/>
          </a:xfrm>
          <a:prstGeom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6E0EF-36D6-4A89-856B-DCB84A2A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72199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56676-858A-408C-8E5E-F5DDCAB3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7219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3BBE1-6431-45F5-9E64-5F32D8FE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57425"/>
            <a:ext cx="304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首发试点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15BC0-2402-45BA-AAA1-E473BB01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432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举手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CBD51-BB6A-4B53-92C0-573ABCEC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阅读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7D686-B5CB-4F72-8D15-B248A948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862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书写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F50D7-8283-478B-BED0-2BFE8F80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24475"/>
            <a:ext cx="2962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802DF-3E46-45AE-B87D-C35FAA83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53075"/>
            <a:ext cx="308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真实课堂素材；未叠加模型识别结果</a:t>
            </a:r>
          </a:p>
        </p:txBody>
      </p:sp>
    </p:spTree>
    <p:extLst>
      <p:ext uri="{BB962C8B-B14F-4D97-AF65-F5344CB8AC3E}">
        <p14:creationId xmlns:p14="http://schemas.microsoft.com/office/powerpoint/2010/main" val="1275542828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EC6368-31F9-4CDF-9471-597E1BCE0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ee8ac15044985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9BA66-288C-471A-9573-020F5BBE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DCE4E-6020-4C2E-8F0E-441A70D6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5E9D8-4F08-48C9-9F8C-8D1FE05D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07 / 规则机制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4B6F6-2B59-4A28-8F1C-49D1848F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检测结果与告警分开管理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3FDB1-A3CA-4B06-B3FF-83CB8CB6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C6CD1-1BF4-4AF9-9F60-AAF3CB38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识别持续运行；告警由业务规则决定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DE047-9BF4-4CB0-913C-D7E246E4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D19BD-BFE2-497B-950D-F399C786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50577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5C42C-EF97-43B9-9523-D3DC63AF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50577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9AD48-8EDD-49E9-B071-4500F776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50577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54AFF-E9D9-4803-BEFE-2E6D319A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4267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检测输出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E10BB-3DB1-4C62-B6B6-C7DF2CD5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90925"/>
            <a:ext cx="42100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行为类别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目标框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置信度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29E1C-E68D-4CCC-B6BE-8FF82D07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09825"/>
            <a:ext cx="50577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A81EC-76D0-4CF9-B93E-7DAFC57A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09825"/>
            <a:ext cx="50577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C8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B6995-1756-4F47-AE32-24DE39BF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09825"/>
            <a:ext cx="50577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62066-DAFA-4DDC-BEB7-AD900F23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267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告警规则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B7A91-B4B6-47CB-889F-7594E375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590925"/>
            <a:ext cx="42100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开关 / 阈值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持续时间 / 等级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命中后生成事件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407AB-57D3-4899-9AE9-9CB8DE47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0801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课堂告警默认关闭</a:t>
            </a:r>
          </a:p>
        </p:txBody>
      </p:sp>
    </p:spTree>
    <p:extLst>
      <p:ext uri="{BB962C8B-B14F-4D97-AF65-F5344CB8AC3E}">
        <p14:creationId xmlns:p14="http://schemas.microsoft.com/office/powerpoint/2010/main" val="16832945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74664-2D22-4679-88C1-7DD1EB485B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350ca359e44c1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C6B2D-9AB8-4AAC-9CB0-1843AE3F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43303-95C4-4088-BD60-E0D5C5B7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200CC-561F-4E59-B414-2AE8C567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08 / 实时监控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A6053-246C-4B0B-8239-5EC364A2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画面、状态与来源同屏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DE777-394E-4CC3-8F2F-7C5E225A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CDE40-2E5E-42F7-B35C-17493851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桌面端承担实时监控，移动端聚焦通知与事件详情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C6BDF-2EC5-4BFA-8CD9-D809B876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74E28-CD72-42B6-8180-1C0A5479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4E0B3-158F-4AC5-B9B3-44952417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4410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授权摄像头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F1B90-1231-45AE-84B5-1D28CF80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38475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设备筛选与状态查看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6FF45-C1A5-4559-A254-5DA421B3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WebRTC 优先 / HLS 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7FFEC-5433-4741-B871-86F2BA67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4248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统一进入事件详情，查看告警截图与处理记录。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F82CF-F434-4538-A62D-07F9E23347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9cee6013045fc"/>
          <a:stretch xmlns:a="http://schemas.openxmlformats.org/drawingml/2006/main"/>
        </p:blipFill>
        <p:spPr>
          <a:xfrm xmlns:a="http://schemas.openxmlformats.org/drawingml/2006/main">
            <a:off x="5734050" y="2270654"/>
            <a:ext cx="5695950" cy="316441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79CFD-8733-46A8-BD06-D52D3FDD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62175"/>
            <a:ext cx="56959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6EB52-732D-41B9-817E-3EA83B8B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76900"/>
            <a:ext cx="5724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rPr>
              <a:t>真实系统监控页；当前未连接真实相机视频</a:t>
            </a:r>
          </a:p>
        </p:txBody>
      </p:sp>
    </p:spTree>
    <p:extLst>
      <p:ext uri="{BB962C8B-B14F-4D97-AF65-F5344CB8AC3E}">
        <p14:creationId xmlns:p14="http://schemas.microsoft.com/office/powerpoint/2010/main" val="9900915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2BE91D-728E-4BC8-A9E6-E4EB1A09E1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236b2fcdd4e72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C0D37-3DD7-4CF4-88BA-9325076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80743-1C91-452F-8908-99A8B284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01E18-B8AC-49F7-BA8F-DE422E7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09 / 事件处置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87AA8-A3A5-422C-BF25-449A0E38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每次告警，都有证据与处理记录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C1963-776F-4E38-8A6F-AAB83FD5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7FA7A-D554-4153-AD9E-35A6E6E6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让异常从发生到结案可追踪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41484-6DF3-4B6E-AFA0-4500A727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E9A0C-499C-41A4-925E-355DB47B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04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48262-9FEF-4402-A53D-4626EDBF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38475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CFFBA-F12B-436A-A8DB-8F059979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ABC8E-585B-47EA-997B-18297FAC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规则命中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2D455-9C0C-45BB-A422-FFFB2CE8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39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时间、设备、等级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FCCC3-C673-45E2-932B-B25831F2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38475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71D4A-02B0-495B-83FF-88E13ED7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57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D1961-16E6-4EF8-9B50-827EBFC9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留存截图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5D48C-0FBF-4842-85AD-7D3E0CBC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86250"/>
            <a:ext cx="239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画面证据关联事件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FC488-A9FB-4704-ABDC-64BA7F6B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38475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6DA91-9A74-4396-BB7F-E1421942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D49DA-A281-4827-8E1F-57E4E17A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人员处理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E3174-3029-4BEE-B335-F42E5DE5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86250"/>
            <a:ext cx="239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解除 / 误报 / 跟进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1BD661-7F94-40DA-8389-F3EACCC9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38475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4ED6E-0290-4DA9-971E-1DA65BF5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932D8-2478-48E4-B16C-16DBE279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195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历史追溯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6BD0D-5676-49BE-A6AA-EAC25DFF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86250"/>
            <a:ext cx="239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状态与时间线保留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23C59-E1D8-49DC-B500-21E15832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00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截图上传后保留 24 小时；事件与处理记录继续可查</a:t>
            </a:r>
          </a:p>
        </p:txBody>
      </p:sp>
    </p:spTree>
    <p:extLst>
      <p:ext uri="{BB962C8B-B14F-4D97-AF65-F5344CB8AC3E}">
        <p14:creationId xmlns:p14="http://schemas.microsoft.com/office/powerpoint/2010/main" val="3248385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5410C-DCD0-4702-BBB1-49209B0C94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dbb1cc40f4f63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318B1-08A2-4B54-8A77-9CB84379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2207D-14A4-4968-AC0B-D7D111E4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B399C-7ED7-4F5A-A34D-6FC3ACC0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10 / 移动触达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F1480-EEDF-4C50-8DEE-4BB7D68B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PWA 告警，直达事件详情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2FA35-4D43-4289-90F8-DB0485EA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2EFB0-9EF8-42EC-AE85-DDD76557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让处理人员从通知进入同一条事件记录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C84E6-73C7-453B-86DE-C6C6665B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E04DC-3A4E-4CC3-A84A-116CCB52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05075"/>
            <a:ext cx="4953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PWA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2641D-BA00-494A-948E-FB2E3994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451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6FE58-7886-4375-BF0F-E2518E25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订阅通知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78D00-8974-433D-8D5D-D50FA279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规则命中后推送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CC420-2DCD-4264-A756-DCD42305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鉴权后打开详情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4F7D3-50E8-4699-98FD-33582D03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CED4E-C362-46F3-94BD-95C103D3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C3786-EB8F-45BD-A6F0-395A87A8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72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真实 Push 送达与手机回跳仍待端到端验收</a:t>
            </a:r>
          </a:p>
        </p:txBody>
      </p:sp>
    </p:spTree>
    <p:extLst>
      <p:ext uri="{BB962C8B-B14F-4D97-AF65-F5344CB8AC3E}">
        <p14:creationId xmlns:p14="http://schemas.microsoft.com/office/powerpoint/2010/main" val="8519535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09FB4-6FDD-499B-B304-FDD9DFCCDC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c69ecb55b47cf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3BA03-F828-4B48-9304-AE4F7EFB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EC863-6688-49FE-A92B-38542F14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6F613-6682-43F9-94B1-7E4D59A2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11 / 数据分析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04D05-6AD1-4C3B-B580-9947F087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让事件形成可回看的趋势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D24C1-F083-479B-8181-F6B35B69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3855C-EC8A-4161-BA90-FE674121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统计对象是规则命中事件；此处不展示未经核实的运营数据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28E01-C7A7-470E-BD68-70D2A9EC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D8430-8786-4186-975A-E7C9C17C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955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49548-E30D-42BA-804D-4DCFAFCA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955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趋势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E3A58-0F3F-4F53-9201-8A92DF6D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00325"/>
            <a:ext cx="70389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今天 / 近 7 天 / 近 30 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A25C5-62FB-4A82-9E7D-97146293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945E1-4B38-4120-A10A-AF7F76A3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719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分布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B1CB4-B2AD-4A2A-AEED-DEF12A43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76675"/>
            <a:ext cx="70389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等级 / 类型 / 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5B3AA-5A14-4525-ABB9-E339100A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482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31D9D-B537-4669-BFEB-9F4623AA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482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处置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B5AEF-E95F-49DD-B2E5-0A227114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53025"/>
            <a:ext cx="70389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待跟进 / 已处理 / 误报</a:t>
            </a:r>
          </a:p>
        </p:txBody>
      </p:sp>
    </p:spTree>
    <p:extLst>
      <p:ext uri="{BB962C8B-B14F-4D97-AF65-F5344CB8AC3E}">
        <p14:creationId xmlns:p14="http://schemas.microsoft.com/office/powerpoint/2010/main" val="9761165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C11D98-A87A-407A-80E6-5AC90E1737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66d4a64c1437d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D2C81-7186-4905-AE96-2ACC5582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8DD82-79FF-4D53-9325-1BD3AAF6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5B0DB-2E8B-4382-BED3-D12797D5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12 / CODEARTS 实践 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DA162-A7B6-4323-BCF2-0B4F7CBA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 Agent 驱动模型训练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DBCA6-4852-44A8-82C2-0B81AFA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79B94-F552-4026-BBE7-78FA2118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调用项目自定义 Skill，按质量门组织教室行为模型研发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9DEE2-8D3F-499B-B827-743E73F9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30F60-3D48-48E9-8B5C-1E48A72170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9929f9ebe4415"/>
          <a:srcRect xmlns:a="http://schemas.openxmlformats.org/drawingml/2006/main" l="0" t="30978" r="0" b="309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09800"/>
            <a:ext cx="6772275" cy="3219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0F746-0CFD-4FD0-B939-B4EED224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9800"/>
            <a:ext cx="6772275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250F8-CBF2-461C-A8F5-1FCC65D1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486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EF14A-257D-4011-81E3-5444D38A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266950"/>
            <a:ext cx="367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调用 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DCCA3-8651-41DA-BD27-2B7BACBB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33675"/>
            <a:ext cx="3705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$yunshao-classroom-model-rnd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32D74-B57F-4382-B6C9-B57B7694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286125"/>
            <a:ext cx="3686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ECB81-E757-4437-931C-B720F6C4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429000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BA6CA-E7D9-45BF-A6CC-CC16BD34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29000"/>
            <a:ext cx="3228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固定数据版本与类别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5A989-A415-4D67-8965-1C965696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62375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8BBBD-F1C1-451C-8E9C-74FA193B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62375"/>
            <a:ext cx="3228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训练、验证 YOLO 模型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0A5F2-60DF-440E-A528-5D297255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95750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D62DF-92AE-4917-92E7-5986FCD8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95750"/>
            <a:ext cx="3228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导出并核验 ONNX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85C16-3E94-4062-88D4-D75CD990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429125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C490C-9B3C-4E70-88FC-275F7075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429125"/>
            <a:ext cx="3228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ATC 转换 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45E0FC-727F-4F8A-BDB6-F5EB0EE0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762500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7C837-8684-41C8-B559-C799D6E9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3228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板端精度 / 性能 / 内存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B6DE7-03FB-4916-A6B1-4F363495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95875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0E4613-5A0C-48A7-9256-9D7B3FC3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95875"/>
            <a:ext cx="3228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H.264 演示与证据归档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C11169-4D74-42EE-8418-9C4DA560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959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rPr>
              <a:t>教室行为场景素材；用于说明模型任务，不是 CodeArts 操作截图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B6A435-71AC-47D3-BA11-E274C4A4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00725"/>
            <a:ext cx="1080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7483EC-C66C-47EA-BFB4-6FC45DB0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5025"/>
            <a:ext cx="10810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仓库证据：Skill 定义 · classroom_behavior_training.json · 板端评估报告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416F1C-C4D4-45A1-BFF8-D9CB5401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19825"/>
            <a:ext cx="1052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训练 JSON 记录为 YOLO11m / 15 epoch；与 Skill 的 YOLO11n 标准配置属于不同实验。</a:t>
            </a:r>
          </a:p>
        </p:txBody>
      </p:sp>
    </p:spTree>
    <p:extLst>
      <p:ext uri="{BB962C8B-B14F-4D97-AF65-F5344CB8AC3E}">
        <p14:creationId xmlns:p14="http://schemas.microsoft.com/office/powerpoint/2010/main" val="100222874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11579A-0473-49CA-83AD-6B142D54A0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ef80a39964fab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CC4E9-DF8C-4C36-8868-44AF3BF0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7B19F-C167-4CD0-8BA2-4AC931D1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9ACFF-3A1C-41E2-9447-3775EECD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13 / CODEARTS 实践 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145F4-3D63-42EF-B6AB-4DFC30BF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 Agent 驱动 Spec 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36F6E-4969-4155-A379-E1952165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BA69E-C59E-4949-9B75-2710FF07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用自定义 Skill 将任务输入转成可追踪的规格与验收记录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2D408-BFF2-4A90-9D5F-38C6AA10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B92A9-C5F4-4C3F-AB5E-027C362E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81225"/>
            <a:ext cx="4657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CodeArts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9E782-1007-4D5B-A7AA-A268EC44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467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调用 $project-spec-workflow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B9390-2E5E-4D3E-88A0-EBE7437C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F6663-B39B-459B-82CB-0D014246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57575"/>
            <a:ext cx="46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E6EB5-0A2A-463C-A4C7-9DAF95EA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57575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读取 PRD / SPEC / 代码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EBA10-CCCA-41B7-B668-4D73A9A1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46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39771-1B24-402C-91A7-0AE855D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48100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按风险选择工作路径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A35E4-C05E-41C5-9B9A-CE1335A8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46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DF6CA-E63F-4C9E-A323-0018F26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维护四份规格文档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4E279-DDCD-4FF6-B2A1-7315D061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29150"/>
            <a:ext cx="46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B410F-8E87-4104-B209-4350725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29150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链接 REQ → AC → 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D8128-48F7-46D4-9D93-F9E3F121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9675"/>
            <a:ext cx="46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C82A8-4F38-4A1D-94EC-41B2CE94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19675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运行结构校验并记录证据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30C46-F9E4-4010-93CD-BF0A1AA97A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9c64be3614f93"/>
          <a:srcRect xmlns:a="http://schemas.openxmlformats.org/drawingml/2006/main" l="0" t="3628" r="0" b="36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2075" y="2209800"/>
            <a:ext cx="6248400" cy="32194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C64F3-0816-434F-9E43-B423DFDE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09800"/>
            <a:ext cx="62484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087E4-1BC6-4377-B067-98BEF4A4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495925"/>
            <a:ext cx="624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rPr>
              <a:t>项目运行中的设备与规则页面；作为开发产物展示，不是 CodeArts 操作截图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DE148-A373-4AE3-B3FD-EB487F85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00725"/>
            <a:ext cx="1080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862C13-048B-41DE-BB4F-D08CDABB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5025"/>
            <a:ext cx="10810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仓库证据：prompt.txt · proposal / spec / design / tasks · T-01 至 T-03 已完成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49E3B-616E-46D0-B218-72297E67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19825"/>
            <a:ext cx="1052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验收记录覆盖 AC-01.1—AC-04.2；结构校验不替代代码与实机验收。</a:t>
            </a:r>
          </a:p>
        </p:txBody>
      </p:sp>
    </p:spTree>
    <p:extLst>
      <p:ext uri="{BB962C8B-B14F-4D97-AF65-F5344CB8AC3E}">
        <p14:creationId xmlns:p14="http://schemas.microsoft.com/office/powerpoint/2010/main" val="143279504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6E778-8EDE-456C-AC1D-F8AB56B8E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2d09990cd45e1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AA651-6DCD-420B-A550-3EFB6E9E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84E7C-FA1A-4625-BA43-6A2107CA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6BA6F-5DD8-48A0-841F-BD40AD80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14 / 阶段判断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EC359-DAE9-4C34-AAC5-10935906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已完成基础验证，继续补齐真实链路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656AD-11BD-4F3E-B7D5-33A7CA79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F7A8F-016E-4520-AA4B-9F3F03AD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建议对外表述：首发试点，部分链路已验证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CBD79-0142-4D97-AA86-EC2DE23A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472D9-8A90-4683-B8EC-B12B67D4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90775"/>
            <a:ext cx="5048250" cy="2962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A1292-64F1-49A1-BEF9-DF1ABD8D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90775"/>
            <a:ext cx="504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D26A7-7317-45E0-8E96-AB219F05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955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已有基础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234D2-52C1-4ED8-B4D2-0E71E007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81400"/>
            <a:ext cx="44386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PWA 页面与模拟数据联调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账号、事件、统计等服务流程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模型加载与合成视频处理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CA4B0-38E1-4A52-8CD8-1D3BE9D7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90775"/>
            <a:ext cx="5048250" cy="2962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C8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5C916-32D5-4144-9BBF-4341D85E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90775"/>
            <a:ext cx="504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1A50E-5451-4A44-AF3E-87DF7415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955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待补验收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5CCB2-902C-48D6-9E0B-A6C5FD17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81400"/>
            <a:ext cx="442912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真实相机至浏览器播放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规则事件至系统通知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持续稳定性与容量压测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9C4B1-27A9-478E-9262-744EAE22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真实设备与推送链路验收，是从试点走向复制的关键一步</a:t>
            </a:r>
          </a:p>
        </p:txBody>
      </p:sp>
    </p:spTree>
    <p:extLst>
      <p:ext uri="{BB962C8B-B14F-4D97-AF65-F5344CB8AC3E}">
        <p14:creationId xmlns:p14="http://schemas.microsoft.com/office/powerpoint/2010/main" val="4722361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DA34D-FB9C-4027-B64A-87BA439D6E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fe92789fa44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B96D8-3223-4856-B784-AB27B4F0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95923-C12B-4F6A-995E-C0FA8D9B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57250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B792B-8CC7-44CD-878F-FFEAAAB7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428750"/>
            <a:ext cx="1647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7C747-5753-4AB6-BD68-2532C583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38350"/>
            <a:ext cx="1078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让一条真实链路跑通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EBD7E-948A-4ADB-A2DD-8A7C2D10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43250"/>
            <a:ext cx="1078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再让能力跨行业复制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DA9A2-964E-465B-9634-359B18FC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近期：真实视频接入 / 规则事件到通知 / 手机端回跳与处置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AD4F1-F6A9-463D-97F8-4659E903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后续：扩展场景算法与平台接入能力</a:t>
            </a:r>
          </a:p>
        </p:txBody>
      </p:sp>
    </p:spTree>
    <p:extLst>
      <p:ext uri="{BB962C8B-B14F-4D97-AF65-F5344CB8AC3E}">
        <p14:creationId xmlns:p14="http://schemas.microsoft.com/office/powerpoint/2010/main" val="58325079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71C539-F341-46BF-997C-CAB821D26D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a1ee9b83e4b31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80C00-50CC-4A0E-939C-EFA5E21A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8754A-BABE-473B-8869-F23FC8DB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7A19A-183B-4723-9D15-5E0868C3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03 / 核心架构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56D27-47D2-48AD-996B-E2CBDE6A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首发单园区网络拓扑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E84C3-B704-4BD9-BFBE-FD2F9200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75E6B-4E58-43E0-9BF3-E470E462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浏览器统一入口 · Atlas 本地推理 · 事件上报与实时媒体分路传输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7403F-5127-452F-B3C5-1F97C981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20B35-CFCB-4FEC-A464-7A65AD84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0275"/>
            <a:ext cx="571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浏览器入口与云端业务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FA635-7540-4852-8157-A8DF9E2B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2028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B1784-8098-416B-90DA-9EAA4A8A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2028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32559-8E00-4361-9785-FBAE7BC1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EF63F-E94B-42D4-8787-3D56F5FD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52725"/>
            <a:ext cx="1800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PWA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告警与事件详情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9F244-49C0-4E04-B476-22C64D31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2028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F168E-EF45-44D2-ADA6-D062186A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2028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BD8D8-6146-47DC-9BB2-87667310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B93AE-EC82-412B-B3B4-1802C7B9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52725"/>
            <a:ext cx="1800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Nginx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API / 媒体代理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FC82E-3200-40C5-932E-20977F8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B7EF2-0A5E-4FBC-8387-0E788027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CC4D5-1BC6-414D-885A-01A2056F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936B5-3BC5-4557-A299-D62D33EC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38425"/>
            <a:ext cx="2057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Go 业务服务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Auth · Device · Event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Media · Push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99F7D-B2CC-4D1D-8527-6B58EC87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28900"/>
            <a:ext cx="2028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366DB-A8CD-4E85-8DA5-31FC9D1C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28900"/>
            <a:ext cx="2028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6BF86-C0ED-43D4-A111-91882B80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28900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98282-8A81-493D-846D-FEE6E4D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752725"/>
            <a:ext cx="1800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PostgreSQL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五服务 schema 隔离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477E7-0997-4808-A03C-C1D6B13430D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647950" y="30194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2C3ADC-2B60-413E-8F84-39F7CF9C8D8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553075" y="30194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351590-FFE2-4801-8281-DC9C92D9636D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715375" y="30194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BBC57-CB6A-4964-8ACC-0EF5233D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00350"/>
            <a:ext cx="81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HTTPS 443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D9F47-AB74-4D5C-91BD-28132C44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内部 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E17086-30AC-4A12-9ECE-8B6EDF3B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0035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9F911B-DC25-4DC6-A9FA-5FBCDFD7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园区边缘采集与设备消息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382C94-A220-419C-ABAC-2AA5ED49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2028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52BCE0-DD1C-4869-9A46-18AD376A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2028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941417-A958-434E-8CAE-FFBD61A8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609006-537A-4A66-B976-D8595D86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52925"/>
            <a:ext cx="1800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摄像头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H.264 视频源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630673-80F6-4A71-8AB6-BCA04573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76700"/>
            <a:ext cx="2286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AA10D5-494D-4BF5-BDFD-CC220552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76700"/>
            <a:ext cx="2286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C8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490739-A24A-40F4-B290-F51B2E0B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767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FE8E3E-24EC-42E6-B55E-DE9ECB0B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00525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200I DK A2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Ascend 310B4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本地推理 / 事件筛选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CD88E6-23DF-40D6-A61F-BED6DF16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2047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521318-BB95-4863-B12D-61F95F5A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2047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99DB46-B4DF-43E5-958C-7C9FAB77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5301E0-1A55-4D85-8D7A-A0DA494D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57675"/>
            <a:ext cx="18192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Mosquitto 2.x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MQTT / TLS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QoS 1 · 设备 ACL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40022A-F3AF-4AC7-BB05-C8E176AF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29100"/>
            <a:ext cx="2028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38179C-EACD-466E-8CFF-D61641D1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29100"/>
            <a:ext cx="2028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C86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96EDE8-D063-4316-B3C6-D0AAFB45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29100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096D2F-A501-43FC-9B2B-7FA7D985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352925"/>
            <a:ext cx="1800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浏览器推送服务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出站 HTTPS</a:t>
            </a:r>
          </a:p>
        </p:txBody>
      </p: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857FDA-21A3-47E1-BE5B-3488CA4A460C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2647950" y="46196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3D50F9-115A-43E7-B490-2EEE299BF25E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5810250" y="4619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46B7CB-4A6A-4B41-BBB5-488EBD7AE901}"/>
              </a:ext>
            </a:extLst>
          </p:cNvPr>
          <p:cNvCxnSpPr>
            <a:stCxn xmlns:a="http://schemas.openxmlformats.org/drawingml/2006/main" id="41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 flipV="1">
            <a:off x="7572375" y="3524250"/>
            <a:ext cx="119063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BEC71A-3532-4F32-89EA-23C54D7FA315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7572375" y="3524250"/>
            <a:ext cx="2976563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5C86B"/>
            </a:solidFill>
            <a:prstDash val="solid"/>
            <a:tailEnd type="triangle" w="med" len="me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DAB864-95D4-43F6-B987-8A9CEB65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3148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RTSP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28FC1A-38CA-463F-87B9-F38AE9F2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3148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MQTT/TLS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2A72C2-7890-4968-B26A-1D201A1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20288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BFEC3A-2463-4369-A629-F1DFF69F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2028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1999FE-00C9-4900-8063-8C739E58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C6E8A1-EFB3-451D-8D3B-04C19C85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00725"/>
            <a:ext cx="1800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桌面监控端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E31C95-1FD4-40FE-BBA0-F9D882AF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769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DD9D6B0-9FAD-41D0-A33F-E54850BA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769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1DEAF6-EB38-4E4B-AD8D-1488D4CE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769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DB7768-210A-4F77-A78D-11ADAB78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00725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MediaMTX · media-service</a:t>
            </a:r>
          </a:p>
        </p:txBody>
      </p: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408A2E-1FEE-4E97-9356-56C839E77378}"/>
              </a:ext>
            </a:extLst>
          </p:cNvPr>
          <p:cNvCxnSpPr>
            <a:stCxn xmlns:a="http://schemas.openxmlformats.org/drawingml/2006/main" id="59" idx="1"/>
            <a:endCxn xmlns:a="http://schemas.openxmlformats.org/drawingml/2006/main" id="55" idx="3"/>
          </p:cNvCxnSpPr>
          <p:nvPr/>
        </p:nvCxnSpPr>
        <p:spPr>
          <a:xfrm xmlns:a="http://schemas.openxmlformats.org/drawingml/2006/main" flipH="1">
            <a:off x="2647950" y="59531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255389-7A2D-4476-9407-84A543E9165C}"/>
              </a:ext>
            </a:extLst>
          </p:cNvPr>
          <p:cNvCxnSpPr>
            <a:stCxn xmlns:a="http://schemas.openxmlformats.org/drawingml/2006/main" id="59" idx="0"/>
            <a:endCxn xmlns:a="http://schemas.openxmlformats.org/drawingml/2006/main" id="37" idx="2"/>
          </p:cNvCxnSpPr>
          <p:nvPr/>
        </p:nvCxnSpPr>
        <p:spPr>
          <a:xfrm xmlns:a="http://schemas.openxmlformats.org/drawingml/2006/main" flipH="1" flipV="1">
            <a:off x="4667250" y="5162550"/>
            <a:ext cx="47625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533BDB-643B-4CA0-AA93-AD077F66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47687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WebRTC/HLS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DE94B9-0DFF-4FF1-A6D8-D0B3D977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25780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RTSP pull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C4109B-4621-4BC6-BD05-A3340B00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2450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事件流 → 云端处置</a:t>
            </a:r>
          </a:p>
          <a:p xmlns:a="http://schemas.openxmlformats.org/drawingml/2006/main">
            <a: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媒体流 → 园区实时查看</a:t>
            </a:r>
          </a:p>
        </p:txBody>
      </p:sp>
    </p:spTree>
    <p:extLst>
      <p:ext uri="{BB962C8B-B14F-4D97-AF65-F5344CB8AC3E}">
        <p14:creationId xmlns:p14="http://schemas.microsoft.com/office/powerpoint/2010/main" val="155223083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EE7B2-F372-4FBE-B359-E05814FAE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bad197d884956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CEDB8-DEEB-4021-A235-B8FCD8D4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607A1-7F10-43F8-8745-2EBB1C40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719E-8643-45AA-B5ED-6A0900C6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03 / 核心架构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4E356-D0FD-44EA-A93F-6749400C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网络路径与访问边界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FD10B-83D2-4493-966C-AA82F6C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F9C1A-AB09-4393-8FAA-30D17BA1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用统一入口、园区内网与出站通知，限定各条链路的暴露范围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F48B7-035E-4353-AD10-5A4943E7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AE326-D2FE-4887-A323-048B21B95B0D}"/>
              </a:ext>
            </a:extLst>
          </p:cNvPr>
          <p:cNvGraphicFramePr/>
          <p:nvPr/>
        </p:nvGraphicFramePr>
        <p:xfrm>
          <a:off xmlns:a="http://schemas.openxmlformats.org/drawingml/2006/main" x="619125" y="2238375"/>
          <a:ext xmlns:a="http://schemas.openxmlformats.org/drawingml/2006/main" cx="10944225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76600"/>
                <a:gridCol w="2543175"/>
                <a:gridCol w="5124450"/>
              </a:tblGrid>
              <a:tr h="4286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通信路径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协议 / 端口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访问边界与作用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PWA / 桌面浏览器 → Nginx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 443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浏览器统一入口；会话与摄像头归属鉴权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Nginx → Go 业务服务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 HTTP API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同一后端网络；业务服务端口不直接对外开放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Go 业务服务 → PostgreSQL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TCP 5432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私有网络；五服务按 schema / 角色隔离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Atlas → Mosquitto / device-service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MQTT/TLS 8883 · QoS 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园区内网；独立设备凭据与 Topic ACL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MediaMTX → Atlas 处理后视频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RTSP 554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园区内网；MediaMTX 主动拉取预览流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桌面浏览器 → MediaMTX / Nginx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WebRTC UDP 8189 / HLS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UDP 仅限园区；无法直连时经 HTTPS HLS 回退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push-service → 浏览器推送服务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出站 HTTPS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仅发送通知；无需开放公网入站端口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Atlas → Nginx edge API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 443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设备激活与截图上传；原始 RTSP 不交给浏览器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E8EB8-F4C6-4C19-93E2-1353EA7B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实时媒体与事件通知各走其路；数据库和业务服务保持在内部网络。</a:t>
            </a:r>
          </a:p>
        </p:txBody>
      </p:sp>
    </p:spTree>
    <p:extLst>
      <p:ext uri="{BB962C8B-B14F-4D97-AF65-F5344CB8AC3E}">
        <p14:creationId xmlns:p14="http://schemas.microsoft.com/office/powerpoint/2010/main" val="98132511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1849E6-DFF2-4C07-99EB-91FF75F27C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d8a2ff4f34f44"/>
          <a:stretch xmlns:a="http://schemas.openxmlformats.org/drawingml/2006/main"/>
        </p:blipFill>
        <p:spPr>
          <a:xfrm xmlns:a="http://schemas.openxmlformats.org/drawingml/2006/main">
            <a:off x="0" y="429"/>
            <a:ext cx="12192000" cy="685714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46F63-BA58-44C7-B6BF-A41AE01E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793C1-B5F7-4DD6-BEF8-BD0DB6EB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66225-0C97-4F4F-A31D-0E5E350D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05 / 边缘硬件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3DD40-5B24-4FB1-ACC6-EC836A3B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200I DK A2 开发者套件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CC654-484D-441F-AB15-76D2623E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62C7F-FEB5-478F-8F47-DD4B7884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面向边缘侧算法验证与应用开发的硬件平台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93DB4-ABD2-4AEC-BC1E-14D5BF2B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8AA3B-5F1D-4D52-9E74-A591D91F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521017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2B04E-18AA-461A-865D-70912A51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5210175" cy="2714625"/>
          </a:xfrm>
          <a:prstGeom xmlns:a="http://schemas.openxmlformats.org/drawingml/2006/main" prst="roundRect">
            <a:avLst>
              <a:gd name="adj" fmla="val 280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77A5BD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F66D1-E544-476C-86DF-AFBC2AB4D8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59e2c524a4a0c"/>
          <a:stretch xmlns:a="http://schemas.openxmlformats.org/drawingml/2006/main"/>
        </p:blipFill>
        <p:spPr>
          <a:xfrm xmlns:a="http://schemas.openxmlformats.org/drawingml/2006/main">
            <a:off x="733425" y="2600225"/>
            <a:ext cx="5000625" cy="2210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99E18-109D-4B7D-953C-FDE81D12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816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开发者套件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BFE07-6314-4C98-A0DE-9D069605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387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图片：项目仓库产品素材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3B5B7-915E-46AF-A8A8-416B05CF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FADF8-AFF3-4B5B-8034-BE8D9F60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06152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06152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06152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06152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06152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06152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06152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06152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06152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06152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615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61527"/>
                </a:solidFill>
                <a:latin typeface="PingFang SC"/>
                <a:ea typeface="PingFang SC"/>
                <a:cs typeface="PingFang SC"/>
              </a:rPr>
              <a:t>核心组成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EBFE6-0918-4785-8157-4213AD71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90825"/>
            <a:ext cx="500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200I A2 加速模块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4EB36-10F1-4071-A5CF-6D660D38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71825"/>
            <a:ext cx="500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8 TOPS INT8 · 4 TFLOPS FP16 · 4 GB 内存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9892E-BAAC-431B-9DCC-D680209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190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5207E-3023-49DD-9DFE-A83E00A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开发套件尺寸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852F9-909A-4AC4-9429-392D777A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139 × 136 × 46 mm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CFB93-DCFD-4281-A09A-6F677B22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常用连接能力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6ED10-8E52-42A2-B2FC-263BEDE2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双千兆网口 · USB 3.0 · HDMI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71A0C0-E75B-44F7-BE3B-9D3EA3AC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67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M.2 · 40-pin · MIPI CSI / DSI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2F0FD-AFE5-474A-B250-1AF3D595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C07123-47FE-4B9F-B373-6F99EA31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典型功耗 24 W · 12 V 供电 · Ubuntu 22.04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E973BC-F5A6-4107-AFF2-12BC8BC4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项目落点：在现场完成视频处理与模型推理，再把结果交给园区平台。</a:t>
            </a:r>
          </a:p>
        </p:txBody>
      </p:sp>
    </p:spTree>
    <p:extLst>
      <p:ext uri="{BB962C8B-B14F-4D97-AF65-F5344CB8AC3E}">
        <p14:creationId xmlns:p14="http://schemas.microsoft.com/office/powerpoint/2010/main" val="94706191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115960-11D1-4D2F-80AB-775FC8F228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dde9a220c4201"/>
          <a:stretch xmlns:a="http://schemas.openxmlformats.org/drawingml/2006/main"/>
        </p:blipFill>
        <p:spPr>
          <a:xfrm xmlns:a="http://schemas.openxmlformats.org/drawingml/2006/main">
            <a:off x="0" y="429"/>
            <a:ext cx="12192000" cy="685714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C03A9-FC75-41BA-A688-C827E5BC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43774-9479-4393-99B4-6E169E35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F31BB-6FD7-4765-949B-2B9088AE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05 / 边缘硬件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36D91-B2C4-4599-B759-8432E9D8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在云哨中的应用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833BB-3B24-4219-9622-F9E7593E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8D11C-3616-425B-870B-A58C9576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一台边缘设备把视频变成可追溯事件与可查看画面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C50AE-2219-4812-A09D-FD78EE9D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0AEE7-1EDC-4565-8578-A0F01F05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2000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AD34D-1241-492A-90C3-3174D2F2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2000250" cy="1162050"/>
          </a:xfrm>
          <a:prstGeom xmlns:a="http://schemas.openxmlformats.org/drawingml/2006/main" prst="roundRect">
            <a:avLst>
              <a:gd name="adj" fmla="val 65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32C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7A852-F2B6-4E6B-B642-3243AEEA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488E4-23BF-434A-8254-648BB0CA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8607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授权摄像头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BEDF1-A0DD-4885-9EF0-01677691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86125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H.264 视频源</a:t>
            </a:r>
          </a:p>
          <a:p xmlns:a="http://schemas.openxmlformats.org/drawingml/2006/main">
            <a: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园区 RTSP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B2F0F-DA11-4769-B8D8-A2324BF4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1462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A8C81-1FC7-48BB-B257-EE752935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1462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5C8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26D66-273A-4EC0-B2F2-FB22ED34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1462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64F1B-ED8E-41F9-AB48-CF1C4523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860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Atlas 200I DK A2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C99C7-FAA6-4329-AC13-B262ACF6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8612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Ascend 310B4</a:t>
            </a:r>
          </a:p>
          <a:p xmlns:a="http://schemas.openxmlformats.org/drawingml/2006/main">
            <a: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本地解码 · 推理 · 叠加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A7E16-4E5F-43AE-9408-8B3DED28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A417B-9F08-4753-B9FF-780167B6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32C9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1E281-8759-4370-927C-B11250CA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CC294-3925-4B47-93EC-6E956C7A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860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云端业务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84A91-65F6-4608-B74A-E82C63DC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8612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接收事件 · 事件入库</a:t>
            </a:r>
          </a:p>
          <a:p xmlns:a="http://schemas.openxmlformats.org/drawingml/2006/main">
            <a: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证据与状态管理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8FCEB-0678-4E95-8CDC-150A3FA7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14625"/>
            <a:ext cx="247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B14F2-A9AA-4FE1-80FF-505BFB75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14625"/>
            <a:ext cx="2476500" cy="1162050"/>
          </a:xfrm>
          <a:prstGeom xmlns:a="http://schemas.openxmlformats.org/drawingml/2006/main" prst="roundRect">
            <a:avLst>
              <a:gd name="adj" fmla="val 65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32C9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9A1546-DA9D-41CD-BA31-D1E3F3C9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14625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84CD50-A638-4FE4-9D32-0C3972DE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8607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监控终端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2BC8C-BD50-4193-84CA-0CCE0E92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86125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MediaMTX → Web</a:t>
            </a:r>
          </a:p>
          <a:p xmlns:a="http://schemas.openxmlformats.org/drawingml/2006/main">
            <a:pPr>
              <a:def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WebRTC / HLS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DCCD65-93BC-459C-9E9F-872EC3CF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766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969D43-4A55-4C82-A01E-6FFE4B12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194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09BE50-2477-4C8A-94D0-2838BFF0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09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RTSP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3C70C0-47CF-457D-A323-F53C4F8B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76600"/>
            <a:ext cx="39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9A08F4-FA9D-4535-AA15-8BDA3622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194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6ED648-AC8F-4DC8-B58C-396207D8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09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MQTT / HTTPS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AD5A4A-7016-4163-8E11-E5D1FF46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052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边缘推理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DBDE0-1D50-422C-B0EB-32509F76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2912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YOLO11n / 640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CBF197-08C6-403B-B23A-6405319B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62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输出：举手 · 阅读 · 书写</a:t>
            </a:r>
          </a:p>
          <a:p xmlns:a="http://schemas.openxmlformats.org/drawingml/2006/main"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类别 / 边界框 / 置信度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D3C7BC-184E-4C6E-A984-0E59489F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规则命中才生成告警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100590-A4FF-4C13-810C-7315C632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6247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检测结果先按已启用规则筛选；</a:t>
            </a:r>
          </a:p>
          <a:p xmlns:a="http://schemas.openxmlformats.org/drawingml/2006/main"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普通检测不自动成为事件。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03B7A1-93AB-4EBC-B82E-AEE26EF9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005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两条输出链路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613DB1-8DFF-4314-9DF8-48F38F02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624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事件与证据 → 云端处置</a:t>
            </a:r>
          </a:p>
          <a:p xmlns:a="http://schemas.openxmlformats.org/drawingml/2006/main"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处理后视频 → 监控查看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4731E3-0EAB-4F65-A67E-36DCE39E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387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CFC208-76D0-4ED7-B140-B8BF7BF8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00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板端已有合成 H.264 验证：短测 75/75 帧；10 分钟持续测试输出 8,997/9,000 帧。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C39DEE-1940-4CE1-81E1-43585F62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1093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边界：测试源为合成视频，真实摄像头 / RTSP 到浏览器完整链路及行为精度仍待验收。</a:t>
            </a:r>
          </a:p>
        </p:txBody>
      </p:sp>
    </p:spTree>
    <p:extLst>
      <p:ext uri="{BB962C8B-B14F-4D97-AF65-F5344CB8AC3E}">
        <p14:creationId xmlns:p14="http://schemas.microsoft.com/office/powerpoint/2010/main" val="152744995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CC878-EF86-4A1E-AB31-CC64F935F8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78aa456274086"/>
          <a:stretch xmlns:a="http://schemas.openxmlformats.org/drawingml/2006/main"/>
        </p:blipFill>
        <p:spPr>
          <a:xfrm xmlns:a="http://schemas.openxmlformats.org/drawingml/2006/main">
            <a:off x="0" y="429"/>
            <a:ext cx="12192000" cy="685714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26D86-9122-4BAB-97C3-3E3AF03D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3CF4E-3F2E-4C86-AD79-112AC099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025ED-D2EC-41E2-8A96-86AFB75C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CODEARTS / 过程证据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D5726-35AA-48AD-9DE2-2D8E8D54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调用项目 Skill 与组织研发流程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70EE3-B3C7-4714-97E4-1646EDE2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62501-28F0-4CCB-A8FE-3669A80B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用户提供的华为云码道 IDE 操作记录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895CC-0F90-4193-8D19-BBFBE613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E9A31-ACF1-4E09-B9BD-B8950BF4FF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29ee4064a445e"/>
          <a:stretch xmlns:a="http://schemas.openxmlformats.org/drawingml/2006/main"/>
        </p:blipFill>
        <p:spPr>
          <a:xfrm xmlns:a="http://schemas.openxmlformats.org/drawingml/2006/main">
            <a:off x="2971800" y="2190750"/>
            <a:ext cx="62484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1877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5C92A-E02E-440A-B22A-A8921D9219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66acf38884f57"/>
          <a:stretch xmlns:a="http://schemas.openxmlformats.org/drawingml/2006/main"/>
        </p:blipFill>
        <p:spPr>
          <a:xfrm xmlns:a="http://schemas.openxmlformats.org/drawingml/2006/main">
            <a:off x="0" y="429"/>
            <a:ext cx="12192000" cy="685714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0A3D4-1AA0-4F5D-9ACD-5D751E98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A3E24-36EF-4C99-8D47-7844F07A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C6422-32AC-47CF-AFE7-9E27EDF6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CODEARTS / 过程证据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34932-422E-485F-8502-A2981624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需求规格文档生成记录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7666B-9AD3-43E9-B8FA-5E3A2784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3B9EE-C1A8-409D-AB3D-E02FAD5D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用户提供的华为云码道 IDE 操作记录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A1745-1E4C-4CDC-B6FF-4B5230D2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C791B-ED15-463E-BDE3-DCB40EFF04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4c0ae9f834e83"/>
          <a:stretch xmlns:a="http://schemas.openxmlformats.org/drawingml/2006/main"/>
        </p:blipFill>
        <p:spPr>
          <a:xfrm xmlns:a="http://schemas.openxmlformats.org/drawingml/2006/main">
            <a:off x="2971800" y="2190750"/>
            <a:ext cx="62484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1807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FFD8C-A2DF-448C-A134-20FBC39E9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2c0f8a84a4f5d"/>
          <a:stretch xmlns:a="http://schemas.openxmlformats.org/drawingml/2006/main"/>
        </p:blipFill>
        <p:spPr>
          <a:xfrm xmlns:a="http://schemas.openxmlformats.org/drawingml/2006/main">
            <a:off x="0" y="429"/>
            <a:ext cx="12192000" cy="685714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2124E-29CC-4782-9C9B-EF0BAD22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F5BBF-808F-46D4-BC06-C5EC159F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DCF78-5399-4286-88F2-C3E04D35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CODEARTS / 过程证据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50018-8E40-4E3D-8CF1-AAE38B74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API 失败重试与继续执行记录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FD202-3FE9-4280-A1F3-1FC2B38B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7C943-651A-402C-83B1-FA9E76C4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用户提供的华为云码道 IDE 操作记录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AF3FA-FC35-4903-9ADC-FD612EA5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042EB-0096-4860-8156-FB37E205AC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6d08e3be44cbd"/>
          <a:stretch xmlns:a="http://schemas.openxmlformats.org/drawingml/2006/main"/>
        </p:blipFill>
        <p:spPr>
          <a:xfrm xmlns:a="http://schemas.openxmlformats.org/drawingml/2006/main">
            <a:off x="2971800" y="2190750"/>
            <a:ext cx="62484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7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19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2026-10-22T17:51:53.9190000Z</dcterms:created>
  <dcterms:modified xsi:type="dcterms:W3CDTF">2026-10-22T17:51:53.9190000Z</dcterms:modified>
</coreProperties>
</file>