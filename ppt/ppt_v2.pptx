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/Users/jiangdongting/Desktop/Yunshao-main/README.md</a:t>
            </a:r>
          </a:p>
          <a:p>
            <a:r>
              <a:t>/Users/jiangdongting/Desktop/Yunshao-main/project/docs/Analysis/PRD.md</a:t>
            </a:r>
          </a:p>
          <a:p>
            <a:r>
              <a:t>说明：封面使用用户提供的参考演示文稿的通用科技背景。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/Users/jiangdongting/Desktop/Yunshao-main/README.md</a:t>
            </a:r>
          </a:p>
          <a:p>
            <a:r>
              <a:t>/Users/jiangdongting/Desktop/Yunshao-main/project/docs/Analysis/PRD.md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/Users/jiangdongting/Desktop/Yunshao-main/project/docs/Analysis/PRD.md</a:t>
            </a:r>
          </a:p>
          <a:p>
            <a:r>
              <a:t>/Users/jiangdongting/Desktop/Yunshao-main/project/docs/Design/STRUCTURE.md</a:t>
            </a:r>
          </a:p>
          <a:p>
            <a:r>
              <a:t>/Users/jiangdongting/Desktop/Yunshao-main/readme/yunshao-exhibit.html</a:t>
            </a:r>
          </a:p>
          <a:p>
            <a:r>
              <a:t>说明：右侧为项目既有概念图。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/Users/jiangdongting/Desktop/Yunshao-main/project/docs/Analysis/PRD.md</a:t>
            </a:r>
          </a:p>
          <a:p>
            <a:r>
              <a:t>/Users/jiangdongting/Desktop/Yunshao-main/project/docs/Analysis/SPEC.md</a:t>
            </a:r>
          </a:p>
          <a:p>
            <a:r>
              <a:t>说明：本页描述目标业务闭环，不宣称全部真实链路已经验收。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/Users/jiangdongting/Desktop/Yunshao-main/project/docs/Design/STRUCTURE.md</a:t>
            </a:r>
          </a:p>
          <a:p>
            <a:r>
              <a:t>/Users/jiangdongting/Desktop/Yunshao-main/project/docs/Analysis/SPEC.md</a:t>
            </a:r>
          </a:p>
          <a:p>
            <a:r>
              <a:t>说明：首发为单园区架构，跨园区接入是后续规划。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/Users/jiangdongting/Desktop/Yunshao-main/project/docs/Analysis/PRD.md</a:t>
            </a:r>
          </a:p>
          <a:p>
            <a:r>
              <a:t>/Users/jiangdongting/Desktop/Yunshao-main/project/docs/Design/STRUCTURE.md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/Users/jiangdongting/Desktop/Yunshao-main/project/docs/Specification/atlas_edge_runtime/tasks.md</a:t>
            </a:r>
          </a:p>
          <a:p>
            <a:r>
              <a:t>/Users/jiangdongting/Desktop/Yunshao-main/project/docs/Analysis/SPEC.md</a:t>
            </a:r>
          </a:p>
          <a:p>
            <a:r>
              <a:t>说明：硬件图来自项目资料；不表示团队部署实拍。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/Users/jiangdongting/Desktop/Yunshao-main/video/classroom_behavior.mp4</a:t>
            </a:r>
          </a:p>
          <a:p>
            <a:r>
              <a:t>/Users/jiangdongting/Desktop/Yunshao-main/project/docs/Analysis/PRD.md</a:t>
            </a:r>
          </a:p>
          <a:p>
            <a:r>
              <a:t>/Users/jiangdongting/Desktop/Yunshao-main/project/docs/Specification/atlas_edge_runtime/tasks.md</a:t>
            </a:r>
          </a:p>
          <a:p>
            <a:r>
              <a:t>说明：嵌入的真实课堂视频是场景素材，未展示模型推理或告警验收结果。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/Users/jiangdongting/Desktop/Yunshao-main/project/docs/Analysis/PRD.md</a:t>
            </a:r>
          </a:p>
          <a:p>
            <a:r>
              <a:t>/Users/jiangdongting/Desktop/Yunshao-main/project/src/clients/web/src/pages/DeviceDetailPage.vue</a:t>
            </a:r>
          </a:p>
          <a:p>
            <a:r>
              <a:t>说明：只有规则启用且设备侧生效后，符合条件的检测才产生事件。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/Users/jiangdongting/Desktop/Yunshao-main/project/docs/Analysis/SPEC.md</a:t>
            </a:r>
          </a:p>
          <a:p>
            <a:r>
              <a:t>/Users/jiangdongting/Desktop/Yunshao-main/project/src/clients/web/src/pages/MonitorPage.vue</a:t>
            </a:r>
          </a:p>
          <a:p>
            <a:r>
              <a:t>说明：右侧是展示页概念图，非系统运行截图，图中手机监控不在首发范围。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/Users/jiangdongting/Desktop/Yunshao-main/project/docs/Analysis/PRD.md</a:t>
            </a:r>
          </a:p>
          <a:p>
            <a:r>
              <a:t>/Users/jiangdongting/Desktop/Yunshao-main/project/docs/Analysis/SPEC.md</a:t>
            </a:r>
          </a:p>
          <a:p>
            <a:r>
              <a:t>/Users/jiangdongting/Desktop/Yunshao-main/project/src/clients/web/src/pages/EventDetailPage.vue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/Users/jiangdongting/Desktop/Yunshao-main/project/docs/Analysis/PRD.md</a:t>
            </a:r>
          </a:p>
          <a:p>
            <a:r>
              <a:t>/Users/jiangdongting/Desktop/Yunshao-main/project/docs/Specification/web_pwa_client/tasks.md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/Users/jiangdongting/Desktop/Yunshao-main/project/docs/Analysis/PRD.md</a:t>
            </a:r>
          </a:p>
          <a:p>
            <a:r>
              <a:t>/Users/jiangdongting/Desktop/Yunshao-main/project/src/clients/web/src/pages/AnalyticsPage.vue</a:t>
            </a:r>
          </a:p>
          <a:p>
            <a:r>
              <a:t>/Users/jiangdongting/Desktop/Yunshao-main/project/docs/Specification/platform_deployment/evidence/local_pc_20261020.json</a:t>
            </a:r>
          </a:p>
          <a:p>
            <a:r>
              <a:t>说明：不使用虚构数据。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来源：AtomGit milo-ally-stu/Yunshao 的 model_codex_single-classroom-cycle 分支，提交 844135f，codearts_proof/skills/yunshao-classroom-model-rnd/SKILL.md；AtomGit jdt_123/Yunshao main 分支，project/preparation/model_classroom_behavior/model_train/train_result_grouped/yolo11m_classroom4aux_headonly_v1_classroom_behavior_training.json。图片由 OpenAI image_gen 生成，仅用于说明流程，不是 CodeArts 操作界面截图。仓库训练记录配置为 YOLO11m、15 epochs，与 Skill 标准配置 YOLO11n、100 epochs 不是一次运行。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来源：AtomGit jdt_123/Yunshao main 分支：codearts_proof/prompts/prompt.txt 的提示词3；codearts_proof/skills/project-spec-workflow/SKILL.md；project/docs/Specification/project_spec_workflow/{proposal,spec,design,tasks}.md。tasks.md 中 T-01、T-02、T-03 标为完成，含 AC-01.1 至 AC-04.2 验收记录。图片由 OpenAI image_gen 生成，仅作流程示意；仓库未留存 CodeArts 操作界面截图。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/Users/jiangdongting/Desktop/Yunshao-main/project/docs/Specification/platform_deployment/evidence/local_pc_20261020.json</a:t>
            </a:r>
          </a:p>
          <a:p>
            <a:r>
              <a:t>/Users/jiangdongting/Desktop/Yunshao-main/project/docs/Specification/atlas_edge_runtime/tasks.md</a:t>
            </a:r>
          </a:p>
          <a:p>
            <a:r>
              <a:t>/Users/jiangdongting/Desktop/Yunshao-main/project/docs/Specification/web_pwa_client/tasks.md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/Users/jiangdongting/Desktop/Yunshao-main/project/docs/Analysis/PRD.md</a:t>
            </a:r>
          </a:p>
          <a:p>
            <a:r>
              <a:t>/Users/jiangdongting/Desktop/Yunshao-main/project/docs/Design/STRUCTURE.md</a:t>
            </a:r>
          </a:p>
          <a:p>
            <a:r>
              <a:t>说明：后续规划不代表已经交付。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6.xml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89535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AIoT EDGE VISION</a:t>
            </a:r>
            <a:endParaRPr sz="16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409700"/>
            <a:ext cx="1666875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9526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云  哨</a:t>
            </a:r>
            <a:endParaRPr sz="615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3219450"/>
            <a:ext cx="1000125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面向多行业的 AIoT</a:t>
            </a:r>
            <a:endParaRPr sz="35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边缘视频智能平台</a:t>
            </a:r>
            <a:endParaRPr sz="35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5314950"/>
            <a:ext cx="1019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产品定位  ·  平台能力  ·  试点验证  ·  CodeArts 开发过程</a:t>
            </a:r>
            <a:endParaRPr sz="18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0" y="62484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2026.10</a:t>
            </a:r>
            <a:endParaRPr sz="1350" b="0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09600"/>
            <a:ext cx="3810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CONTENTS</a:t>
            </a:r>
            <a:endParaRPr sz="157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23950"/>
            <a:ext cx="2895600" cy="923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目录</a:t>
            </a:r>
            <a:endParaRPr sz="5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38175" y="2333625"/>
            <a:ext cx="1600200" cy="4762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400550" y="11620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210175" y="12668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产品定位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00550" y="20002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962900" y="11620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72525" y="12668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核心架构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62900" y="20002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00550" y="27241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10175" y="28289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场景演示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00550" y="35623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962900" y="27241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72525" y="28289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运营闭环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962900" y="35623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00550" y="42862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10175" y="43910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CodeArts 实践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51244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962900" y="42862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72525" y="43910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阶段判断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62900" y="51244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7700" y="5715000"/>
            <a:ext cx="10001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从首发教室试点，走向可复用的多行业平台</a:t>
            </a:r>
            <a:endParaRPr sz="21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01 / 产品定位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一套平台，连接多种现场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云哨定位：面向多行业的 AIoT 边缘视频智能平台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276475"/>
            <a:ext cx="57150" cy="4000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247900"/>
            <a:ext cx="44291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底座复用，算法按场景扩展</a:t>
            </a:r>
            <a:endParaRPr sz="23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3038475"/>
            <a:ext cx="43815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接入 · 视频 · 规则 · 事件 · 通知</a:t>
            </a:r>
            <a:endParaRPr sz="25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4410075"/>
            <a:ext cx="4438650" cy="1209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以教室行为检测为首发试点，复用统一平台能力扩展园区、仓储等场景。</a:t>
            </a:r>
            <a:endParaRPr sz="19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5638800" y="2085975"/>
            <a:ext cx="5791200" cy="325755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5638800" y="2085975"/>
            <a:ext cx="5791200" cy="32575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638800" y="5505450"/>
            <a:ext cx="58007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多场景展示概念图，非部署实拍</a:t>
            </a:r>
            <a:endParaRPr sz="1275" b="0">
              <a:solidFill>
                <a:srgbClr val="7FA9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02 / 业务闭环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从画面到处置，形成可追踪闭环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首发规格覆盖完整链路；实际端到端能力以真实设备验收为准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视频接入</a:t>
            </a:r>
            <a:endParaRPr sz="29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摄像头画面与设备状态</a:t>
            </a:r>
            <a:endParaRPr sz="18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209925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467100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467100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467100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边缘识别</a:t>
            </a:r>
            <a:endParaRPr sz="29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67100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模型输出目标与行为</a:t>
            </a:r>
            <a:endParaRPr sz="18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57900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315075" y="2419350"/>
            <a:ext cx="2524125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315075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15075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规则告警</a:t>
            </a:r>
            <a:endParaRPr sz="29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15075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命中规则才产生事件</a:t>
            </a:r>
            <a:endParaRPr sz="18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905875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163050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163050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63050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协同处置</a:t>
            </a:r>
            <a:endParaRPr sz="29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63050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/ PWA 查看与处理</a:t>
            </a:r>
            <a:endParaRPr sz="18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8650" y="5676900"/>
            <a:ext cx="1084897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848350"/>
            <a:ext cx="10620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边缘实时处理    /    事件证据沉淀    /    人员处理记录</a:t>
            </a:r>
            <a:endParaRPr sz="18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03 / 核心架构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边缘负责识别，平台负责协同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摄像头 → Atlas 边缘端 → 园区平台 → Web / PWA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609850"/>
            <a:ext cx="2400300" cy="217170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609850"/>
            <a:ext cx="24003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867025"/>
            <a:ext cx="857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1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340995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摄像头</a:t>
            </a:r>
            <a:endParaRPr sz="2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4133850"/>
            <a:ext cx="2047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H.264 视频源</a:t>
            </a:r>
            <a:endParaRPr sz="15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133725" y="3381375"/>
            <a:ext cx="457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480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76625" y="2609850"/>
            <a:ext cx="2400300" cy="2171700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476625" y="2609850"/>
            <a:ext cx="2400300" cy="571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695700" y="2867025"/>
            <a:ext cx="857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21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695700" y="340995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边缘端</a:t>
            </a:r>
            <a:endParaRPr sz="2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695700" y="4133850"/>
            <a:ext cx="2047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推理 / 规则 / RTSP</a:t>
            </a:r>
            <a:endParaRPr sz="15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991225" y="3381375"/>
            <a:ext cx="457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480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34125" y="2609850"/>
            <a:ext cx="2400300" cy="217170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334125" y="2609850"/>
            <a:ext cx="24003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553200" y="2867025"/>
            <a:ext cx="857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21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53200" y="340995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园区平台</a:t>
            </a:r>
            <a:endParaRPr sz="2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53200" y="4133850"/>
            <a:ext cx="2047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媒体 / 事件 / 通知</a:t>
            </a:r>
            <a:endParaRPr sz="15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848725" y="3381375"/>
            <a:ext cx="457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8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480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91625" y="2609850"/>
            <a:ext cx="2400300" cy="217170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191625" y="2609850"/>
            <a:ext cx="24003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410700" y="2867025"/>
            <a:ext cx="857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21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410700" y="340995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/ PWA</a:t>
            </a:r>
            <a:endParaRPr sz="2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410700" y="4133850"/>
            <a:ext cx="2047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监控 / 处置 / 分析</a:t>
            </a:r>
            <a:endParaRPr sz="15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38175" y="5286375"/>
            <a:ext cx="49434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RTSP / MediaMTX</a:t>
            </a:r>
            <a:endParaRPr sz="20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238875" y="5286375"/>
            <a:ext cx="49434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MQTT/TLS  +  HTTPS</a:t>
            </a:r>
            <a:endParaRPr sz="20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04 / 核心亮点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多行业扩展的四个支点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平台能力和场景算法解耦，先验证一条真实链路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381250"/>
            <a:ext cx="57150" cy="115252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3622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边缘识别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3000375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现场完成模型推理，降低中心端负担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00775" y="2381250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38900" y="23622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规则驱动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3000375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检测与告警分开配置，按需触发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" y="4067175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7250" y="4048125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统一处置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" y="4686300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截图、状态与处理记录集中追踪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00775" y="4067175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38900" y="4048125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底座复用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38900" y="4686300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接入、视频、事件和通知能力共享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05 / 边缘计算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200I DK A2：模型落在现场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板端已有模型加载与合成视频处理验证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143125"/>
            <a:ext cx="5876925" cy="328612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2143125"/>
            <a:ext cx="5876925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490224"/>
            <a:ext cx="5476875" cy="2420477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800100" y="5114925"/>
            <a:ext cx="54768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现有硬件产品图，非团队部署实拍</a:t>
            </a:r>
            <a:endParaRPr sz="1275" b="0">
              <a:solidFill>
                <a:srgbClr val="7FA9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00875" y="2295525"/>
            <a:ext cx="57150" cy="4000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191375" y="2266950"/>
            <a:ext cx="38385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现场推理</a:t>
            </a:r>
            <a:endParaRPr sz="23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00900" y="3019425"/>
            <a:ext cx="4095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Ascend 310B4</a:t>
            </a:r>
            <a:endParaRPr sz="23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00900" y="3629025"/>
            <a:ext cx="4095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YOLO11n / 640 模型流程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00900" y="4781550"/>
            <a:ext cx="401002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真实相机 → 浏览器播放链路仍待联调验收。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06 / 场景演示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教室可见行为：用真实视频说明场景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 秒课堂素材；放映时点击视频画面播放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t="44" b="44"/>
          <a:stretch>
            <a:fillRect/>
          </a:stretch>
        </p:blipFill>
        <p:spPr>
          <a:xfrm>
            <a:off x="619125" y="2047875"/>
            <a:ext cx="7219950" cy="4057650"/>
          </a:xfrm>
          <a:prstGeom prst="rect">
            <a:avLst/>
          </a:prstGeom>
        </p:spPr>
      </p:pic>
      <p:pic>
        <p:nvPicPr>
          <p:cNvPr id="19" name="课堂行为演示视频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619125" y="2047875"/>
            <a:ext cx="7219950" cy="40576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19125" y="2047875"/>
            <a:ext cx="7219950" cy="40576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2047875"/>
            <a:ext cx="721995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239125" y="2257425"/>
            <a:ext cx="3048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首发试点</a:t>
            </a:r>
            <a:endParaRPr sz="19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239125" y="2943225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举手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239125" y="37147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阅读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239125" y="4486275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书写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39125" y="5324475"/>
            <a:ext cx="2962275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239125" y="5553075"/>
            <a:ext cx="30861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真实课堂素材；未叠加模型识别结果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07 / 规则机制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检测结果与告警分开管理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识别持续运行；告警由业务规则决定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409825"/>
            <a:ext cx="5057775" cy="31432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409825"/>
            <a:ext cx="5057775" cy="31432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2409825"/>
            <a:ext cx="5057775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95350" y="2762250"/>
            <a:ext cx="4267200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检测输出</a:t>
            </a:r>
            <a:endParaRPr sz="35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4875" y="3590925"/>
            <a:ext cx="4210050" cy="1647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行为类别</a:t>
            </a:r>
            <a:endParaRPr sz="23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目标框</a:t>
            </a:r>
            <a:endParaRPr sz="23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置信度</a:t>
            </a:r>
            <a:endParaRPr sz="23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86525" y="2409825"/>
            <a:ext cx="5057775" cy="31432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86525" y="2409825"/>
            <a:ext cx="5057775" cy="3143250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86525" y="2409825"/>
            <a:ext cx="5057775" cy="571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762750" y="2762250"/>
            <a:ext cx="4267200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告警规则</a:t>
            </a:r>
            <a:endParaRPr sz="35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72275" y="3590925"/>
            <a:ext cx="4210050" cy="1647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开关 / 阈值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持续时间 / 等级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命中后生成事件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8650" y="5800725"/>
            <a:ext cx="108013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课堂告警默认关闭</a:t>
            </a:r>
            <a:endParaRPr sz="20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08 / 实时监控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画面、状态与来源同屏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桌面端承担实时监控，移动端聚焦通知与事件详情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266950"/>
            <a:ext cx="57150" cy="4000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9625" y="2238375"/>
            <a:ext cx="44100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授权摄像头</a:t>
            </a:r>
            <a:endParaRPr sz="23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038475"/>
            <a:ext cx="4381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设备筛选与状态查看</a:t>
            </a:r>
            <a:endParaRPr sz="21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3733800"/>
            <a:ext cx="43815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WebRTC 优先 / HLS 回退</a:t>
            </a:r>
            <a:endParaRPr sz="20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9150" y="4829175"/>
            <a:ext cx="42481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统一进入事件详情，查看告警截图与处理记录。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t="10424" b="10424"/>
          <a:stretch>
            <a:fillRect/>
          </a:stretch>
        </p:blipFill>
        <p:spPr>
          <a:xfrm>
            <a:off x="5734050" y="2162175"/>
            <a:ext cx="5695950" cy="3381375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5734050" y="2162175"/>
            <a:ext cx="5695950" cy="338137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734050" y="5676900"/>
            <a:ext cx="57245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项目概念图；图中手机监控不在首发交付范围</a:t>
            </a:r>
            <a:endParaRPr sz="1275" b="0">
              <a:solidFill>
                <a:srgbClr val="7FA9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09 / 事件处置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每次告警，都有证据与处理记录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让异常从发生到结案可追踪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62050" y="3200400"/>
            <a:ext cx="9906000" cy="2857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3827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4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规则命中</a:t>
            </a:r>
            <a:endParaRPr sz="2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时间、设备、等级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7672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0520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24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0520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留存截图</a:t>
            </a:r>
            <a:endParaRPr sz="2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50520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画面证据关联事件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11517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34365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24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4365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人员处理</a:t>
            </a:r>
            <a:endParaRPr sz="2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4365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解除 / 误报 / 跟进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95362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8210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24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8210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历史追溯</a:t>
            </a:r>
            <a:endParaRPr sz="2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8210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状态与时间线保留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19125" y="560070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截图上传后保留 24 小时；事件与处理记录继续可查</a:t>
            </a:r>
            <a:endParaRPr sz="1725" b="0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10 / 移动触达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PWA 告警，直达事件详情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让处理人员从通知进入同一条事件记录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505075"/>
            <a:ext cx="49530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PWA</a:t>
            </a:r>
            <a:endParaRPr sz="960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38175" y="4162425"/>
            <a:ext cx="4514850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2305050"/>
            <a:ext cx="46863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订阅通知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381750" y="3333750"/>
            <a:ext cx="46863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规则命中后推送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4362450"/>
            <a:ext cx="46863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鉴权后打开详情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81750" y="3067050"/>
            <a:ext cx="452437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4095750"/>
            <a:ext cx="452437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19125" y="5572125"/>
            <a:ext cx="107251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 Push 送达与手机回跳仍待端到端验收</a:t>
            </a:r>
            <a:endParaRPr sz="1800" b="0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11 / 数据分析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让事件形成可回看的趋势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统计对象是规则命中事件；此处不展示未经核实的运营数据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295525"/>
            <a:ext cx="10953750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38175" y="249555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趋势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057650" y="2600325"/>
            <a:ext cx="70389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今天 / 近 7 天 / 近 30 天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3571875"/>
            <a:ext cx="109537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38175" y="37719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分布</a:t>
            </a:r>
            <a:endParaRPr sz="38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57650" y="3876675"/>
            <a:ext cx="70389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等级 / 类型 / 位置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" y="4848225"/>
            <a:ext cx="10953750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38175" y="504825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处置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057650" y="5153025"/>
            <a:ext cx="70389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待跟进 / 已处理 / 误报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12 / CODEARTS 实践 ①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模型训练自动化 Skill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从固定数据版本到 Atlas 板端视频验收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t="16761" b="16761"/>
          <a:stretch>
            <a:fillRect/>
          </a:stretch>
        </p:blipFill>
        <p:spPr>
          <a:xfrm>
            <a:off x="619125" y="2219325"/>
            <a:ext cx="6762750" cy="33718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19125" y="2219325"/>
            <a:ext cx="6762750" cy="33718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696200" y="2276475"/>
            <a:ext cx="378142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$yunshao-classroom-model-rnd</a:t>
            </a:r>
            <a:endParaRPr sz="165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96200" y="2905125"/>
            <a:ext cx="3667125" cy="2857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96200" y="3057525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 定义六道执行门</a:t>
            </a:r>
            <a:endParaRPr sz="19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96200" y="3476625"/>
            <a:ext cx="5238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5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210550" y="3476625"/>
            <a:ext cx="31527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数据版本与类别校验</a:t>
            </a:r>
            <a:endParaRPr sz="15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96200" y="3848100"/>
            <a:ext cx="5238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5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10550" y="3848100"/>
            <a:ext cx="31527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YOLO11n 训练 / 验证</a:t>
            </a:r>
            <a:endParaRPr sz="15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96200" y="4219575"/>
            <a:ext cx="5238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5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210550" y="4219575"/>
            <a:ext cx="31527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固定 ONNX 导出</a:t>
            </a:r>
            <a:endParaRPr sz="15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96200" y="4591050"/>
            <a:ext cx="5238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5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210550" y="4591050"/>
            <a:ext cx="31527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ATC 转换</a:t>
            </a:r>
            <a:endParaRPr sz="15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96200" y="4962525"/>
            <a:ext cx="5238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5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210550" y="4962525"/>
            <a:ext cx="31527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精度 / FPS / 内存评估</a:t>
            </a:r>
            <a:endParaRPr sz="15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696200" y="5334000"/>
            <a:ext cx="5238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5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210550" y="5334000"/>
            <a:ext cx="31527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H.264 视频链路验证</a:t>
            </a:r>
            <a:endParaRPr sz="15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19125" y="5638800"/>
            <a:ext cx="6762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流程示意图， CodeArts 操作截图</a:t>
            </a:r>
            <a:endParaRPr sz="1275" b="0">
              <a:solidFill>
                <a:srgbClr val="7FA9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9125" y="5924550"/>
            <a:ext cx="108870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仓库训练记录：2026-10-18 · classroom_behavior · YOLO11m / 640 / 15 epoch · seed 42</a:t>
            </a:r>
            <a:endParaRPr sz="1425" b="0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19125" y="6200775"/>
            <a:ext cx="10572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该记录与 Skill 标准配置属于不同实验；不作为 Skill 全流程运行证明。</a:t>
            </a:r>
            <a:endParaRPr sz="12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13 / CODEARTS 实践 ②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Spec 工作流 Skill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调用提示词、文档链和任务验收在仓库中可追溯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209800"/>
            <a:ext cx="5105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$project-spec-workflow</a:t>
            </a:r>
            <a:endParaRPr sz="25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895600"/>
            <a:ext cx="5057775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3057525"/>
            <a:ext cx="49720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调用输入  /  prompt.txt</a:t>
            </a:r>
            <a:endParaRPr sz="18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3495675"/>
            <a:ext cx="49720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读取 AGENTS / README / PRD / SPEC / 代码</a:t>
            </a:r>
            <a:endParaRPr sz="15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9125" y="4057650"/>
            <a:ext cx="49815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按风险选择路径，先核对范围与不确定项</a:t>
            </a:r>
            <a:endParaRPr sz="15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" y="4657725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文档链  /  Specification</a:t>
            </a:r>
            <a:endParaRPr sz="18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" y="50673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proposal → spec → design → tasks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9125" y="5524500"/>
            <a:ext cx="50387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REQ → AC → T    ·    T-01 / 02 / 03 已完成</a:t>
            </a:r>
            <a:endParaRPr sz="1500" b="0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rcRect l="3260" r="3260"/>
          <a:stretch>
            <a:fillRect/>
          </a:stretch>
        </p:blipFill>
        <p:spPr>
          <a:xfrm>
            <a:off x="5915025" y="2238375"/>
            <a:ext cx="5553075" cy="3343275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5915025" y="2238375"/>
            <a:ext cx="5553075" cy="334327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915025" y="5638800"/>
            <a:ext cx="5562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流程示意图，非 CodeArts 操作截图</a:t>
            </a:r>
            <a:endParaRPr sz="1275" b="0">
              <a:solidFill>
                <a:srgbClr val="7FA9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9125" y="6029325"/>
            <a:ext cx="108394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验收记录覆盖 AC-01.1—AC-04.2；结构校验不能替代代码与实机验收。</a:t>
            </a:r>
            <a:endParaRPr sz="1350" b="0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14 / 阶段判断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已完成基础验证，继续补齐真实链路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建议对外表述：首发试点，部分链路已验证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390775"/>
            <a:ext cx="5048250" cy="296227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390775"/>
            <a:ext cx="504825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66775" y="2695575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已有基础</a:t>
            </a:r>
            <a:endParaRPr sz="31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66775" y="3581400"/>
            <a:ext cx="44386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/ PWA 页面与模拟数据联调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账号、事件、统计等服务流程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模型加载与合成视频处理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57950" y="2390775"/>
            <a:ext cx="5048250" cy="2962275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57950" y="2390775"/>
            <a:ext cx="5048250" cy="571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05600" y="2695575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待补验收</a:t>
            </a:r>
            <a:endParaRPr sz="315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05600" y="3581400"/>
            <a:ext cx="4429125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真实相机至浏览器播放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规则事件至系统通知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持续稳定性与容量压测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9125" y="5734050"/>
            <a:ext cx="108775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真实设备与推送链路验收，是从试点走向复制的关键一步</a:t>
            </a:r>
            <a:endParaRPr sz="187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52475" y="857250"/>
            <a:ext cx="7620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NEXT</a:t>
            </a:r>
            <a:endParaRPr sz="16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52475" y="1428750"/>
            <a:ext cx="1647825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33425" y="2038350"/>
            <a:ext cx="1078230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让一条真实链路跑通</a:t>
            </a:r>
            <a:endParaRPr sz="47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33425" y="3143250"/>
            <a:ext cx="1078230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再让能力跨行业复制</a:t>
            </a:r>
            <a:endParaRPr sz="47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4724400"/>
            <a:ext cx="10477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近期：真实视频接入 / 规则事件到通知 / 手机端回跳与处置</a:t>
            </a:r>
            <a:endParaRPr sz="187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5334000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后续：扩展场景算法与平台接入能力</a:t>
            </a:r>
            <a:endParaRPr sz="1875" b="0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2467</Words>
  <Application>WPS 演示</Application>
  <PresentationFormat>Converted Presentation</PresentationFormat>
  <Paragraphs>405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PingFang SC</vt:lpstr>
      <vt:lpstr>微软雅黑</vt:lpstr>
      <vt:lpstr>方正雅意黑 GB18030L2</vt:lpstr>
      <vt:lpstr>宋体</vt:lpstr>
      <vt:lpstr>Arial Unicode MS</vt:lpstr>
      <vt:lpstr>汉仪书宋二KW</vt:lpstr>
      <vt:lpstr>Aptos</vt:lpstr>
      <vt:lpstr>Helvetica Neue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⹫⹬⹬</cp:lastModifiedBy>
  <cp:revision>1</cp:revision>
  <dcterms:created xsi:type="dcterms:W3CDTF">2026-10-22T13:49:38Z</dcterms:created>
  <dcterms:modified xsi:type="dcterms:W3CDTF">2026-10-22T13:49:38Z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952AC65B2BF586DB7214DA6A486CDF4B_42</vt:lpwstr>
  </property>
</Properties>
</file>