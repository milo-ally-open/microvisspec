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3" r:id="rId7"/>
    <p:sldId id="274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80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40431B9-654A-43E0-A060-42F7A6A53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E07297B-CEA1-4798-B8F7-3C84B7576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82AD7D7-0216-44BB-A6C6-1E5F863B4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9574F8E-E1E7-40F1-B20D-9758A566C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753AA8EE-65C6-49F4-ACE6-9BC1DA6F6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864935E-05BF-4483-B2D0-F61BA5B39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140D614-C560-44DF-825B-AAE2BD9F5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8B72E98-C487-4456-80BC-C79060CBC38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3B51E5F-3881-4B6F-88EE-F59AFA81D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80A99DC-A79A-4F8E-AA91-7DD33B433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jp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184E4D10-EF80-4168-8F5A-9C8FE4280E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C70F85F-AC2D-4D2C-BD38-FB665F6F81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FAE64B-E7A4-4CFE-9357-8E4B5EFF3DE2}"/>
              </a:ext>
            </a:extLst>
          </p:cNvPr>
          <p:cNvSpPr>
            <a:spLocks noGrp="1"/>
          </p:cNvSpPr>
          <p:nvPr/>
        </p:nvSpPr>
        <p:spPr>
          <a:xfrm>
            <a:off x="742950" y="895350"/>
            <a:ext cx="7048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endParaRPr sz="16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B5390C-4DC7-4477-AE76-AB6C1121F4A5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1666875" cy="3810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4B1B22-5D3B-4C13-B179-6E992D9A15A6}"/>
              </a:ext>
            </a:extLst>
          </p:cNvPr>
          <p:cNvSpPr>
            <a:spLocks noGrp="1"/>
          </p:cNvSpPr>
          <p:nvPr/>
        </p:nvSpPr>
        <p:spPr>
          <a:xfrm>
            <a:off x="723900" y="1952625"/>
            <a:ext cx="9246416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000" b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云 哨</a:t>
            </a:r>
            <a:r>
              <a:rPr lang="en-US" sz="6000" b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zh-CN" sz="6000" b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</a:t>
            </a:r>
            <a:r>
              <a:rPr lang="en-US" altLang="zh-CN" sz="6000" b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zh-CN" sz="6000" b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缘</a:t>
            </a:r>
            <a:r>
              <a:rPr lang="en-US" altLang="zh-CN" sz="6000" b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zh-CN" sz="6000" b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智</a:t>
            </a:r>
            <a:r>
              <a:rPr lang="en-US" altLang="zh-CN" sz="6000" b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zh-CN" sz="6000" b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能</a:t>
            </a:r>
            <a:r>
              <a:rPr lang="en-US" altLang="zh-CN" sz="6000" b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zh-CN" sz="6000" b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识</a:t>
            </a:r>
            <a:r>
              <a:rPr lang="en-US" altLang="zh-CN" sz="6000" b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zh-CN" sz="6000" b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别</a:t>
            </a:r>
            <a:endParaRPr lang="en-US" altLang="zh-CN" sz="6000" b="0" dirty="0">
              <a:solidFill>
                <a:srgbClr val="FFC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endParaRPr lang="en-US" altLang="zh-CN" sz="6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6000" b="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dirty="0">
                <a:solidFill>
                  <a:srgbClr val="FFFFFF"/>
                </a:solidFill>
              </a:rPr>
              <a:t>面向多行业的 </a:t>
            </a:r>
            <a:r>
              <a:rPr lang="en-US" altLang="zh-CN" sz="2800" dirty="0" err="1">
                <a:solidFill>
                  <a:srgbClr val="FFFFFF"/>
                </a:solidFill>
              </a:rPr>
              <a:t>AIoT</a:t>
            </a:r>
            <a:r>
              <a:rPr lang="zh-CN" altLang="en-US" sz="2800" dirty="0">
                <a:solidFill>
                  <a:srgbClr val="FFFFFF"/>
                </a:solidFill>
              </a:rPr>
              <a:t>边缘视频智能平台</a:t>
            </a:r>
          </a:p>
          <a:p>
            <a: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endParaRPr lang="zh-CN" altLang="zh-CN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endParaRPr sz="6150" b="0" dirty="0">
              <a:solidFill>
                <a:srgbClr val="F5C86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23C8CA-9E8E-4D2E-AC10-E69AB8AB5F1D}"/>
              </a:ext>
            </a:extLst>
          </p:cNvPr>
          <p:cNvSpPr>
            <a:spLocks noGrp="1"/>
          </p:cNvSpPr>
          <p:nvPr/>
        </p:nvSpPr>
        <p:spPr>
          <a:xfrm>
            <a:off x="1613483" y="3605345"/>
            <a:ext cx="10001250" cy="137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endParaRPr sz="3525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DFD354-6464-B3C2-B08B-3ED42DCC5804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endParaRPr sz="13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669856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E6AD3932-13E7-42C6-99DC-4C7BE6F07D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F1C29C0-D9CD-4D2E-8CC7-F9F0300D36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5C78B2-EEA3-4FE1-9970-9B298D242EFF}"/>
              </a:ext>
            </a:extLst>
          </p:cNvPr>
          <p:cNvSpPr>
            <a:spLocks noGrp="1"/>
          </p:cNvSpPr>
          <p:nvPr/>
        </p:nvSpPr>
        <p:spPr>
          <a:xfrm>
            <a:off x="628650" y="609600"/>
            <a:ext cx="38100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CONTENTS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C3F8C6F-25F5-43E9-A043-CABCC7E86FC5}"/>
              </a:ext>
            </a:extLst>
          </p:cNvPr>
          <p:cNvSpPr>
            <a:spLocks noGrp="1"/>
          </p:cNvSpPr>
          <p:nvPr/>
        </p:nvSpPr>
        <p:spPr>
          <a:xfrm>
            <a:off x="628650" y="1123950"/>
            <a:ext cx="2895600" cy="923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002348-1A09-4098-9AB9-6E195ED8D05C}"/>
              </a:ext>
            </a:extLst>
          </p:cNvPr>
          <p:cNvSpPr>
            <a:spLocks noGrp="1"/>
          </p:cNvSpPr>
          <p:nvPr/>
        </p:nvSpPr>
        <p:spPr>
          <a:xfrm>
            <a:off x="638175" y="2333625"/>
            <a:ext cx="1600200" cy="4762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8DDC3F-4551-4247-B4A8-AF929BCD03E8}"/>
              </a:ext>
            </a:extLst>
          </p:cNvPr>
          <p:cNvSpPr>
            <a:spLocks noGrp="1"/>
          </p:cNvSpPr>
          <p:nvPr/>
        </p:nvSpPr>
        <p:spPr>
          <a:xfrm>
            <a:off x="4400550" y="1162050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B6630BA-099A-4FF6-B25B-D4E3D5B7D718}"/>
              </a:ext>
            </a:extLst>
          </p:cNvPr>
          <p:cNvSpPr>
            <a:spLocks noGrp="1"/>
          </p:cNvSpPr>
          <p:nvPr/>
        </p:nvSpPr>
        <p:spPr>
          <a:xfrm>
            <a:off x="5210175" y="1266825"/>
            <a:ext cx="26955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产品定位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BB20C7-D264-4692-B681-40395EE76AC5}"/>
              </a:ext>
            </a:extLst>
          </p:cNvPr>
          <p:cNvSpPr>
            <a:spLocks noGrp="1"/>
          </p:cNvSpPr>
          <p:nvPr/>
        </p:nvSpPr>
        <p:spPr>
          <a:xfrm>
            <a:off x="4400550" y="2000250"/>
            <a:ext cx="309562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C5ADCE-541A-4827-A61E-3C6482AD55A5}"/>
              </a:ext>
            </a:extLst>
          </p:cNvPr>
          <p:cNvSpPr>
            <a:spLocks noGrp="1"/>
          </p:cNvSpPr>
          <p:nvPr/>
        </p:nvSpPr>
        <p:spPr>
          <a:xfrm>
            <a:off x="7962900" y="1162050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0B882A3-7960-4DD6-8049-E2B383261BB4}"/>
              </a:ext>
            </a:extLst>
          </p:cNvPr>
          <p:cNvSpPr>
            <a:spLocks noGrp="1"/>
          </p:cNvSpPr>
          <p:nvPr/>
        </p:nvSpPr>
        <p:spPr>
          <a:xfrm>
            <a:off x="8772526" y="1266825"/>
            <a:ext cx="2040884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核心架构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0E0512-57F0-4507-99FC-F3BF96D743A8}"/>
              </a:ext>
            </a:extLst>
          </p:cNvPr>
          <p:cNvSpPr>
            <a:spLocks noGrp="1"/>
          </p:cNvSpPr>
          <p:nvPr/>
        </p:nvSpPr>
        <p:spPr>
          <a:xfrm>
            <a:off x="7962900" y="2000250"/>
            <a:ext cx="309562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62FB75D-4EB8-4A2B-A8CD-70BB392028FD}"/>
              </a:ext>
            </a:extLst>
          </p:cNvPr>
          <p:cNvSpPr>
            <a:spLocks noGrp="1"/>
          </p:cNvSpPr>
          <p:nvPr/>
        </p:nvSpPr>
        <p:spPr>
          <a:xfrm>
            <a:off x="4400550" y="2724150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E962BD1-557D-4BB6-911B-6BE7667EF8A6}"/>
              </a:ext>
            </a:extLst>
          </p:cNvPr>
          <p:cNvSpPr>
            <a:spLocks noGrp="1"/>
          </p:cNvSpPr>
          <p:nvPr/>
        </p:nvSpPr>
        <p:spPr>
          <a:xfrm>
            <a:off x="5210175" y="2828925"/>
            <a:ext cx="212026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dirty="0"/>
              <a:t>核心亮点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C4B56AD-9EBC-4F84-8460-C6A3F6B92BD9}"/>
              </a:ext>
            </a:extLst>
          </p:cNvPr>
          <p:cNvSpPr>
            <a:spLocks noGrp="1"/>
          </p:cNvSpPr>
          <p:nvPr/>
        </p:nvSpPr>
        <p:spPr>
          <a:xfrm>
            <a:off x="4400550" y="3562350"/>
            <a:ext cx="309562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785C440-AD73-4615-AFAE-BE360249DA0E}"/>
              </a:ext>
            </a:extLst>
          </p:cNvPr>
          <p:cNvSpPr>
            <a:spLocks noGrp="1"/>
          </p:cNvSpPr>
          <p:nvPr/>
        </p:nvSpPr>
        <p:spPr>
          <a:xfrm>
            <a:off x="7962900" y="2724150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A4FA59D-A5C6-42AF-B70A-CA8A0BCCD6DB}"/>
              </a:ext>
            </a:extLst>
          </p:cNvPr>
          <p:cNvSpPr>
            <a:spLocks noGrp="1"/>
          </p:cNvSpPr>
          <p:nvPr/>
        </p:nvSpPr>
        <p:spPr>
          <a:xfrm>
            <a:off x="8772525" y="2828925"/>
            <a:ext cx="193611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dirty="0"/>
              <a:t>国产化生态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C2793ED-E1CD-4763-8AC9-3B2BD02F92FB}"/>
              </a:ext>
            </a:extLst>
          </p:cNvPr>
          <p:cNvSpPr>
            <a:spLocks noGrp="1"/>
          </p:cNvSpPr>
          <p:nvPr/>
        </p:nvSpPr>
        <p:spPr>
          <a:xfrm>
            <a:off x="7962900" y="3562350"/>
            <a:ext cx="309562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60A6438-214D-4B1E-95F0-935F21BA0D21}"/>
              </a:ext>
            </a:extLst>
          </p:cNvPr>
          <p:cNvSpPr>
            <a:spLocks noGrp="1"/>
          </p:cNvSpPr>
          <p:nvPr/>
        </p:nvSpPr>
        <p:spPr>
          <a:xfrm>
            <a:off x="4400550" y="4286250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65E4C78-DCAF-420D-985C-EFE14373F0C8}"/>
              </a:ext>
            </a:extLst>
          </p:cNvPr>
          <p:cNvSpPr>
            <a:spLocks noGrp="1"/>
          </p:cNvSpPr>
          <p:nvPr/>
        </p:nvSpPr>
        <p:spPr>
          <a:xfrm>
            <a:off x="5210175" y="4352925"/>
            <a:ext cx="26955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CodeArts</a:t>
            </a:r>
            <a:r>
              <a:rPr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zh-CN" altLang="en-US"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赋能研</a:t>
            </a:r>
            <a:r>
              <a:rPr lang="zh-CN" altLang="en-US" dirty="0"/>
              <a:t>发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4C9232C-ACCC-443B-ACF0-3654ECA97AF8}"/>
              </a:ext>
            </a:extLst>
          </p:cNvPr>
          <p:cNvSpPr>
            <a:spLocks noGrp="1"/>
          </p:cNvSpPr>
          <p:nvPr/>
        </p:nvSpPr>
        <p:spPr>
          <a:xfrm>
            <a:off x="4400550" y="5124450"/>
            <a:ext cx="309562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2E98045-9E57-48F2-859B-05C18211568F}"/>
              </a:ext>
            </a:extLst>
          </p:cNvPr>
          <p:cNvSpPr>
            <a:spLocks noGrp="1"/>
          </p:cNvSpPr>
          <p:nvPr/>
        </p:nvSpPr>
        <p:spPr>
          <a:xfrm>
            <a:off x="7962900" y="4286250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72A25BC-1329-4E4F-B973-50956A2DCD1A}"/>
              </a:ext>
            </a:extLst>
          </p:cNvPr>
          <p:cNvSpPr>
            <a:spLocks noGrp="1"/>
          </p:cNvSpPr>
          <p:nvPr/>
        </p:nvSpPr>
        <p:spPr>
          <a:xfrm>
            <a:off x="8772525" y="4391025"/>
            <a:ext cx="26955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dirty="0"/>
              <a:t>未来展望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9132737-C2BB-4561-9963-264AF6D1C036}"/>
              </a:ext>
            </a:extLst>
          </p:cNvPr>
          <p:cNvSpPr>
            <a:spLocks noGrp="1"/>
          </p:cNvSpPr>
          <p:nvPr/>
        </p:nvSpPr>
        <p:spPr>
          <a:xfrm>
            <a:off x="7962900" y="5124450"/>
            <a:ext cx="309562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24D6F35-A073-97FB-F853-AA80FA9B2819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endParaRPr sz="13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300734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9075D834-CEBF-4B84-809F-F99D2C1361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C6056FC-05D2-4221-9D1B-54471C6DC3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D20A65-771C-4724-AD19-046B91945150}"/>
              </a:ext>
            </a:extLst>
          </p:cNvPr>
          <p:cNvSpPr>
            <a:spLocks noGrp="1"/>
          </p:cNvSpPr>
          <p:nvPr/>
        </p:nvSpPr>
        <p:spPr>
          <a:xfrm>
            <a:off x="657692" y="416361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3200" dirty="0">
                <a:solidFill>
                  <a:schemeClr val="accent4"/>
                </a:solidFill>
              </a:rPr>
              <a:t>01    </a:t>
            </a:r>
            <a:r>
              <a:rPr sz="3200" b="1" dirty="0">
                <a:solidFill>
                  <a:schemeClr val="accent4"/>
                </a:solidFill>
                <a:latin typeface="PingFang SC"/>
                <a:ea typeface="PingFang SC"/>
                <a:cs typeface="PingFang SC"/>
              </a:rPr>
              <a:t>产</a:t>
            </a:r>
            <a:r>
              <a:rPr lang="en-US" sz="3200" b="1" dirty="0">
                <a:solidFill>
                  <a:schemeClr val="accent4"/>
                </a:solidFill>
                <a:latin typeface="PingFang SC"/>
                <a:ea typeface="PingFang SC"/>
                <a:cs typeface="PingFang SC"/>
              </a:rPr>
              <a:t>   </a:t>
            </a:r>
            <a:r>
              <a:rPr sz="3200" b="1" dirty="0">
                <a:solidFill>
                  <a:schemeClr val="accent4"/>
                </a:solidFill>
                <a:latin typeface="PingFang SC"/>
                <a:ea typeface="PingFang SC"/>
                <a:cs typeface="PingFang SC"/>
              </a:rPr>
              <a:t>品</a:t>
            </a:r>
            <a:r>
              <a:rPr lang="en-US" sz="3200" b="1" dirty="0">
                <a:solidFill>
                  <a:schemeClr val="accent4"/>
                </a:solidFill>
                <a:latin typeface="PingFang SC"/>
                <a:ea typeface="PingFang SC"/>
                <a:cs typeface="PingFang SC"/>
              </a:rPr>
              <a:t>   </a:t>
            </a:r>
            <a:r>
              <a:rPr sz="3200" b="1" dirty="0">
                <a:solidFill>
                  <a:schemeClr val="accent4"/>
                </a:solidFill>
                <a:latin typeface="PingFang SC"/>
                <a:ea typeface="PingFang SC"/>
                <a:cs typeface="PingFang SC"/>
              </a:rPr>
              <a:t>定</a:t>
            </a:r>
            <a:r>
              <a:rPr lang="en-US" sz="3200" b="1" dirty="0">
                <a:solidFill>
                  <a:schemeClr val="accent4"/>
                </a:solidFill>
                <a:latin typeface="PingFang SC"/>
                <a:ea typeface="PingFang SC"/>
                <a:cs typeface="PingFang SC"/>
              </a:rPr>
              <a:t>   </a:t>
            </a:r>
            <a:r>
              <a:rPr sz="3200" b="1" dirty="0">
                <a:solidFill>
                  <a:schemeClr val="accent4"/>
                </a:solidFill>
                <a:latin typeface="PingFang SC"/>
                <a:ea typeface="PingFang SC"/>
                <a:cs typeface="PingFang SC"/>
              </a:rPr>
              <a:t>位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FE42DF-2815-41AA-BFAE-E03344685E0F}"/>
              </a:ext>
            </a:extLst>
          </p:cNvPr>
          <p:cNvSpPr>
            <a:spLocks noGrp="1"/>
          </p:cNvSpPr>
          <p:nvPr/>
        </p:nvSpPr>
        <p:spPr>
          <a:xfrm>
            <a:off x="609600" y="1045845"/>
            <a:ext cx="8605706" cy="76295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AIoT 边缘视频智能平台</a:t>
            </a:r>
            <a:r>
              <a:rPr lang="zh-CN" altLang="en-US" sz="2000" dirty="0">
                <a:solidFill>
                  <a:srgbClr val="0070C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，</a:t>
            </a:r>
            <a:endParaRPr lang="en-US" altLang="zh-CN" sz="2000" dirty="0">
              <a:solidFill>
                <a:srgbClr val="0070C0"/>
              </a:solidFill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zh-CN" sz="1400" dirty="0">
                <a:solidFill>
                  <a:srgbClr val="0070C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管理设备、异常事件、基础统计和告警处置</a:t>
            </a:r>
            <a:endParaRPr sz="1400" dirty="0">
              <a:solidFill>
                <a:srgbClr val="0070C0"/>
              </a:solidFill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D72EAA-62DB-42EE-A147-F5FE1B2D7572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6DBC51B-2E5E-4FEC-973E-85BC51F0423C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endParaRPr sz="13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653528-3E01-4AB6-AAFE-7F0D5C4A2FA0}"/>
              </a:ext>
            </a:extLst>
          </p:cNvPr>
          <p:cNvSpPr>
            <a:spLocks noGrp="1"/>
          </p:cNvSpPr>
          <p:nvPr/>
        </p:nvSpPr>
        <p:spPr>
          <a:xfrm>
            <a:off x="829461" y="2305049"/>
            <a:ext cx="44291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endParaRPr sz="2325" b="1" dirty="0">
              <a:solidFill>
                <a:srgbClr val="F5C86B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A0F78B-AAFD-4970-A3B1-24D40142309F}"/>
              </a:ext>
            </a:extLst>
          </p:cNvPr>
          <p:cNvSpPr>
            <a:spLocks noGrp="1"/>
          </p:cNvSpPr>
          <p:nvPr/>
        </p:nvSpPr>
        <p:spPr>
          <a:xfrm>
            <a:off x="800100" y="3038474"/>
            <a:ext cx="4351020" cy="223456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endParaRPr lang="zh-CN" altLang="en-US" sz="255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20" name="图片 19" descr="园区多个区域的摄像头回传至集中边缘机房并连接云平台的示意图">
            <a:extLst>
              <a:ext uri="{FF2B5EF4-FFF2-40B4-BE49-F238E27FC236}">
                <a16:creationId xmlns:a16="http://schemas.microsoft.com/office/drawing/2014/main" id="{E3CC65BE-5C70-350C-D388-3C70F9603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692" y="1863355"/>
            <a:ext cx="3200574" cy="235023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4F3259C-D7FA-24D8-FE1A-66A9495196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6645" y="1901338"/>
            <a:ext cx="3133650" cy="235023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B5451BD-FED4-19BB-E4C1-B5F31E1B6D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3475" y="1901338"/>
            <a:ext cx="3133650" cy="2350237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C795BC6-DC0B-AC79-2163-B827E96CBFFB}"/>
              </a:ext>
            </a:extLst>
          </p:cNvPr>
          <p:cNvSpPr txBox="1"/>
          <p:nvPr/>
        </p:nvSpPr>
        <p:spPr>
          <a:xfrm>
            <a:off x="1585714" y="4397723"/>
            <a:ext cx="1338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>
                <a:solidFill>
                  <a:srgbClr val="FFFF00"/>
                </a:solidFill>
              </a:rPr>
              <a:t>云边端协同</a:t>
            </a:r>
          </a:p>
          <a:p>
            <a:endParaRPr lang="zh-CN" altLang="en-US" b="1" dirty="0">
              <a:solidFill>
                <a:srgbClr val="FFFF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762F99A-8029-6B04-F1F8-24710BDC69D8}"/>
              </a:ext>
            </a:extLst>
          </p:cNvPr>
          <p:cNvSpPr txBox="1"/>
          <p:nvPr/>
        </p:nvSpPr>
        <p:spPr>
          <a:xfrm>
            <a:off x="1233617" y="4807787"/>
            <a:ext cx="20427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0" dirty="0">
                <a:solidFill>
                  <a:srgbClr val="FFC000"/>
                </a:solidFill>
              </a:rPr>
              <a:t>边缘设备连接摄像头，在本地运行视觉算法，实时分析视频流并识别异常；云端平台统一管理设备状态与位置，汇聚并存储异常事件；监控大屏与手机客户端展示画面与告警，支持查看与处置。</a:t>
            </a:r>
            <a:endParaRPr lang="zh-CN" altLang="en-US" sz="1200" dirty="0">
              <a:solidFill>
                <a:srgbClr val="FFC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B38A042-5E82-A39C-A53C-742FE5BDA975}"/>
              </a:ext>
            </a:extLst>
          </p:cNvPr>
          <p:cNvSpPr txBox="1"/>
          <p:nvPr/>
        </p:nvSpPr>
        <p:spPr>
          <a:xfrm>
            <a:off x="5390602" y="4397723"/>
            <a:ext cx="1492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用户友好</a:t>
            </a:r>
          </a:p>
          <a:p>
            <a:endParaRPr lang="zh-CN" alt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1080FF3-B4AF-6903-38CC-3E0528382B64}"/>
              </a:ext>
            </a:extLst>
          </p:cNvPr>
          <p:cNvSpPr txBox="1"/>
          <p:nvPr/>
        </p:nvSpPr>
        <p:spPr>
          <a:xfrm>
            <a:off x="5020812" y="4840516"/>
            <a:ext cx="19756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0" dirty="0">
                <a:solidFill>
                  <a:schemeClr val="accent6">
                    <a:lumMod val="75000"/>
                  </a:schemeClr>
                </a:solidFill>
              </a:rPr>
              <a:t>平台围绕实时监控、历史告警与基础数据分析构建主要界面，覆盖实时查看、事件追溯与处置。PWA 订阅、推送投递和点击详情代码已实现；手机实际通知仍待验收，原生 App 属于后续规划。</a:t>
            </a:r>
            <a:endParaRPr lang="zh-CN" alt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0C08D45-5259-8D66-706F-372D9F803854}"/>
              </a:ext>
            </a:extLst>
          </p:cNvPr>
          <p:cNvSpPr txBox="1"/>
          <p:nvPr/>
        </p:nvSpPr>
        <p:spPr>
          <a:xfrm>
            <a:off x="5639499" y="2850159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4DA21CD-A606-89B8-FF7C-9462BFB522C0}"/>
              </a:ext>
            </a:extLst>
          </p:cNvPr>
          <p:cNvSpPr txBox="1"/>
          <p:nvPr/>
        </p:nvSpPr>
        <p:spPr>
          <a:xfrm>
            <a:off x="9349530" y="4493472"/>
            <a:ext cx="1040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AI 友</a:t>
            </a:r>
            <a:r>
              <a:rPr lang="zh-CN" alt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好 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5ACDF91-3E81-E38F-2CAE-5BA8C0D26C14}"/>
              </a:ext>
            </a:extLst>
          </p:cNvPr>
          <p:cNvSpPr txBox="1"/>
          <p:nvPr/>
        </p:nvSpPr>
        <p:spPr>
          <a:xfrm>
            <a:off x="8896525" y="4862804"/>
            <a:ext cx="18049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0" dirty="0">
                <a:solidFill>
                  <a:schemeClr val="accent5">
                    <a:lumMod val="50000"/>
                  </a:schemeClr>
                </a:solidFill>
              </a:rPr>
              <a:t>平台规划通过 MCP 接入 AI Agent，让 Agent 查询事件、分析高发点位并提出巡查建议。当前 MCP 服务尚为占位，工具、权限与调用审计将在后续阶段实现</a:t>
            </a:r>
            <a:endParaRPr lang="zh-CN" altLang="en-US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700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D9E5F66B-737B-4289-A042-02D283C526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5715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D072F5C-153A-4312-8763-F9E176A7AF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B970A0-104A-4DB2-B0CB-873F3E431B1E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endParaRPr sz="13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28522E-03D4-4BEE-81A9-ED7AD3DF5125}"/>
              </a:ext>
            </a:extLst>
          </p:cNvPr>
          <p:cNvSpPr>
            <a:spLocks noGrp="1"/>
          </p:cNvSpPr>
          <p:nvPr/>
        </p:nvSpPr>
        <p:spPr>
          <a:xfrm>
            <a:off x="628650" y="126682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从画面到处置，形成可追踪闭环</a:t>
            </a:r>
            <a:endParaRPr sz="18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93099E5-6B74-42DF-9C1A-0F9ADE91846B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D4AFAA2-657D-4D05-AA50-16712E3CB7F1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5CA39D-28C7-490D-8269-E2C6CA95FFBB}"/>
              </a:ext>
            </a:extLst>
          </p:cNvPr>
          <p:cNvSpPr>
            <a:spLocks noGrp="1"/>
          </p:cNvSpPr>
          <p:nvPr/>
        </p:nvSpPr>
        <p:spPr>
          <a:xfrm>
            <a:off x="612571" y="2400300"/>
            <a:ext cx="2524125" cy="3810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0EF2779-17D0-4534-A2EE-30778E311D56}"/>
              </a:ext>
            </a:extLst>
          </p:cNvPr>
          <p:cNvSpPr>
            <a:spLocks noGrp="1"/>
          </p:cNvSpPr>
          <p:nvPr/>
        </p:nvSpPr>
        <p:spPr>
          <a:xfrm>
            <a:off x="619125" y="2609850"/>
            <a:ext cx="1066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C497615-2DD1-4D3A-BAA4-8FEAB18BD3DF}"/>
              </a:ext>
            </a:extLst>
          </p:cNvPr>
          <p:cNvSpPr>
            <a:spLocks noGrp="1"/>
          </p:cNvSpPr>
          <p:nvPr/>
        </p:nvSpPr>
        <p:spPr>
          <a:xfrm>
            <a:off x="619125" y="3467100"/>
            <a:ext cx="2571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视频接入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762B8E2-30EF-4BEA-AFA9-FA2BC7EA7509}"/>
              </a:ext>
            </a:extLst>
          </p:cNvPr>
          <p:cNvSpPr>
            <a:spLocks noGrp="1"/>
          </p:cNvSpPr>
          <p:nvPr/>
        </p:nvSpPr>
        <p:spPr>
          <a:xfrm>
            <a:off x="619125" y="4343400"/>
            <a:ext cx="2447925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摄像头画面与设备状态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6420693-5E4B-4ACB-8842-CC42440C24A6}"/>
              </a:ext>
            </a:extLst>
          </p:cNvPr>
          <p:cNvSpPr>
            <a:spLocks noGrp="1"/>
          </p:cNvSpPr>
          <p:nvPr/>
        </p:nvSpPr>
        <p:spPr>
          <a:xfrm>
            <a:off x="3209925" y="2876550"/>
            <a:ext cx="19050" cy="247650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56F79B7-600F-44C9-B023-624AD174B383}"/>
              </a:ext>
            </a:extLst>
          </p:cNvPr>
          <p:cNvSpPr>
            <a:spLocks noGrp="1"/>
          </p:cNvSpPr>
          <p:nvPr/>
        </p:nvSpPr>
        <p:spPr>
          <a:xfrm>
            <a:off x="3467100" y="2419350"/>
            <a:ext cx="2524125" cy="3810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29CF3D2-66DD-4191-9AF0-0250BE19D9A6}"/>
              </a:ext>
            </a:extLst>
          </p:cNvPr>
          <p:cNvSpPr>
            <a:spLocks noGrp="1"/>
          </p:cNvSpPr>
          <p:nvPr/>
        </p:nvSpPr>
        <p:spPr>
          <a:xfrm>
            <a:off x="3467100" y="2609850"/>
            <a:ext cx="1066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8F85FB-ED88-462C-9C54-DF5FD2B467CF}"/>
              </a:ext>
            </a:extLst>
          </p:cNvPr>
          <p:cNvSpPr>
            <a:spLocks noGrp="1"/>
          </p:cNvSpPr>
          <p:nvPr/>
        </p:nvSpPr>
        <p:spPr>
          <a:xfrm>
            <a:off x="3467100" y="3467100"/>
            <a:ext cx="2571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边缘识别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A083D3A-2621-48FC-954E-760CB599AF1F}"/>
              </a:ext>
            </a:extLst>
          </p:cNvPr>
          <p:cNvSpPr>
            <a:spLocks noGrp="1"/>
          </p:cNvSpPr>
          <p:nvPr/>
        </p:nvSpPr>
        <p:spPr>
          <a:xfrm>
            <a:off x="3467100" y="4343400"/>
            <a:ext cx="2447925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模型输出目标与行为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6A72C01-2D47-4A74-A46E-53BF6F8DF02F}"/>
              </a:ext>
            </a:extLst>
          </p:cNvPr>
          <p:cNvSpPr>
            <a:spLocks noGrp="1"/>
          </p:cNvSpPr>
          <p:nvPr/>
        </p:nvSpPr>
        <p:spPr>
          <a:xfrm>
            <a:off x="6057900" y="2876550"/>
            <a:ext cx="19050" cy="247650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9E636D3-798B-4840-AAB3-34263E442414}"/>
              </a:ext>
            </a:extLst>
          </p:cNvPr>
          <p:cNvSpPr>
            <a:spLocks noGrp="1"/>
          </p:cNvSpPr>
          <p:nvPr/>
        </p:nvSpPr>
        <p:spPr>
          <a:xfrm>
            <a:off x="6315075" y="2609850"/>
            <a:ext cx="1066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306758-51EC-405B-AFFF-74CAE0CEC18F}"/>
              </a:ext>
            </a:extLst>
          </p:cNvPr>
          <p:cNvSpPr>
            <a:spLocks noGrp="1"/>
          </p:cNvSpPr>
          <p:nvPr/>
        </p:nvSpPr>
        <p:spPr>
          <a:xfrm>
            <a:off x="6315075" y="3467100"/>
            <a:ext cx="2571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规则告警</a:t>
            </a:r>
            <a:endParaRPr sz="2925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D647AA-D4A8-4D8D-8A63-B5E8672F81B2}"/>
              </a:ext>
            </a:extLst>
          </p:cNvPr>
          <p:cNvSpPr>
            <a:spLocks noGrp="1"/>
          </p:cNvSpPr>
          <p:nvPr/>
        </p:nvSpPr>
        <p:spPr>
          <a:xfrm>
            <a:off x="6315075" y="4343400"/>
            <a:ext cx="2447925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 dirty="0" err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命中规则产生事件</a:t>
            </a:r>
            <a:endParaRPr sz="1800" b="0" dirty="0">
              <a:solidFill>
                <a:srgbClr val="C5DCEC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EFD2585-9CF9-44BF-9FF9-BEAB5301BE1F}"/>
              </a:ext>
            </a:extLst>
          </p:cNvPr>
          <p:cNvSpPr>
            <a:spLocks noGrp="1"/>
          </p:cNvSpPr>
          <p:nvPr/>
        </p:nvSpPr>
        <p:spPr>
          <a:xfrm>
            <a:off x="8905875" y="2876550"/>
            <a:ext cx="19050" cy="247650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A3EC487-5199-42C3-BD66-7535181E1BF8}"/>
              </a:ext>
            </a:extLst>
          </p:cNvPr>
          <p:cNvSpPr>
            <a:spLocks noGrp="1"/>
          </p:cNvSpPr>
          <p:nvPr/>
        </p:nvSpPr>
        <p:spPr>
          <a:xfrm>
            <a:off x="9163050" y="2419350"/>
            <a:ext cx="2524125" cy="3810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D756DAC-5071-49F6-B985-015D940B6DB4}"/>
              </a:ext>
            </a:extLst>
          </p:cNvPr>
          <p:cNvSpPr>
            <a:spLocks noGrp="1"/>
          </p:cNvSpPr>
          <p:nvPr/>
        </p:nvSpPr>
        <p:spPr>
          <a:xfrm>
            <a:off x="9163050" y="2609850"/>
            <a:ext cx="1066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55CE20C-91E3-4F64-9FCA-51A96E95C771}"/>
              </a:ext>
            </a:extLst>
          </p:cNvPr>
          <p:cNvSpPr>
            <a:spLocks noGrp="1"/>
          </p:cNvSpPr>
          <p:nvPr/>
        </p:nvSpPr>
        <p:spPr>
          <a:xfrm>
            <a:off x="9163050" y="3467100"/>
            <a:ext cx="2571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协同处置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57CA2B4-E6F0-4426-A546-B098ACB25348}"/>
              </a:ext>
            </a:extLst>
          </p:cNvPr>
          <p:cNvSpPr>
            <a:spLocks noGrp="1"/>
          </p:cNvSpPr>
          <p:nvPr/>
        </p:nvSpPr>
        <p:spPr>
          <a:xfrm>
            <a:off x="9163050" y="4343400"/>
            <a:ext cx="2447925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Web / PWA 查看与处理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D70FC21-CB02-4A23-B984-ABC995535AC0}"/>
              </a:ext>
            </a:extLst>
          </p:cNvPr>
          <p:cNvSpPr>
            <a:spLocks noGrp="1"/>
          </p:cNvSpPr>
          <p:nvPr/>
        </p:nvSpPr>
        <p:spPr>
          <a:xfrm>
            <a:off x="628650" y="5676900"/>
            <a:ext cx="1084897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08AA42D-F204-88FF-9473-C7E8F33BD8D3}"/>
              </a:ext>
            </a:extLst>
          </p:cNvPr>
          <p:cNvSpPr>
            <a:spLocks noGrp="1"/>
          </p:cNvSpPr>
          <p:nvPr/>
        </p:nvSpPr>
        <p:spPr>
          <a:xfrm>
            <a:off x="406167" y="333375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01 </a:t>
            </a:r>
            <a:r>
              <a:rPr lang="en-US" sz="3200" dirty="0"/>
              <a:t> 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产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品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定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位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E380F82-5455-97CD-0D85-9CCB30EEA8AC}"/>
              </a:ext>
            </a:extLst>
          </p:cNvPr>
          <p:cNvSpPr>
            <a:spLocks noGrp="1"/>
          </p:cNvSpPr>
          <p:nvPr/>
        </p:nvSpPr>
        <p:spPr>
          <a:xfrm>
            <a:off x="6200777" y="2419350"/>
            <a:ext cx="2524125" cy="3810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759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>
            <a:extLst>
              <a:ext uri="{FF2B5EF4-FFF2-40B4-BE49-F238E27FC236}">
                <a16:creationId xmlns:a16="http://schemas.microsoft.com/office/drawing/2014/main" id="{68468451-433B-4ACE-8126-FCF77D5C2F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AB24F3C-9710-4399-8194-D52B937A51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78310D-8714-411C-B8C3-BD3E3D30AE2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2 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核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心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架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构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</a:t>
            </a:r>
            <a:endParaRPr sz="320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6475C6-744D-4F49-BE40-542C84CD8258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边缘负责</a:t>
            </a:r>
            <a:r>
              <a:rPr lang="zh-CN" altLang="en-US" sz="1800" dirty="0"/>
              <a:t>感知</a:t>
            </a:r>
            <a:r>
              <a:rPr sz="18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8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平台负责协同</a:t>
            </a:r>
            <a:endParaRPr sz="18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474024-A364-43D8-B79B-31C092E52F53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1BE7C4F-9867-41B8-BEE7-13503E93D15E}"/>
              </a:ext>
            </a:extLst>
          </p:cNvPr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endParaRPr sz="1425" b="0" dirty="0">
              <a:solidFill>
                <a:srgbClr val="C5DCEC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4ED12D-B7C1-4998-9269-A5A7A2A29A8C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EA24881-997E-4CE8-989B-7D819CDFF8CD}"/>
              </a:ext>
            </a:extLst>
          </p:cNvPr>
          <p:cNvSpPr>
            <a:spLocks noGrp="1"/>
          </p:cNvSpPr>
          <p:nvPr/>
        </p:nvSpPr>
        <p:spPr>
          <a:xfrm>
            <a:off x="619125" y="2457450"/>
            <a:ext cx="2352675" cy="1952625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82F143-3289-4592-A02B-30F67743A460}"/>
              </a:ext>
            </a:extLst>
          </p:cNvPr>
          <p:cNvSpPr>
            <a:spLocks noGrp="1"/>
          </p:cNvSpPr>
          <p:nvPr/>
        </p:nvSpPr>
        <p:spPr>
          <a:xfrm>
            <a:off x="619125" y="2457450"/>
            <a:ext cx="2352675" cy="476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0021BB9-7111-451A-9594-AA1C9B782FF6}"/>
              </a:ext>
            </a:extLst>
          </p:cNvPr>
          <p:cNvSpPr>
            <a:spLocks noGrp="1"/>
          </p:cNvSpPr>
          <p:nvPr/>
        </p:nvSpPr>
        <p:spPr>
          <a:xfrm>
            <a:off x="790575" y="265747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DBFC00D-6B1D-4B8B-B706-C6D7731AAFF6}"/>
              </a:ext>
            </a:extLst>
          </p:cNvPr>
          <p:cNvSpPr>
            <a:spLocks noGrp="1"/>
          </p:cNvSpPr>
          <p:nvPr/>
        </p:nvSpPr>
        <p:spPr>
          <a:xfrm>
            <a:off x="790575" y="3124200"/>
            <a:ext cx="204787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摄像头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F0CB339-72B7-4D1B-B4D6-51C9B0D9FF43}"/>
              </a:ext>
            </a:extLst>
          </p:cNvPr>
          <p:cNvSpPr>
            <a:spLocks noGrp="1"/>
          </p:cNvSpPr>
          <p:nvPr/>
        </p:nvSpPr>
        <p:spPr>
          <a:xfrm>
            <a:off x="790575" y="3733800"/>
            <a:ext cx="20478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H.264 / RTSP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6A71BCC-095A-4A34-8C6B-7184B6BCC54C}"/>
              </a:ext>
            </a:extLst>
          </p:cNvPr>
          <p:cNvSpPr>
            <a:spLocks noGrp="1"/>
          </p:cNvSpPr>
          <p:nvPr/>
        </p:nvSpPr>
        <p:spPr>
          <a:xfrm>
            <a:off x="3028950" y="3105150"/>
            <a:ext cx="381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940D045-78F8-437B-A477-BD840CF29354}"/>
              </a:ext>
            </a:extLst>
          </p:cNvPr>
          <p:cNvSpPr>
            <a:spLocks noGrp="1"/>
          </p:cNvSpPr>
          <p:nvPr/>
        </p:nvSpPr>
        <p:spPr>
          <a:xfrm>
            <a:off x="3467100" y="2457450"/>
            <a:ext cx="2352675" cy="1952625"/>
          </a:xfrm>
          <a:prstGeom prst="rect">
            <a:avLst/>
          </a:prstGeom>
          <a:noFill/>
          <a:ln w="13335">
            <a:solidFill>
              <a:srgbClr val="F5C8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DA3BAEA-B93A-4897-9393-3F0C760A106D}"/>
              </a:ext>
            </a:extLst>
          </p:cNvPr>
          <p:cNvSpPr>
            <a:spLocks noGrp="1"/>
          </p:cNvSpPr>
          <p:nvPr/>
        </p:nvSpPr>
        <p:spPr>
          <a:xfrm>
            <a:off x="3467100" y="2457450"/>
            <a:ext cx="2352675" cy="4762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56FD9C9-B8D8-4365-9DB5-8E11508D5D74}"/>
              </a:ext>
            </a:extLst>
          </p:cNvPr>
          <p:cNvSpPr>
            <a:spLocks noGrp="1"/>
          </p:cNvSpPr>
          <p:nvPr/>
        </p:nvSpPr>
        <p:spPr>
          <a:xfrm>
            <a:off x="3638550" y="265747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7A1D2D2-E5C0-4F55-B104-025E761329B4}"/>
              </a:ext>
            </a:extLst>
          </p:cNvPr>
          <p:cNvSpPr>
            <a:spLocks noGrp="1"/>
          </p:cNvSpPr>
          <p:nvPr/>
        </p:nvSpPr>
        <p:spPr>
          <a:xfrm>
            <a:off x="3638550" y="3124200"/>
            <a:ext cx="204787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Atlas 边缘端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5893AEA-8F47-41AA-968D-4E250FAFC99D}"/>
              </a:ext>
            </a:extLst>
          </p:cNvPr>
          <p:cNvSpPr>
            <a:spLocks noGrp="1"/>
          </p:cNvSpPr>
          <p:nvPr/>
        </p:nvSpPr>
        <p:spPr>
          <a:xfrm>
            <a:off x="3638550" y="3733800"/>
            <a:ext cx="20478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本地推理 / 事件筛选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86587DA-0D02-4377-BC49-433C769D85F9}"/>
              </a:ext>
            </a:extLst>
          </p:cNvPr>
          <p:cNvSpPr>
            <a:spLocks noGrp="1"/>
          </p:cNvSpPr>
          <p:nvPr/>
        </p:nvSpPr>
        <p:spPr>
          <a:xfrm>
            <a:off x="5876925" y="3105150"/>
            <a:ext cx="381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8362F15-55D9-4718-B393-44A5D4BB124F}"/>
              </a:ext>
            </a:extLst>
          </p:cNvPr>
          <p:cNvSpPr>
            <a:spLocks noGrp="1"/>
          </p:cNvSpPr>
          <p:nvPr/>
        </p:nvSpPr>
        <p:spPr>
          <a:xfrm>
            <a:off x="6315075" y="2457450"/>
            <a:ext cx="2352675" cy="1952625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E86FBC7-A248-4EC1-83AC-E487C028993B}"/>
              </a:ext>
            </a:extLst>
          </p:cNvPr>
          <p:cNvSpPr>
            <a:spLocks noGrp="1"/>
          </p:cNvSpPr>
          <p:nvPr/>
        </p:nvSpPr>
        <p:spPr>
          <a:xfrm>
            <a:off x="6315075" y="2457450"/>
            <a:ext cx="2352675" cy="476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077AD24-8B91-49C2-8E63-957BCE253612}"/>
              </a:ext>
            </a:extLst>
          </p:cNvPr>
          <p:cNvSpPr>
            <a:spLocks noGrp="1"/>
          </p:cNvSpPr>
          <p:nvPr/>
        </p:nvSpPr>
        <p:spPr>
          <a:xfrm>
            <a:off x="6486525" y="265747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7810B9-1FED-4065-8916-CE202D5D8AE7}"/>
              </a:ext>
            </a:extLst>
          </p:cNvPr>
          <p:cNvSpPr>
            <a:spLocks noGrp="1"/>
          </p:cNvSpPr>
          <p:nvPr/>
        </p:nvSpPr>
        <p:spPr>
          <a:xfrm>
            <a:off x="6486525" y="3124200"/>
            <a:ext cx="204787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园区平台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51C8A36-DB95-4ABB-8BE1-BCBAF44C047D}"/>
              </a:ext>
            </a:extLst>
          </p:cNvPr>
          <p:cNvSpPr>
            <a:spLocks noGrp="1"/>
          </p:cNvSpPr>
          <p:nvPr/>
        </p:nvSpPr>
        <p:spPr>
          <a:xfrm>
            <a:off x="6486525" y="3733800"/>
            <a:ext cx="20478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媒体 / 设备 / 事件 / Push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791E969-8049-4E37-ADDA-58F40A9AA7CC}"/>
              </a:ext>
            </a:extLst>
          </p:cNvPr>
          <p:cNvSpPr>
            <a:spLocks noGrp="1"/>
          </p:cNvSpPr>
          <p:nvPr/>
        </p:nvSpPr>
        <p:spPr>
          <a:xfrm>
            <a:off x="8724900" y="3105150"/>
            <a:ext cx="381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73DB915-410B-4A4C-8B86-EBA6BE23AC96}"/>
              </a:ext>
            </a:extLst>
          </p:cNvPr>
          <p:cNvSpPr>
            <a:spLocks noGrp="1"/>
          </p:cNvSpPr>
          <p:nvPr/>
        </p:nvSpPr>
        <p:spPr>
          <a:xfrm>
            <a:off x="9163050" y="2457450"/>
            <a:ext cx="2352675" cy="1952625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9560B8D-E360-442D-A48E-A73B2E8CF2B4}"/>
              </a:ext>
            </a:extLst>
          </p:cNvPr>
          <p:cNvSpPr>
            <a:spLocks noGrp="1"/>
          </p:cNvSpPr>
          <p:nvPr/>
        </p:nvSpPr>
        <p:spPr>
          <a:xfrm>
            <a:off x="9163050" y="2457450"/>
            <a:ext cx="2352675" cy="476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A0A8A4F-5B25-44AB-BF82-0C2B3F662EFC}"/>
              </a:ext>
            </a:extLst>
          </p:cNvPr>
          <p:cNvSpPr>
            <a:spLocks noGrp="1"/>
          </p:cNvSpPr>
          <p:nvPr/>
        </p:nvSpPr>
        <p:spPr>
          <a:xfrm>
            <a:off x="9334500" y="265747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C568963-B89B-4557-ADFB-3E8BC42D22BF}"/>
              </a:ext>
            </a:extLst>
          </p:cNvPr>
          <p:cNvSpPr>
            <a:spLocks noGrp="1"/>
          </p:cNvSpPr>
          <p:nvPr/>
        </p:nvSpPr>
        <p:spPr>
          <a:xfrm>
            <a:off x="9334500" y="3124200"/>
            <a:ext cx="204787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Web / PWA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01FDCA1-DA72-4813-BD4C-FA4B366E30F9}"/>
              </a:ext>
            </a:extLst>
          </p:cNvPr>
          <p:cNvSpPr>
            <a:spLocks noGrp="1"/>
          </p:cNvSpPr>
          <p:nvPr/>
        </p:nvSpPr>
        <p:spPr>
          <a:xfrm>
            <a:off x="9334500" y="3733800"/>
            <a:ext cx="20478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实时查看 / 追溯处置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C84F420-350B-470D-B5C9-2E8B78E5EA5C}"/>
              </a:ext>
            </a:extLst>
          </p:cNvPr>
          <p:cNvSpPr>
            <a:spLocks noGrp="1"/>
          </p:cNvSpPr>
          <p:nvPr/>
        </p:nvSpPr>
        <p:spPr>
          <a:xfrm>
            <a:off x="619125" y="4857750"/>
            <a:ext cx="108108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endParaRPr sz="16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31A70E2-1660-485F-A93D-A63040A7B494}"/>
              </a:ext>
            </a:extLst>
          </p:cNvPr>
          <p:cNvSpPr>
            <a:spLocks noGrp="1"/>
          </p:cNvSpPr>
          <p:nvPr/>
        </p:nvSpPr>
        <p:spPr>
          <a:xfrm>
            <a:off x="619125" y="5334000"/>
            <a:ext cx="10810875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endParaRPr sz="1500" b="0" dirty="0">
              <a:solidFill>
                <a:srgbClr val="C5DCEC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674087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图片 67">
            <a:extLst>
              <a:ext uri="{FF2B5EF4-FFF2-40B4-BE49-F238E27FC236}">
                <a16:creationId xmlns:a16="http://schemas.microsoft.com/office/drawing/2014/main" id="{E771C539-F341-46BF-997C-CAB821D26D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9E80C00-50CC-4A0E-939C-EFA5E21AF4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07A19A-183B-4723-9D15-5E0868C31604}"/>
              </a:ext>
            </a:extLst>
          </p:cNvPr>
          <p:cNvSpPr>
            <a:spLocks noGrp="1"/>
          </p:cNvSpPr>
          <p:nvPr/>
        </p:nvSpPr>
        <p:spPr>
          <a:xfrm>
            <a:off x="609600" y="400051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3200" dirty="0"/>
              <a:t>02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核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心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架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256D27-47D2-48AD-996B-E2CBDE6AF2C1}"/>
              </a:ext>
            </a:extLst>
          </p:cNvPr>
          <p:cNvSpPr>
            <a:spLocks noGrp="1"/>
          </p:cNvSpPr>
          <p:nvPr/>
        </p:nvSpPr>
        <p:spPr>
          <a:xfrm>
            <a:off x="609600" y="1390649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单园区网络拓扑</a:t>
            </a:r>
            <a:endParaRPr sz="18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CE84C3-B704-4BD9-BFBE-FD2F9200C28F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675E6B-4E58-43E0-9BF3-E470E46222E9}"/>
              </a:ext>
            </a:extLst>
          </p:cNvPr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dirty="0" err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浏览器统一入口</a:t>
            </a:r>
            <a:r>
              <a:rPr sz="1425" b="0" dirty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 · Atlas </a:t>
            </a:r>
            <a:r>
              <a:rPr sz="1425" b="0" dirty="0" err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本地推理</a:t>
            </a:r>
            <a:r>
              <a:rPr sz="1425" b="0" dirty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 · </a:t>
            </a:r>
            <a:r>
              <a:rPr sz="1425" b="0" dirty="0" err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事件上报与实时媒体分路传输</a:t>
            </a:r>
            <a:endParaRPr sz="1425" b="0" dirty="0">
              <a:solidFill>
                <a:srgbClr val="C5DCEC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187403F-5127-452F-B3C5-1F97C981F7F5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120B35-CFCB-4FEC-A464-7A65AD849228}"/>
              </a:ext>
            </a:extLst>
          </p:cNvPr>
          <p:cNvSpPr>
            <a:spLocks noGrp="1"/>
          </p:cNvSpPr>
          <p:nvPr/>
        </p:nvSpPr>
        <p:spPr>
          <a:xfrm>
            <a:off x="619125" y="2200275"/>
            <a:ext cx="5715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浏览器入口与云端业务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81FA635-7540-4852-8157-A8DF9E2B16D6}"/>
              </a:ext>
            </a:extLst>
          </p:cNvPr>
          <p:cNvSpPr>
            <a:spLocks noGrp="1"/>
          </p:cNvSpPr>
          <p:nvPr/>
        </p:nvSpPr>
        <p:spPr>
          <a:xfrm>
            <a:off x="619125" y="2628900"/>
            <a:ext cx="2028825" cy="7810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84B1784-8098-416B-90DA-9EAA4A8A3470}"/>
              </a:ext>
            </a:extLst>
          </p:cNvPr>
          <p:cNvSpPr>
            <a:spLocks noGrp="1"/>
          </p:cNvSpPr>
          <p:nvPr/>
        </p:nvSpPr>
        <p:spPr>
          <a:xfrm>
            <a:off x="619125" y="2628900"/>
            <a:ext cx="2028825" cy="7810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3A32559-8E00-4361-9785-FBAE7BC1AF05}"/>
              </a:ext>
            </a:extLst>
          </p:cNvPr>
          <p:cNvSpPr>
            <a:spLocks noGrp="1"/>
          </p:cNvSpPr>
          <p:nvPr/>
        </p:nvSpPr>
        <p:spPr>
          <a:xfrm>
            <a:off x="619125" y="2628900"/>
            <a:ext cx="2028825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53EF63F-E94B-42D4-8787-3D56F5FD98E4}"/>
              </a:ext>
            </a:extLst>
          </p:cNvPr>
          <p:cNvSpPr>
            <a:spLocks noGrp="1"/>
          </p:cNvSpPr>
          <p:nvPr/>
        </p:nvSpPr>
        <p:spPr>
          <a:xfrm>
            <a:off x="733425" y="2752725"/>
            <a:ext cx="180022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Web / PWA</a:t>
            </a:r>
            <a:r>
              <a:rPr lang="en-US" sz="14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 / </a:t>
            </a:r>
            <a:r>
              <a:rPr lang="en-US" altLang="zh-CN" sz="14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App</a:t>
            </a:r>
            <a:endParaRPr sz="1425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告警与事件详情</a:t>
            </a:r>
            <a:endParaRPr sz="1425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F9F244-49C0-4E04-B476-22C64D3169F9}"/>
              </a:ext>
            </a:extLst>
          </p:cNvPr>
          <p:cNvSpPr>
            <a:spLocks noGrp="1"/>
          </p:cNvSpPr>
          <p:nvPr/>
        </p:nvSpPr>
        <p:spPr>
          <a:xfrm>
            <a:off x="3524250" y="2628900"/>
            <a:ext cx="2028825" cy="7810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B1F168E-EF45-44D2-ADA6-D062186A76F2}"/>
              </a:ext>
            </a:extLst>
          </p:cNvPr>
          <p:cNvSpPr>
            <a:spLocks noGrp="1"/>
          </p:cNvSpPr>
          <p:nvPr/>
        </p:nvSpPr>
        <p:spPr>
          <a:xfrm>
            <a:off x="3524250" y="2628900"/>
            <a:ext cx="2028825" cy="7810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6DBD8D8-6146-47DC-9BB2-87667310101E}"/>
              </a:ext>
            </a:extLst>
          </p:cNvPr>
          <p:cNvSpPr>
            <a:spLocks noGrp="1"/>
          </p:cNvSpPr>
          <p:nvPr/>
        </p:nvSpPr>
        <p:spPr>
          <a:xfrm>
            <a:off x="3524250" y="2628900"/>
            <a:ext cx="2028825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94B93AE-EC82-412B-B3B4-1802C7B92670}"/>
              </a:ext>
            </a:extLst>
          </p:cNvPr>
          <p:cNvSpPr>
            <a:spLocks noGrp="1"/>
          </p:cNvSpPr>
          <p:nvPr/>
        </p:nvSpPr>
        <p:spPr>
          <a:xfrm>
            <a:off x="3638550" y="2752725"/>
            <a:ext cx="180022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Nginx</a:t>
            </a:r>
          </a:p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Web / API / </a:t>
            </a:r>
            <a:r>
              <a:rPr sz="1425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媒体代理</a:t>
            </a:r>
            <a:endParaRPr sz="1425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5FFC82E-3200-40C5-932E-20977F826E47}"/>
              </a:ext>
            </a:extLst>
          </p:cNvPr>
          <p:cNvSpPr>
            <a:spLocks noGrp="1"/>
          </p:cNvSpPr>
          <p:nvPr/>
        </p:nvSpPr>
        <p:spPr>
          <a:xfrm>
            <a:off x="6429375" y="2514600"/>
            <a:ext cx="2286000" cy="10096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35B7EF2-0A5E-4FBC-8387-0E7880273E89}"/>
              </a:ext>
            </a:extLst>
          </p:cNvPr>
          <p:cNvSpPr>
            <a:spLocks noGrp="1"/>
          </p:cNvSpPr>
          <p:nvPr/>
        </p:nvSpPr>
        <p:spPr>
          <a:xfrm>
            <a:off x="6429375" y="2514600"/>
            <a:ext cx="2286000" cy="10096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BBCC4D5-1BC6-414D-885A-01A2056FC22C}"/>
              </a:ext>
            </a:extLst>
          </p:cNvPr>
          <p:cNvSpPr>
            <a:spLocks noGrp="1"/>
          </p:cNvSpPr>
          <p:nvPr/>
        </p:nvSpPr>
        <p:spPr>
          <a:xfrm>
            <a:off x="6429375" y="2514600"/>
            <a:ext cx="2286000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C2936B5-3BC5-4557-A299-D62D33ECD919}"/>
              </a:ext>
            </a:extLst>
          </p:cNvPr>
          <p:cNvSpPr>
            <a:spLocks noGrp="1"/>
          </p:cNvSpPr>
          <p:nvPr/>
        </p:nvSpPr>
        <p:spPr>
          <a:xfrm>
            <a:off x="6543675" y="2638425"/>
            <a:ext cx="20574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Go </a:t>
            </a:r>
            <a:r>
              <a:rPr sz="1425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业务服务</a:t>
            </a:r>
            <a:endParaRPr sz="1425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Auth · Device · Event</a:t>
            </a:r>
          </a:p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Media · Push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8799F7D-B2CC-4D1D-8527-6B58EC87E1A7}"/>
              </a:ext>
            </a:extLst>
          </p:cNvPr>
          <p:cNvSpPr>
            <a:spLocks noGrp="1"/>
          </p:cNvSpPr>
          <p:nvPr/>
        </p:nvSpPr>
        <p:spPr>
          <a:xfrm>
            <a:off x="9534525" y="2628900"/>
            <a:ext cx="2028825" cy="7810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E3366DB-A8CD-4E85-8DA5-31FC9D1CADA9}"/>
              </a:ext>
            </a:extLst>
          </p:cNvPr>
          <p:cNvSpPr>
            <a:spLocks noGrp="1"/>
          </p:cNvSpPr>
          <p:nvPr/>
        </p:nvSpPr>
        <p:spPr>
          <a:xfrm>
            <a:off x="9534525" y="2628900"/>
            <a:ext cx="2028825" cy="7810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406BF86-C0ED-43D4-A111-91882B8074E1}"/>
              </a:ext>
            </a:extLst>
          </p:cNvPr>
          <p:cNvSpPr>
            <a:spLocks noGrp="1"/>
          </p:cNvSpPr>
          <p:nvPr/>
        </p:nvSpPr>
        <p:spPr>
          <a:xfrm>
            <a:off x="9534525" y="2628900"/>
            <a:ext cx="2028825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D898282-8A81-493D-846D-FEE6E4DB6510}"/>
              </a:ext>
            </a:extLst>
          </p:cNvPr>
          <p:cNvSpPr>
            <a:spLocks noGrp="1"/>
          </p:cNvSpPr>
          <p:nvPr/>
        </p:nvSpPr>
        <p:spPr>
          <a:xfrm>
            <a:off x="9648825" y="2752725"/>
            <a:ext cx="180022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PostgreSQL</a:t>
            </a:r>
          </a:p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五服务</a:t>
            </a:r>
            <a:r>
              <a:rPr sz="14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 schema </a:t>
            </a:r>
            <a:r>
              <a:rPr sz="1425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隔离</a:t>
            </a:r>
            <a:endParaRPr sz="1425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999477E7-0997-4808-A03C-C1D6B13430D6}"/>
              </a:ext>
            </a:extLst>
          </p:cNvPr>
          <p:cNvCxnSpPr>
            <a:stCxn id="10" idx="3"/>
            <a:endCxn id="14" idx="1"/>
          </p:cNvCxnSpPr>
          <p:nvPr/>
        </p:nvCxnSpPr>
        <p:spPr>
          <a:xfrm>
            <a:off x="2647950" y="3019425"/>
            <a:ext cx="876300" cy="0"/>
          </a:xfrm>
          <a:prstGeom prst="straightConnector1">
            <a:avLst/>
          </a:prstGeom>
          <a:ln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4B2C3ADC-2B60-413E-8F84-39F7CF9C8D81}"/>
              </a:ext>
            </a:extLst>
          </p:cNvPr>
          <p:cNvCxnSpPr>
            <a:stCxn id="14" idx="3"/>
            <a:endCxn id="18" idx="1"/>
          </p:cNvCxnSpPr>
          <p:nvPr/>
        </p:nvCxnSpPr>
        <p:spPr>
          <a:xfrm>
            <a:off x="5553075" y="3019425"/>
            <a:ext cx="876300" cy="0"/>
          </a:xfrm>
          <a:prstGeom prst="straightConnector1">
            <a:avLst/>
          </a:prstGeom>
          <a:ln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9C351590-FFE2-4801-8281-DC9C92D9636D}"/>
              </a:ext>
            </a:extLst>
          </p:cNvPr>
          <p:cNvCxnSpPr>
            <a:stCxn id="18" idx="3"/>
            <a:endCxn id="22" idx="1"/>
          </p:cNvCxnSpPr>
          <p:nvPr/>
        </p:nvCxnSpPr>
        <p:spPr>
          <a:xfrm>
            <a:off x="8715375" y="3019425"/>
            <a:ext cx="819150" cy="0"/>
          </a:xfrm>
          <a:prstGeom prst="straightConnector1">
            <a:avLst/>
          </a:prstGeom>
          <a:ln w="19050">
            <a:solidFill>
              <a:srgbClr val="32C9FF"/>
            </a:solidFill>
            <a:prstDash val="solid"/>
            <a:tailEnd type="triangle" w="med" len="med"/>
          </a:ln>
        </p:spPr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6EBBBC57-CB6A-4964-8ACC-0EF5233D570F}"/>
              </a:ext>
            </a:extLst>
          </p:cNvPr>
          <p:cNvSpPr>
            <a:spLocks noGrp="1"/>
          </p:cNvSpPr>
          <p:nvPr/>
        </p:nvSpPr>
        <p:spPr>
          <a:xfrm>
            <a:off x="2714625" y="2800350"/>
            <a:ext cx="8191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HTTPS 443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5FD9F47-AB74-4D5C-91BD-28132C4489D2}"/>
              </a:ext>
            </a:extLst>
          </p:cNvPr>
          <p:cNvSpPr>
            <a:spLocks noGrp="1"/>
          </p:cNvSpPr>
          <p:nvPr/>
        </p:nvSpPr>
        <p:spPr>
          <a:xfrm>
            <a:off x="5619750" y="2800350"/>
            <a:ext cx="7810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内部 API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AE17086-30AC-4A12-9ECE-8B6EDF3B0897}"/>
              </a:ext>
            </a:extLst>
          </p:cNvPr>
          <p:cNvSpPr>
            <a:spLocks noGrp="1"/>
          </p:cNvSpPr>
          <p:nvPr/>
        </p:nvSpPr>
        <p:spPr>
          <a:xfrm>
            <a:off x="8867775" y="2800350"/>
            <a:ext cx="61912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SQL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69F911B-DC25-4DC6-A9FA-5FBCDFD7495B}"/>
              </a:ext>
            </a:extLst>
          </p:cNvPr>
          <p:cNvSpPr>
            <a:spLocks noGrp="1"/>
          </p:cNvSpPr>
          <p:nvPr/>
        </p:nvSpPr>
        <p:spPr>
          <a:xfrm>
            <a:off x="619125" y="3733800"/>
            <a:ext cx="571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园区边缘采集与设备消息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9382C94-A220-419C-ABAC-2AA5ED49C869}"/>
              </a:ext>
            </a:extLst>
          </p:cNvPr>
          <p:cNvSpPr>
            <a:spLocks noGrp="1"/>
          </p:cNvSpPr>
          <p:nvPr/>
        </p:nvSpPr>
        <p:spPr>
          <a:xfrm>
            <a:off x="619125" y="4229100"/>
            <a:ext cx="2028825" cy="7810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352BCE0-DD1C-4869-9A46-18AD376A4EDD}"/>
              </a:ext>
            </a:extLst>
          </p:cNvPr>
          <p:cNvSpPr>
            <a:spLocks noGrp="1"/>
          </p:cNvSpPr>
          <p:nvPr/>
        </p:nvSpPr>
        <p:spPr>
          <a:xfrm>
            <a:off x="619125" y="4229100"/>
            <a:ext cx="2028825" cy="7810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E941417-A958-434E-8CAE-FFBD61A8596F}"/>
              </a:ext>
            </a:extLst>
          </p:cNvPr>
          <p:cNvSpPr>
            <a:spLocks noGrp="1"/>
          </p:cNvSpPr>
          <p:nvPr/>
        </p:nvSpPr>
        <p:spPr>
          <a:xfrm>
            <a:off x="619125" y="4229100"/>
            <a:ext cx="2028825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A609006-537A-4A66-B976-D8595D862280}"/>
              </a:ext>
            </a:extLst>
          </p:cNvPr>
          <p:cNvSpPr>
            <a:spLocks noGrp="1"/>
          </p:cNvSpPr>
          <p:nvPr/>
        </p:nvSpPr>
        <p:spPr>
          <a:xfrm>
            <a:off x="733425" y="4352925"/>
            <a:ext cx="180022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摄像头</a:t>
            </a:r>
          </a:p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H.264 视频源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B630673-80F6-4A71-8AB6-BCA04573B62E}"/>
              </a:ext>
            </a:extLst>
          </p:cNvPr>
          <p:cNvSpPr>
            <a:spLocks noGrp="1"/>
          </p:cNvSpPr>
          <p:nvPr/>
        </p:nvSpPr>
        <p:spPr>
          <a:xfrm>
            <a:off x="3524250" y="4076700"/>
            <a:ext cx="2286000" cy="10858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9AA10D5-494D-4BF5-BDFD-CC2205529F51}"/>
              </a:ext>
            </a:extLst>
          </p:cNvPr>
          <p:cNvSpPr>
            <a:spLocks noGrp="1"/>
          </p:cNvSpPr>
          <p:nvPr/>
        </p:nvSpPr>
        <p:spPr>
          <a:xfrm>
            <a:off x="3524250" y="4076700"/>
            <a:ext cx="2286000" cy="1085850"/>
          </a:xfrm>
          <a:prstGeom prst="rect">
            <a:avLst/>
          </a:prstGeom>
          <a:noFill/>
          <a:ln w="13335">
            <a:solidFill>
              <a:srgbClr val="F5C8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A490739-A24A-40F4-B290-F51B2E0B65F9}"/>
              </a:ext>
            </a:extLst>
          </p:cNvPr>
          <p:cNvSpPr>
            <a:spLocks noGrp="1"/>
          </p:cNvSpPr>
          <p:nvPr/>
        </p:nvSpPr>
        <p:spPr>
          <a:xfrm>
            <a:off x="3524250" y="4076700"/>
            <a:ext cx="228600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2FE8E3E-24EC-42E6-B55E-DE9ECB0B5508}"/>
              </a:ext>
            </a:extLst>
          </p:cNvPr>
          <p:cNvSpPr>
            <a:spLocks noGrp="1"/>
          </p:cNvSpPr>
          <p:nvPr/>
        </p:nvSpPr>
        <p:spPr>
          <a:xfrm>
            <a:off x="3638550" y="4200525"/>
            <a:ext cx="20574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Atlas 200I DK A2</a:t>
            </a:r>
          </a:p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Ascend 310B4</a:t>
            </a:r>
          </a:p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本地推理 / 事件筛选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9CD88E6-23DF-40D6-A61F-BED6DF16C262}"/>
              </a:ext>
            </a:extLst>
          </p:cNvPr>
          <p:cNvSpPr>
            <a:spLocks noGrp="1"/>
          </p:cNvSpPr>
          <p:nvPr/>
        </p:nvSpPr>
        <p:spPr>
          <a:xfrm>
            <a:off x="6667500" y="4133850"/>
            <a:ext cx="2047875" cy="9715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1521318-BB95-4863-B12D-61F95F5A803E}"/>
              </a:ext>
            </a:extLst>
          </p:cNvPr>
          <p:cNvSpPr>
            <a:spLocks noGrp="1"/>
          </p:cNvSpPr>
          <p:nvPr/>
        </p:nvSpPr>
        <p:spPr>
          <a:xfrm>
            <a:off x="6667500" y="4133850"/>
            <a:ext cx="2047875" cy="9715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A99DB46-B4DF-43E5-958C-7C9FAB77AD7C}"/>
              </a:ext>
            </a:extLst>
          </p:cNvPr>
          <p:cNvSpPr>
            <a:spLocks noGrp="1"/>
          </p:cNvSpPr>
          <p:nvPr/>
        </p:nvSpPr>
        <p:spPr>
          <a:xfrm>
            <a:off x="6667500" y="4133850"/>
            <a:ext cx="2047875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85301E0-1A55-4D85-8D7A-A0DA494D3F48}"/>
              </a:ext>
            </a:extLst>
          </p:cNvPr>
          <p:cNvSpPr>
            <a:spLocks noGrp="1"/>
          </p:cNvSpPr>
          <p:nvPr/>
        </p:nvSpPr>
        <p:spPr>
          <a:xfrm>
            <a:off x="6781800" y="4257675"/>
            <a:ext cx="18192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Mosquitto 2.x</a:t>
            </a:r>
          </a:p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MQTT / TLS</a:t>
            </a:r>
          </a:p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QoS 1 · 设备 ACL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E40022A-F3AF-4AC7-BB05-C8E176AF2FF5}"/>
              </a:ext>
            </a:extLst>
          </p:cNvPr>
          <p:cNvSpPr>
            <a:spLocks noGrp="1"/>
          </p:cNvSpPr>
          <p:nvPr/>
        </p:nvSpPr>
        <p:spPr>
          <a:xfrm>
            <a:off x="9534525" y="4229100"/>
            <a:ext cx="2028825" cy="7810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138179C-EACD-466E-8CFF-D61641D11D89}"/>
              </a:ext>
            </a:extLst>
          </p:cNvPr>
          <p:cNvSpPr>
            <a:spLocks noGrp="1"/>
          </p:cNvSpPr>
          <p:nvPr/>
        </p:nvSpPr>
        <p:spPr>
          <a:xfrm>
            <a:off x="9534525" y="4229100"/>
            <a:ext cx="2028825" cy="781050"/>
          </a:xfrm>
          <a:prstGeom prst="rect">
            <a:avLst/>
          </a:prstGeom>
          <a:noFill/>
          <a:ln w="13335">
            <a:solidFill>
              <a:srgbClr val="F5C8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696EDE8-D063-4316-B3C6-D0AAFB454B3F}"/>
              </a:ext>
            </a:extLst>
          </p:cNvPr>
          <p:cNvSpPr>
            <a:spLocks noGrp="1"/>
          </p:cNvSpPr>
          <p:nvPr/>
        </p:nvSpPr>
        <p:spPr>
          <a:xfrm>
            <a:off x="9534525" y="4229100"/>
            <a:ext cx="2028825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7096D2F-A501-43FC-9B2B-7FA7D98504B9}"/>
              </a:ext>
            </a:extLst>
          </p:cNvPr>
          <p:cNvSpPr>
            <a:spLocks noGrp="1"/>
          </p:cNvSpPr>
          <p:nvPr/>
        </p:nvSpPr>
        <p:spPr>
          <a:xfrm>
            <a:off x="9648825" y="4352925"/>
            <a:ext cx="180022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浏览器推送服务</a:t>
            </a:r>
          </a:p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出站 HTTPS</a:t>
            </a: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1F857FDA-21A3-47E1-BE5B-3488CA4A460C}"/>
              </a:ext>
            </a:extLst>
          </p:cNvPr>
          <p:cNvCxnSpPr>
            <a:stCxn id="33" idx="3"/>
            <a:endCxn id="37" idx="1"/>
          </p:cNvCxnSpPr>
          <p:nvPr/>
        </p:nvCxnSpPr>
        <p:spPr>
          <a:xfrm>
            <a:off x="2647950" y="4619625"/>
            <a:ext cx="876300" cy="0"/>
          </a:xfrm>
          <a:prstGeom prst="straightConnector1">
            <a:avLst/>
          </a:prstGeom>
          <a:ln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433D50F9-115A-43E7-B490-2EEE299BF25E}"/>
              </a:ext>
            </a:extLst>
          </p:cNvPr>
          <p:cNvCxnSpPr>
            <a:stCxn id="37" idx="3"/>
            <a:endCxn id="41" idx="1"/>
          </p:cNvCxnSpPr>
          <p:nvPr/>
        </p:nvCxnSpPr>
        <p:spPr>
          <a:xfrm>
            <a:off x="5810250" y="4619625"/>
            <a:ext cx="857250" cy="0"/>
          </a:xfrm>
          <a:prstGeom prst="straightConnector1">
            <a:avLst/>
          </a:prstGeom>
          <a:ln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1F46B7CB-4A6A-4B41-BBB5-488EBD7AE901}"/>
              </a:ext>
            </a:extLst>
          </p:cNvPr>
          <p:cNvCxnSpPr>
            <a:cxnSpLocks/>
            <a:stCxn id="42" idx="0"/>
            <a:endCxn id="19" idx="2"/>
          </p:cNvCxnSpPr>
          <p:nvPr/>
        </p:nvCxnSpPr>
        <p:spPr>
          <a:xfrm rot="16200000" flipV="1">
            <a:off x="7327107" y="3769518"/>
            <a:ext cx="609600" cy="119063"/>
          </a:xfrm>
          <a:prstGeom prst="bentConnector3">
            <a:avLst>
              <a:gd name="adj1" fmla="val 50000"/>
            </a:avLst>
          </a:prstGeom>
          <a:ln w="19050">
            <a:solidFill>
              <a:srgbClr val="32C9FF"/>
            </a:solidFill>
            <a:prstDash val="solid"/>
            <a:tailEnd type="triangle" w="med" len="med"/>
          </a:ln>
        </p:spPr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id="{73DAB864-95D4-43F6-B987-8A9CEB65A455}"/>
              </a:ext>
            </a:extLst>
          </p:cNvPr>
          <p:cNvSpPr>
            <a:spLocks noGrp="1"/>
          </p:cNvSpPr>
          <p:nvPr/>
        </p:nvSpPr>
        <p:spPr>
          <a:xfrm>
            <a:off x="2886075" y="4314825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RTSP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B28FC1A-38CA-463F-87B9-F38AE9F22022}"/>
              </a:ext>
            </a:extLst>
          </p:cNvPr>
          <p:cNvSpPr>
            <a:spLocks noGrp="1"/>
          </p:cNvSpPr>
          <p:nvPr/>
        </p:nvSpPr>
        <p:spPr>
          <a:xfrm>
            <a:off x="5876925" y="4314825"/>
            <a:ext cx="80962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MQTT/TLS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5A2A72C2-7890-4968-B26A-1D201A1D7C81}"/>
              </a:ext>
            </a:extLst>
          </p:cNvPr>
          <p:cNvSpPr>
            <a:spLocks noGrp="1"/>
          </p:cNvSpPr>
          <p:nvPr/>
        </p:nvSpPr>
        <p:spPr>
          <a:xfrm>
            <a:off x="619125" y="5676900"/>
            <a:ext cx="2028825" cy="5524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0BFEC3A-2463-4369-A629-F1DFF69F8EDB}"/>
              </a:ext>
            </a:extLst>
          </p:cNvPr>
          <p:cNvSpPr>
            <a:spLocks noGrp="1"/>
          </p:cNvSpPr>
          <p:nvPr/>
        </p:nvSpPr>
        <p:spPr>
          <a:xfrm>
            <a:off x="619125" y="5676900"/>
            <a:ext cx="2028825" cy="5524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31999FE-00C9-4900-8063-8C739E585446}"/>
              </a:ext>
            </a:extLst>
          </p:cNvPr>
          <p:cNvSpPr>
            <a:spLocks noGrp="1"/>
          </p:cNvSpPr>
          <p:nvPr/>
        </p:nvSpPr>
        <p:spPr>
          <a:xfrm>
            <a:off x="619125" y="5676900"/>
            <a:ext cx="2028825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BC6E8A1-EFB3-451D-8D3B-04C19C85035C}"/>
              </a:ext>
            </a:extLst>
          </p:cNvPr>
          <p:cNvSpPr>
            <a:spLocks noGrp="1"/>
          </p:cNvSpPr>
          <p:nvPr/>
        </p:nvSpPr>
        <p:spPr>
          <a:xfrm>
            <a:off x="733425" y="5800725"/>
            <a:ext cx="18002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桌面监控端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3DE31C95-1FD4-40FE-BBA0-F9D882AF9021}"/>
              </a:ext>
            </a:extLst>
          </p:cNvPr>
          <p:cNvSpPr>
            <a:spLocks noGrp="1"/>
          </p:cNvSpPr>
          <p:nvPr/>
        </p:nvSpPr>
        <p:spPr>
          <a:xfrm>
            <a:off x="3524250" y="5676900"/>
            <a:ext cx="3238500" cy="5524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DD9D6B0-9FAD-41D0-A33F-E54850BABC60}"/>
              </a:ext>
            </a:extLst>
          </p:cNvPr>
          <p:cNvSpPr>
            <a:spLocks noGrp="1"/>
          </p:cNvSpPr>
          <p:nvPr/>
        </p:nvSpPr>
        <p:spPr>
          <a:xfrm>
            <a:off x="3524250" y="5676900"/>
            <a:ext cx="3238500" cy="5524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8D1DEAF6-EB38-4E4B-AD8D-1488D4CE93F6}"/>
              </a:ext>
            </a:extLst>
          </p:cNvPr>
          <p:cNvSpPr>
            <a:spLocks noGrp="1"/>
          </p:cNvSpPr>
          <p:nvPr/>
        </p:nvSpPr>
        <p:spPr>
          <a:xfrm>
            <a:off x="3524250" y="5676900"/>
            <a:ext cx="3238500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BDB7768-210A-4F77-A78D-11ADAB786F3E}"/>
              </a:ext>
            </a:extLst>
          </p:cNvPr>
          <p:cNvSpPr>
            <a:spLocks noGrp="1"/>
          </p:cNvSpPr>
          <p:nvPr/>
        </p:nvSpPr>
        <p:spPr>
          <a:xfrm>
            <a:off x="3638550" y="5800725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MediaMTX · media-service</a:t>
            </a: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BC408A2E-1FEE-4E97-9356-56C839E77378}"/>
              </a:ext>
            </a:extLst>
          </p:cNvPr>
          <p:cNvCxnSpPr>
            <a:stCxn id="59" idx="1"/>
            <a:endCxn id="55" idx="3"/>
          </p:cNvCxnSpPr>
          <p:nvPr/>
        </p:nvCxnSpPr>
        <p:spPr>
          <a:xfrm flipH="1">
            <a:off x="2647950" y="5953125"/>
            <a:ext cx="876300" cy="0"/>
          </a:xfrm>
          <a:prstGeom prst="straightConnector1">
            <a:avLst/>
          </a:prstGeom>
          <a:ln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92255389-7A2D-4476-9407-84A543E9165C}"/>
              </a:ext>
            </a:extLst>
          </p:cNvPr>
          <p:cNvCxnSpPr>
            <a:stCxn id="59" idx="0"/>
            <a:endCxn id="37" idx="2"/>
          </p:cNvCxnSpPr>
          <p:nvPr/>
        </p:nvCxnSpPr>
        <p:spPr>
          <a:xfrm flipH="1" flipV="1">
            <a:off x="4667250" y="5162550"/>
            <a:ext cx="476250" cy="5143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32C9FF"/>
            </a:solidFill>
            <a:prstDash val="solid"/>
            <a:tailEnd type="triangle" w="med" len="med"/>
          </a:ln>
        </p:spPr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E4533BDB-643B-4CA0-AA93-AD077F66ED5E}"/>
              </a:ext>
            </a:extLst>
          </p:cNvPr>
          <p:cNvSpPr>
            <a:spLocks noGrp="1"/>
          </p:cNvSpPr>
          <p:nvPr/>
        </p:nvSpPr>
        <p:spPr>
          <a:xfrm>
            <a:off x="2657475" y="5476875"/>
            <a:ext cx="86677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WebRTC/HLS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1DE94B9-0DFF-4FF1-A6D8-D0B3D9774DAC}"/>
              </a:ext>
            </a:extLst>
          </p:cNvPr>
          <p:cNvSpPr>
            <a:spLocks noGrp="1"/>
          </p:cNvSpPr>
          <p:nvPr/>
        </p:nvSpPr>
        <p:spPr>
          <a:xfrm>
            <a:off x="5267325" y="5257800"/>
            <a:ext cx="1190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RTSP pull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2DC4109B-4621-4BC6-BD05-A3340B00F452}"/>
              </a:ext>
            </a:extLst>
          </p:cNvPr>
          <p:cNvSpPr>
            <a:spLocks noGrp="1"/>
          </p:cNvSpPr>
          <p:nvPr/>
        </p:nvSpPr>
        <p:spPr>
          <a:xfrm>
            <a:off x="7334250" y="5524500"/>
            <a:ext cx="3905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dirty="0" err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事件流</a:t>
            </a:r>
            <a:r>
              <a:rPr sz="1575" b="0" dirty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 → </a:t>
            </a:r>
            <a:r>
              <a:rPr sz="1575" b="0" dirty="0" err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云端处置</a:t>
            </a:r>
            <a:endParaRPr sz="1575" b="0" dirty="0">
              <a:solidFill>
                <a:srgbClr val="C5DCEC"/>
              </a:solidFill>
              <a:latin typeface="PingFang SC"/>
              <a:ea typeface="PingFang SC"/>
              <a:cs typeface="PingFang SC"/>
            </a:endParaRPr>
          </a:p>
          <a:p>
            <a: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dirty="0" err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媒体流</a:t>
            </a:r>
            <a:r>
              <a:rPr sz="1575" b="0" dirty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 → </a:t>
            </a:r>
            <a:r>
              <a:rPr lang="zh-CN" altLang="en-US" dirty="0"/>
              <a:t>终端</a:t>
            </a:r>
            <a:r>
              <a:rPr sz="1575" b="0" dirty="0" err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实时查看</a:t>
            </a:r>
            <a:endParaRPr sz="1575" b="0" dirty="0">
              <a:solidFill>
                <a:srgbClr val="C5DCEC"/>
              </a:solidFill>
              <a:latin typeface="PingFang SC"/>
              <a:ea typeface="PingFang SC"/>
              <a:cs typeface="PingFang SC"/>
            </a:endParaRPr>
          </a:p>
        </p:txBody>
      </p: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8C8FBBE3-8FC2-CC94-76CB-368DE97D6B0F}"/>
              </a:ext>
            </a:extLst>
          </p:cNvPr>
          <p:cNvCxnSpPr>
            <a:cxnSpLocks/>
            <a:stCxn id="19" idx="3"/>
            <a:endCxn id="45" idx="1"/>
          </p:cNvCxnSpPr>
          <p:nvPr/>
        </p:nvCxnSpPr>
        <p:spPr>
          <a:xfrm>
            <a:off x="8715375" y="3019425"/>
            <a:ext cx="819150" cy="1600200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2230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2B8EE7B2-F372-4FBE-B359-E05814FAE1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B8CEDB8-DEEB-4021-A235-B8FCD8D47C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E6719E-8643-45AA-B5ED-6A0900C6EC90}"/>
              </a:ext>
            </a:extLst>
          </p:cNvPr>
          <p:cNvSpPr>
            <a:spLocks noGrp="1"/>
          </p:cNvSpPr>
          <p:nvPr/>
        </p:nvSpPr>
        <p:spPr>
          <a:xfrm>
            <a:off x="609600" y="404812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3200" dirty="0"/>
              <a:t>02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核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心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架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A4E356-D0FD-44EA-A93F-6749400C3D82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网络路径与访问边界</a:t>
            </a:r>
            <a:endParaRPr sz="18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2FD10B-83D2-4493-966C-AA82F6C9CCC7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CF9C1A-AB09-4393-8FAA-30D17BA1DAE2}"/>
              </a:ext>
            </a:extLst>
          </p:cNvPr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用统一入口、园区内网与出站通知，限定各条链路的暴露范围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8F48B7-035E-4353-AD10-5A4943E70CE3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CFAE326-D2FE-4887-A323-048B21B95B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7992750"/>
              </p:ext>
            </p:extLst>
          </p:nvPr>
        </p:nvGraphicFramePr>
        <p:xfrm>
          <a:off x="619125" y="2238375"/>
          <a:ext cx="10944225" cy="3857625"/>
        </p:xfrm>
        <a:graphic>
          <a:graphicData uri="http://schemas.openxmlformats.org/drawingml/2006/table">
            <a:tbl>
              <a:tblPr/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8E0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通信路径</a:t>
                      </a:r>
                    </a:p>
                  </a:txBody>
                  <a:tcPr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>
                      <a:solidFill>
                        <a:srgbClr val="2B81B3"/>
                      </a:solidFill>
                      <a:prstDash val="soli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124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8E0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协议 / 端口</a:t>
                      </a: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>
                      <a:solidFill>
                        <a:srgbClr val="2B81B3"/>
                      </a:solidFill>
                      <a:prstDash val="soli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124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8E0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访问边界与作用</a:t>
                      </a: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>
                      <a:solidFill>
                        <a:srgbClr val="2B81B3"/>
                      </a:solidFill>
                      <a:prstDash val="soli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124B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PWA / 桌面浏览器 → Nginx</a:t>
                      </a:r>
                    </a:p>
                  </a:txBody>
                  <a:tcPr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HTTPS 443</a:t>
                      </a: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浏览器统一入口；会话与摄像头归属鉴权</a:t>
                      </a: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Nginx → Go 业务服务</a:t>
                      </a:r>
                    </a:p>
                  </a:txBody>
                  <a:tcPr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内部 HTTP API</a:t>
                      </a: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同一后端网络；业务服务端口不直接对外开放</a:t>
                      </a: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Go 业务服务 → PostgreSQL</a:t>
                      </a:r>
                    </a:p>
                  </a:txBody>
                  <a:tcPr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TCP 5432</a:t>
                      </a: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 dirty="0" err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私有网络；五服务按角色隔离</a:t>
                      </a:r>
                      <a:endParaRPr sz="1275" b="0" dirty="0">
                        <a:solidFill>
                          <a:srgbClr val="FFFFF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Atlas → Mosquitto / device-service</a:t>
                      </a:r>
                    </a:p>
                  </a:txBody>
                  <a:tcPr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MQTT/TLS 8883 · QoS 1</a:t>
                      </a: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 dirty="0" err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园区内网；独立设备凭据</a:t>
                      </a:r>
                      <a:endParaRPr sz="1275" b="0" dirty="0">
                        <a:solidFill>
                          <a:srgbClr val="FFFFF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MediaMTX → Atlas 处理后视频</a:t>
                      </a:r>
                    </a:p>
                  </a:txBody>
                  <a:tcPr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RTSP 554</a:t>
                      </a: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 dirty="0" err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园区内网；MediaMTX</a:t>
                      </a:r>
                      <a:r>
                        <a:rPr sz="1275" b="0" dirty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75" b="0" dirty="0" err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主动拉取预览流</a:t>
                      </a:r>
                      <a:endParaRPr sz="1275" b="0" dirty="0">
                        <a:solidFill>
                          <a:srgbClr val="FFFFF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桌面浏览器 → MediaMTX / Nginx</a:t>
                      </a:r>
                    </a:p>
                  </a:txBody>
                  <a:tcPr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WebRTC UDP 8189 / HLS</a:t>
                      </a: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 dirty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UDP </a:t>
                      </a:r>
                      <a:r>
                        <a:rPr sz="1275" b="0" dirty="0" err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仅限园区；无法直连时经</a:t>
                      </a:r>
                      <a:r>
                        <a:rPr sz="1275" b="0" dirty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HTTPS HLS </a:t>
                      </a:r>
                      <a:r>
                        <a:rPr sz="1275" b="0" dirty="0" err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回退</a:t>
                      </a:r>
                      <a:endParaRPr sz="1275" b="0" dirty="0">
                        <a:solidFill>
                          <a:srgbClr val="FFFFF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push-service → 浏览器推送服务</a:t>
                      </a:r>
                    </a:p>
                  </a:txBody>
                  <a:tcPr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出站 HTTPS</a:t>
                      </a: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仅发送通知；无需开放公网入站端口</a:t>
                      </a: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Atlas → Nginx edge API</a:t>
                      </a:r>
                    </a:p>
                  </a:txBody>
                  <a:tcPr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HTTPS 443</a:t>
                      </a: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 dirty="0" err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设备激活与截图上传；原始</a:t>
                      </a:r>
                      <a:r>
                        <a:rPr sz="1275" b="0" dirty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RTSP </a:t>
                      </a:r>
                      <a:r>
                        <a:rPr sz="1275" b="0" dirty="0" err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不交给浏览器</a:t>
                      </a:r>
                      <a:endParaRPr sz="1275" b="0" dirty="0">
                        <a:solidFill>
                          <a:srgbClr val="FFFFF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3D9E8EB8-F4C6-4C19-93E2-1353EA7B636D}"/>
              </a:ext>
            </a:extLst>
          </p:cNvPr>
          <p:cNvSpPr>
            <a:spLocks noGrp="1"/>
          </p:cNvSpPr>
          <p:nvPr/>
        </p:nvSpPr>
        <p:spPr>
          <a:xfrm>
            <a:off x="619125" y="61912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实时媒体与事件通知各走其路；数据库和业务服务保持在内部网络。</a:t>
            </a:r>
          </a:p>
        </p:txBody>
      </p:sp>
    </p:spTree>
    <p:extLst>
      <p:ext uri="{BB962C8B-B14F-4D97-AF65-F5344CB8AC3E}">
        <p14:creationId xmlns:p14="http://schemas.microsoft.com/office/powerpoint/2010/main" val="981325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CFB0B2BE-C695-4AC4-82CB-562E2F4499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1E3CB8-D806-47F7-8FBA-4B857E0C98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05FEF4-C025-4DA2-A74F-59E6A3F6FC3D}"/>
              </a:ext>
            </a:extLst>
          </p:cNvPr>
          <p:cNvSpPr>
            <a:spLocks noGrp="1"/>
          </p:cNvSpPr>
          <p:nvPr/>
        </p:nvSpPr>
        <p:spPr>
          <a:xfrm>
            <a:off x="619125" y="561975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3200" dirty="0"/>
              <a:t>03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核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心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亮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A2D1FC6-9DEC-4585-B535-06BC734B8723}"/>
              </a:ext>
            </a:extLst>
          </p:cNvPr>
          <p:cNvSpPr>
            <a:spLocks noGrp="1"/>
          </p:cNvSpPr>
          <p:nvPr/>
        </p:nvSpPr>
        <p:spPr>
          <a:xfrm>
            <a:off x="676275" y="141922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多行业扩展的四个支点</a:t>
            </a:r>
            <a:endParaRPr sz="18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F4EEC1-A24D-4E07-A6A3-C011ED3A9C12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B845D0E-17D8-4A82-B4B6-03FBB407D7D1}"/>
              </a:ext>
            </a:extLst>
          </p:cNvPr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平台能力和场景算法解耦，先验证一条真实链路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816B27-5204-4980-9830-E0746A2F153F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73932BC-0EA7-48B2-A17A-C8E75F16196F}"/>
              </a:ext>
            </a:extLst>
          </p:cNvPr>
          <p:cNvSpPr>
            <a:spLocks noGrp="1"/>
          </p:cNvSpPr>
          <p:nvPr/>
        </p:nvSpPr>
        <p:spPr>
          <a:xfrm>
            <a:off x="619125" y="2381250"/>
            <a:ext cx="57150" cy="115252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EA5C413-999E-4F61-AD74-59E490937860}"/>
              </a:ext>
            </a:extLst>
          </p:cNvPr>
          <p:cNvSpPr>
            <a:spLocks noGrp="1"/>
          </p:cNvSpPr>
          <p:nvPr/>
        </p:nvSpPr>
        <p:spPr>
          <a:xfrm>
            <a:off x="857250" y="2362200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边缘识别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EB144B-C8B2-4293-BE0B-96FA85A2C6A6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494347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现场完成模型推理，降低中心端负担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C2040F-A58E-449B-A95D-EBB064062C75}"/>
              </a:ext>
            </a:extLst>
          </p:cNvPr>
          <p:cNvSpPr>
            <a:spLocks noGrp="1"/>
          </p:cNvSpPr>
          <p:nvPr/>
        </p:nvSpPr>
        <p:spPr>
          <a:xfrm>
            <a:off x="6200775" y="2381250"/>
            <a:ext cx="57150" cy="11525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8A3ADD-636F-4089-9DF6-B1814F6F1CA9}"/>
              </a:ext>
            </a:extLst>
          </p:cNvPr>
          <p:cNvSpPr>
            <a:spLocks noGrp="1"/>
          </p:cNvSpPr>
          <p:nvPr/>
        </p:nvSpPr>
        <p:spPr>
          <a:xfrm>
            <a:off x="6438900" y="2362200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规则驱动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6C3991-3C23-4629-944B-42CE23890373}"/>
              </a:ext>
            </a:extLst>
          </p:cNvPr>
          <p:cNvSpPr>
            <a:spLocks noGrp="1"/>
          </p:cNvSpPr>
          <p:nvPr/>
        </p:nvSpPr>
        <p:spPr>
          <a:xfrm>
            <a:off x="6438900" y="3000375"/>
            <a:ext cx="494347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检测与告警分开配置，按需触发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81B4CA6-0EF8-45CA-8442-91871C20D2DD}"/>
              </a:ext>
            </a:extLst>
          </p:cNvPr>
          <p:cNvSpPr>
            <a:spLocks noGrp="1"/>
          </p:cNvSpPr>
          <p:nvPr/>
        </p:nvSpPr>
        <p:spPr>
          <a:xfrm>
            <a:off x="619125" y="4067175"/>
            <a:ext cx="57150" cy="11525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E88FE56-D636-47CB-BC1C-0294E819C57D}"/>
              </a:ext>
            </a:extLst>
          </p:cNvPr>
          <p:cNvSpPr>
            <a:spLocks noGrp="1"/>
          </p:cNvSpPr>
          <p:nvPr/>
        </p:nvSpPr>
        <p:spPr>
          <a:xfrm>
            <a:off x="857250" y="4048125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统一处置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18E1159-5253-4140-9A28-613407000947}"/>
              </a:ext>
            </a:extLst>
          </p:cNvPr>
          <p:cNvSpPr>
            <a:spLocks noGrp="1"/>
          </p:cNvSpPr>
          <p:nvPr/>
        </p:nvSpPr>
        <p:spPr>
          <a:xfrm>
            <a:off x="857250" y="4686300"/>
            <a:ext cx="494347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截图、状态与处理记录集中追踪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7716B4B-288E-4CCD-B9E6-AF364F6F76FE}"/>
              </a:ext>
            </a:extLst>
          </p:cNvPr>
          <p:cNvSpPr>
            <a:spLocks noGrp="1"/>
          </p:cNvSpPr>
          <p:nvPr/>
        </p:nvSpPr>
        <p:spPr>
          <a:xfrm>
            <a:off x="6200775" y="4067175"/>
            <a:ext cx="57150" cy="11525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18D117-2E52-4272-B0B5-1FF290A3652D}"/>
              </a:ext>
            </a:extLst>
          </p:cNvPr>
          <p:cNvSpPr>
            <a:spLocks noGrp="1"/>
          </p:cNvSpPr>
          <p:nvPr/>
        </p:nvSpPr>
        <p:spPr>
          <a:xfrm>
            <a:off x="6438900" y="4048125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底座复用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F8BFBFC-AB3C-41AC-B56F-A6FCD4E81684}"/>
              </a:ext>
            </a:extLst>
          </p:cNvPr>
          <p:cNvSpPr>
            <a:spLocks noGrp="1"/>
          </p:cNvSpPr>
          <p:nvPr/>
        </p:nvSpPr>
        <p:spPr>
          <a:xfrm>
            <a:off x="6438900" y="4686300"/>
            <a:ext cx="494347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接入、视频、事件和通知能力共享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B72A417-40A1-48D2-925F-F9675FB3643D}"/>
              </a:ext>
            </a:extLst>
          </p:cNvPr>
          <p:cNvSpPr>
            <a:spLocks noGrp="1"/>
          </p:cNvSpPr>
          <p:nvPr/>
        </p:nvSpPr>
        <p:spPr>
          <a:xfrm>
            <a:off x="619125" y="5838825"/>
            <a:ext cx="108394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dirty="0" err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习近平：推动互联网、大数据、人工智能同实体经济深度融合</a:t>
            </a:r>
            <a:r>
              <a:rPr sz="1500" b="1" dirty="0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20065D4-D72F-46BB-A834-056FFDBD42BB}"/>
              </a:ext>
            </a:extLst>
          </p:cNvPr>
          <p:cNvSpPr>
            <a:spLocks noGrp="1"/>
          </p:cNvSpPr>
          <p:nvPr/>
        </p:nvSpPr>
        <p:spPr>
          <a:xfrm>
            <a:off x="619125" y="6143625"/>
            <a:ext cx="108394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dirty="0" err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项目实践：把算法部署到</a:t>
            </a:r>
            <a:r>
              <a:rPr sz="1500" b="0" dirty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 Atlas </a:t>
            </a:r>
            <a:r>
              <a:rPr sz="1500" b="0" dirty="0" err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边缘端，验证现场识别与云端业务协同</a:t>
            </a:r>
            <a:r>
              <a:rPr sz="1200" b="0" dirty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72316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906DC4F6-BA70-4A37-875D-F7021265AF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5715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B4599C9-55F0-4BA4-A2BD-A9B5C7AF25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2F3EAD-3E4D-4CA4-8405-AA956B621EBA}"/>
              </a:ext>
            </a:extLst>
          </p:cNvPr>
          <p:cNvSpPr>
            <a:spLocks noGrp="1"/>
          </p:cNvSpPr>
          <p:nvPr/>
        </p:nvSpPr>
        <p:spPr>
          <a:xfrm>
            <a:off x="653817" y="376826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3200" dirty="0"/>
              <a:t>04   </a:t>
            </a:r>
            <a:r>
              <a:rPr lang="zh-CN" altLang="en-US" sz="3200" dirty="0"/>
              <a:t>国  产  化  生  态</a:t>
            </a:r>
            <a:endParaRPr sz="320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7E5302-75EB-4F4A-8E25-5BC617C43432}"/>
              </a:ext>
            </a:extLst>
          </p:cNvPr>
          <p:cNvSpPr>
            <a:spLocks noGrp="1"/>
          </p:cNvSpPr>
          <p:nvPr/>
        </p:nvSpPr>
        <p:spPr>
          <a:xfrm>
            <a:off x="727133" y="14382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800" dirty="0"/>
              <a:t>底层硬件</a:t>
            </a:r>
            <a:r>
              <a:rPr lang="zh-CN" altLang="en-US" sz="18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生态国产化</a:t>
            </a:r>
            <a:endParaRPr sz="18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6F5AE8-84DD-489E-90EB-6543BDDD8E8B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ABB9C52-E3E5-4476-A647-A554089FA338}"/>
              </a:ext>
            </a:extLst>
          </p:cNvPr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endParaRPr sz="1425" b="0" dirty="0">
              <a:solidFill>
                <a:srgbClr val="C5DCEC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7F4845-1BA5-4C2B-913C-FC076F0BFB97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D44E8DD-6A44-4D22-B210-C919BDADF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0312" y="2548722"/>
            <a:ext cx="3655794" cy="2805069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220C21C9-63A7-4A5D-989E-A58AA47F4073}"/>
              </a:ext>
            </a:extLst>
          </p:cNvPr>
          <p:cNvSpPr>
            <a:spLocks noGrp="1"/>
          </p:cNvSpPr>
          <p:nvPr/>
        </p:nvSpPr>
        <p:spPr>
          <a:xfrm>
            <a:off x="1514496" y="1039970"/>
            <a:ext cx="3838575" cy="53007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       ——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国产化生态</a:t>
            </a:r>
            <a:endParaRPr sz="2325" b="1" dirty="0">
              <a:solidFill>
                <a:schemeClr val="accent4">
                  <a:lumMod val="75000"/>
                </a:schemeClr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1D7FF41-E5C0-4D18-8009-ACCB0C84D648}"/>
              </a:ext>
            </a:extLst>
          </p:cNvPr>
          <p:cNvSpPr>
            <a:spLocks noGrp="1"/>
          </p:cNvSpPr>
          <p:nvPr/>
        </p:nvSpPr>
        <p:spPr>
          <a:xfrm>
            <a:off x="1331550" y="5692713"/>
            <a:ext cx="1856266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8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华为</a:t>
            </a:r>
            <a:r>
              <a:rPr sz="18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Ascend 31</a:t>
            </a:r>
            <a:r>
              <a:rPr lang="en-US" altLang="zh-CN" sz="18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</a:t>
            </a:r>
            <a:r>
              <a:rPr lang="en-US" sz="18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</a:t>
            </a:r>
            <a:r>
              <a:rPr lang="en-US" altLang="zh-CN" sz="18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lang="zh-CN" altLang="en-US" sz="18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芯片</a:t>
            </a:r>
            <a:r>
              <a:rPr lang="zh-CN" altLang="en-US" sz="1800" dirty="0"/>
              <a:t>澎湃算力基座</a:t>
            </a:r>
            <a:endParaRPr sz="18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2CD753F-8E9D-4D13-A80D-F74C1C98B310}"/>
              </a:ext>
            </a:extLst>
          </p:cNvPr>
          <p:cNvSpPr>
            <a:spLocks noGrp="1"/>
          </p:cNvSpPr>
          <p:nvPr/>
        </p:nvSpPr>
        <p:spPr>
          <a:xfrm>
            <a:off x="4725255" y="5813285"/>
            <a:ext cx="40957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800" b="1" dirty="0"/>
              <a:t>华为</a:t>
            </a:r>
            <a:r>
              <a:rPr lang="en-US" altLang="zh-CN" sz="1800" b="1" dirty="0"/>
              <a:t>CANN</a:t>
            </a:r>
            <a:r>
              <a:rPr lang="zh-CN" altLang="en-US" sz="1800" b="1" dirty="0"/>
              <a:t>作为底层算子库支持</a:t>
            </a:r>
            <a:endParaRPr lang="en-US" altLang="zh-CN" sz="1800" b="1" dirty="0"/>
          </a:p>
          <a:p>
            <a: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endParaRPr lang="en-US" altLang="zh-CN" sz="2325" b="1" dirty="0"/>
          </a:p>
          <a:p>
            <a: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endParaRPr sz="2175" b="0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D6346C4-6F56-4A53-2CD5-DE87858550B7}"/>
              </a:ext>
            </a:extLst>
          </p:cNvPr>
          <p:cNvSpPr>
            <a:spLocks noGrp="1"/>
          </p:cNvSpPr>
          <p:nvPr/>
        </p:nvSpPr>
        <p:spPr>
          <a:xfrm>
            <a:off x="8539323" y="5800725"/>
            <a:ext cx="463042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800" b="1" dirty="0"/>
              <a:t>华为</a:t>
            </a:r>
            <a:r>
              <a:rPr lang="en-US" altLang="zh-CN" sz="1800" b="1" dirty="0"/>
              <a:t>ACL</a:t>
            </a:r>
            <a:r>
              <a:rPr lang="zh-CN" altLang="en-US" sz="1800" b="1" dirty="0"/>
              <a:t>作为模型运行时性能保障</a:t>
            </a:r>
            <a:endParaRPr lang="en-US" altLang="zh-CN" sz="1800" b="1" dirty="0"/>
          </a:p>
          <a:p>
            <a: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endParaRPr lang="en-US" altLang="zh-CN" sz="1800" b="1" dirty="0"/>
          </a:p>
          <a:p>
            <a: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endParaRPr sz="1800" b="0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2" name="图片 11" descr="会议日历 | CANN开源社区">
            <a:extLst>
              <a:ext uri="{FF2B5EF4-FFF2-40B4-BE49-F238E27FC236}">
                <a16:creationId xmlns:a16="http://schemas.microsoft.com/office/drawing/2014/main" id="{6F2AED99-C71A-81F2-61C1-8CF3B82E9F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1228" y="1655054"/>
            <a:ext cx="2190059" cy="876129"/>
          </a:xfrm>
          <a:prstGeom prst="rect">
            <a:avLst/>
          </a:prstGeom>
        </p:spPr>
      </p:pic>
      <p:pic>
        <p:nvPicPr>
          <p:cNvPr id="21" name="图片 20" descr="昇腾AI异构计算架构CANN 6.0全新开放升级，全面释放AI生产力 - 华为 — C114通信网">
            <a:extLst>
              <a:ext uri="{FF2B5EF4-FFF2-40B4-BE49-F238E27FC236}">
                <a16:creationId xmlns:a16="http://schemas.microsoft.com/office/drawing/2014/main" id="{0A38B12A-BB0B-81C8-5467-0F0439BC78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0933" y="2551980"/>
            <a:ext cx="3478273" cy="2797047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EEE2C8BE-294A-E688-4580-405D66E163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4179" y="2548722"/>
            <a:ext cx="3855026" cy="279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598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17A1828A-23DE-4EA4-BBBC-031E1B93CD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5715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4AC99D8-D183-4F90-B0FB-4AC68F529E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00427E-A119-4087-B678-5BC3200BF44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5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en-US" sz="3200" dirty="0"/>
              <a:t>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场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景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演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2C5362-33B1-430B-9EA4-AC6509A0A8C1}"/>
              </a:ext>
            </a:extLst>
          </p:cNvPr>
          <p:cNvSpPr>
            <a:spLocks noGrp="1"/>
          </p:cNvSpPr>
          <p:nvPr/>
        </p:nvSpPr>
        <p:spPr>
          <a:xfrm>
            <a:off x="638175" y="1281112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8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应用场景</a:t>
            </a:r>
            <a:r>
              <a:rPr lang="zh-CN" altLang="en-US" sz="1800" dirty="0"/>
              <a:t>举</a:t>
            </a:r>
            <a:r>
              <a:rPr lang="zh-CN" altLang="en-US" sz="18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例</a:t>
            </a:r>
            <a:endParaRPr sz="18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C63686B-A437-47EF-AE25-8329DF74D8FD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F25FEC-3458-4E14-B8F5-DFDBCEE52158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F93BBE1-6431-45F5-9E64-5F32D8FE42E6}"/>
              </a:ext>
            </a:extLst>
          </p:cNvPr>
          <p:cNvSpPr>
            <a:spLocks noGrp="1"/>
          </p:cNvSpPr>
          <p:nvPr/>
        </p:nvSpPr>
        <p:spPr>
          <a:xfrm>
            <a:off x="8239125" y="2257425"/>
            <a:ext cx="3048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dirty="0"/>
              <a:t>教室</a:t>
            </a:r>
            <a:r>
              <a:rPr lang="zh-CN" altLang="en-US" sz="19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场景测试</a:t>
            </a:r>
            <a:endParaRPr sz="19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0015BC0-2402-45BA-AAA1-E473BB0157D4}"/>
              </a:ext>
            </a:extLst>
          </p:cNvPr>
          <p:cNvSpPr>
            <a:spLocks noGrp="1"/>
          </p:cNvSpPr>
          <p:nvPr/>
        </p:nvSpPr>
        <p:spPr>
          <a:xfrm>
            <a:off x="8239125" y="2943225"/>
            <a:ext cx="3048000" cy="109537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32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让每个孩子的状态能被充分关注</a:t>
            </a:r>
            <a:endParaRPr sz="3225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DECBD51-BB6A-4B53-92C0-573ABCEC82D3}"/>
              </a:ext>
            </a:extLst>
          </p:cNvPr>
          <p:cNvSpPr>
            <a:spLocks noGrp="1"/>
          </p:cNvSpPr>
          <p:nvPr/>
        </p:nvSpPr>
        <p:spPr>
          <a:xfrm>
            <a:off x="8239125" y="3714750"/>
            <a:ext cx="30480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endParaRPr sz="3225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BBF50D7-8283-478B-BED0-2BFE8F80231E}"/>
              </a:ext>
            </a:extLst>
          </p:cNvPr>
          <p:cNvSpPr>
            <a:spLocks noGrp="1"/>
          </p:cNvSpPr>
          <p:nvPr/>
        </p:nvSpPr>
        <p:spPr>
          <a:xfrm>
            <a:off x="8239125" y="5324475"/>
            <a:ext cx="2962275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8A9A1D5-3EFB-5815-56AA-B0D90022B3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81" y="2033587"/>
            <a:ext cx="674661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42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53EC6368-31F9-4CDF-9471-597E1BCE01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7D9BA66-288C-471A-9573-020F5BBE95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75E9D8-4F08-48C9-9F8C-8D1FE05DDD18}"/>
              </a:ext>
            </a:extLst>
          </p:cNvPr>
          <p:cNvSpPr>
            <a:spLocks noGrp="1"/>
          </p:cNvSpPr>
          <p:nvPr/>
        </p:nvSpPr>
        <p:spPr>
          <a:xfrm>
            <a:off x="619125" y="359616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6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规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则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机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D4B6F6-2B59-4A28-8F1C-49D1848F2D25}"/>
              </a:ext>
            </a:extLst>
          </p:cNvPr>
          <p:cNvSpPr>
            <a:spLocks noGrp="1"/>
          </p:cNvSpPr>
          <p:nvPr/>
        </p:nvSpPr>
        <p:spPr>
          <a:xfrm>
            <a:off x="623887" y="1253018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检测结果与告警分开管理</a:t>
            </a:r>
            <a:endParaRPr sz="18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93FDB1-A3CA-4B06-B3FF-83CB8CB6EFDA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42C6CD1-1BF4-4AF9-9F60-AAF3CB38CF5E}"/>
              </a:ext>
            </a:extLst>
          </p:cNvPr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dirty="0" err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识别持续运行；告警由业务规则决定</a:t>
            </a:r>
            <a:r>
              <a:rPr lang="zh-CN" altLang="en-US" sz="1425" b="0" dirty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；用户可以进行配置；</a:t>
            </a:r>
            <a:endParaRPr sz="1425" b="0" dirty="0">
              <a:solidFill>
                <a:srgbClr val="C5DCEC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7DE047-9BF4-4CB0-913C-D7E246E46BD2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E82A158-D16F-0286-120E-9C60450D0B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922" y="2126409"/>
            <a:ext cx="5354355" cy="393149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F219A38-97C9-469D-4160-C002FE4E00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866" y="2126409"/>
            <a:ext cx="5204494" cy="395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294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D5074664-2D22-4679-88C1-7DD1EB485B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21934" y="59772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04C6B2D-9AB8-4AAC-9CB0-1843AE3FF5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A200CC-561F-4E59-B414-2AE8C56733FF}"/>
              </a:ext>
            </a:extLst>
          </p:cNvPr>
          <p:cNvSpPr>
            <a:spLocks noGrp="1"/>
          </p:cNvSpPr>
          <p:nvPr/>
        </p:nvSpPr>
        <p:spPr>
          <a:xfrm>
            <a:off x="645821" y="363261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</a:t>
            </a:r>
            <a:r>
              <a:rPr lang="en-US" sz="36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7</a:t>
            </a:r>
            <a:r>
              <a:rPr sz="36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en-US" sz="36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6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实</a:t>
            </a:r>
            <a:r>
              <a:rPr lang="en-US" sz="36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6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时</a:t>
            </a:r>
            <a:r>
              <a:rPr lang="en-US" sz="36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6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监</a:t>
            </a:r>
            <a:r>
              <a:rPr lang="en-US" sz="36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6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控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9A6053-246C-4B0B-8239-5EC364A223CA}"/>
              </a:ext>
            </a:extLst>
          </p:cNvPr>
          <p:cNvSpPr>
            <a:spLocks noGrp="1"/>
          </p:cNvSpPr>
          <p:nvPr/>
        </p:nvSpPr>
        <p:spPr>
          <a:xfrm>
            <a:off x="645821" y="1146991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800" dirty="0"/>
              <a:t>多个终端职责分离</a:t>
            </a:r>
            <a:endParaRPr sz="18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7DE777-394E-4CC3-8F2F-7C5E225A8558}"/>
              </a:ext>
            </a:extLst>
          </p:cNvPr>
          <p:cNvSpPr>
            <a:spLocks noGrp="1"/>
          </p:cNvSpPr>
          <p:nvPr/>
        </p:nvSpPr>
        <p:spPr>
          <a:xfrm>
            <a:off x="609600" y="1541462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1CDE40-2E5E-42F7-B35C-17493851BB89}"/>
              </a:ext>
            </a:extLst>
          </p:cNvPr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dirty="0" err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桌面端承担实时监控，移动端聚焦通知</a:t>
            </a:r>
            <a:endParaRPr sz="1425" b="0" dirty="0">
              <a:solidFill>
                <a:srgbClr val="C5DCEC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70C6BDF-2EC5-4BFA-8CD9-D809B8761963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3374E28-CD72-42B6-8180-1C0A5479A9A7}"/>
              </a:ext>
            </a:extLst>
          </p:cNvPr>
          <p:cNvSpPr>
            <a:spLocks noGrp="1"/>
          </p:cNvSpPr>
          <p:nvPr/>
        </p:nvSpPr>
        <p:spPr>
          <a:xfrm>
            <a:off x="619125" y="2266950"/>
            <a:ext cx="57150" cy="400050"/>
          </a:xfrm>
          <a:prstGeom prst="rect">
            <a:avLst/>
          </a:prstGeom>
          <a:solidFill>
            <a:srgbClr val="00B0F0"/>
          </a:solidFill>
          <a:ln w="0">
            <a:solidFill>
              <a:srgbClr val="00B0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684E0B3-158F-4AC5-B9B3-44952417B2F6}"/>
              </a:ext>
            </a:extLst>
          </p:cNvPr>
          <p:cNvSpPr>
            <a:spLocks noGrp="1"/>
          </p:cNvSpPr>
          <p:nvPr/>
        </p:nvSpPr>
        <p:spPr>
          <a:xfrm>
            <a:off x="809625" y="2238375"/>
            <a:ext cx="441007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330" dirty="0">
                <a:solidFill>
                  <a:srgbClr val="78E0FF"/>
                </a:solidFill>
              </a:rPr>
              <a:t>桌面端</a:t>
            </a:r>
            <a:endParaRPr sz="2330" dirty="0">
              <a:solidFill>
                <a:srgbClr val="78E0FF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966FF26-7246-7886-17E5-90984D6D85C0}"/>
              </a:ext>
            </a:extLst>
          </p:cNvPr>
          <p:cNvSpPr>
            <a:spLocks noGrp="1"/>
          </p:cNvSpPr>
          <p:nvPr/>
        </p:nvSpPr>
        <p:spPr>
          <a:xfrm>
            <a:off x="6442075" y="2270125"/>
            <a:ext cx="57150" cy="40005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C374E65-8BB0-4109-F22C-434F1DFC038B}"/>
              </a:ext>
            </a:extLst>
          </p:cNvPr>
          <p:cNvSpPr>
            <a:spLocks noGrp="1"/>
          </p:cNvSpPr>
          <p:nvPr/>
        </p:nvSpPr>
        <p:spPr>
          <a:xfrm>
            <a:off x="6600825" y="2251075"/>
            <a:ext cx="441007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dirty="0"/>
              <a:t>移动端</a:t>
            </a:r>
            <a:endParaRPr sz="2325" b="1" dirty="0">
              <a:solidFill>
                <a:srgbClr val="F5C86B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3F1AF62-2856-5026-E5CA-891E906C44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" y="2838450"/>
            <a:ext cx="5333134" cy="316885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93D2544-719B-2002-FC70-6646712783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945" y="2863850"/>
            <a:ext cx="1520660" cy="3156154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55FB1FF2-7289-EE85-DAD7-0340E08B0D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826" y="2863850"/>
            <a:ext cx="1520660" cy="3143454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5F193BBE-42B3-745A-7B97-F275A21FE9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4031" y="2864840"/>
            <a:ext cx="1520660" cy="314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091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102BE91D-728E-4BC8-A9E6-E4EB1A09E1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C2C0D37-3DD7-4CF4-88BA-9325076226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A01E18-B8AC-49F7-BA8F-DE422E732ED6}"/>
              </a:ext>
            </a:extLst>
          </p:cNvPr>
          <p:cNvSpPr>
            <a:spLocks noGrp="1"/>
          </p:cNvSpPr>
          <p:nvPr/>
        </p:nvSpPr>
        <p:spPr>
          <a:xfrm>
            <a:off x="609600" y="461962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8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事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件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处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置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</a:t>
            </a:r>
            <a:endParaRPr sz="320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4F87AA8-A3A5-422C-BF25-449A0E38727B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每次告警，都有证据与处理记录</a:t>
            </a:r>
            <a:endParaRPr sz="18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0C1963-776F-4E38-8A6F-AAB83FD59085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77FA7A-D554-4153-AD9E-35A6E6E63DEF}"/>
              </a:ext>
            </a:extLst>
          </p:cNvPr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让异常从发生到结案可追踪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741484-6DF3-4B6E-AFA0-4500A72764B8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3E9A0C-499C-41A4-925E-355DB47BF4D8}"/>
              </a:ext>
            </a:extLst>
          </p:cNvPr>
          <p:cNvSpPr>
            <a:spLocks noGrp="1"/>
          </p:cNvSpPr>
          <p:nvPr/>
        </p:nvSpPr>
        <p:spPr>
          <a:xfrm>
            <a:off x="1162050" y="3200400"/>
            <a:ext cx="9906000" cy="28575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248262-9FEF-4402-A53D-4626EDBFFA88}"/>
              </a:ext>
            </a:extLst>
          </p:cNvPr>
          <p:cNvSpPr>
            <a:spLocks noGrp="1"/>
          </p:cNvSpPr>
          <p:nvPr/>
        </p:nvSpPr>
        <p:spPr>
          <a:xfrm>
            <a:off x="1438275" y="3038475"/>
            <a:ext cx="266700" cy="3619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DCCFFBA-F12B-436A-A8DB-8F0599792044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78ABC8E-585B-47EA-997B-18297FACE03D}"/>
              </a:ext>
            </a:extLst>
          </p:cNvPr>
          <p:cNvSpPr>
            <a:spLocks noGrp="1"/>
          </p:cNvSpPr>
          <p:nvPr/>
        </p:nvSpPr>
        <p:spPr>
          <a:xfrm>
            <a:off x="666750" y="3619500"/>
            <a:ext cx="22669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规则命中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F02D455-9C0C-45BB-A422-FFFB2CE8D621}"/>
              </a:ext>
            </a:extLst>
          </p:cNvPr>
          <p:cNvSpPr>
            <a:spLocks noGrp="1"/>
          </p:cNvSpPr>
          <p:nvPr/>
        </p:nvSpPr>
        <p:spPr>
          <a:xfrm>
            <a:off x="666750" y="4286250"/>
            <a:ext cx="239077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时间、设备、等级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CFCCC3-C673-45E2-932B-B25831F21D2D}"/>
              </a:ext>
            </a:extLst>
          </p:cNvPr>
          <p:cNvSpPr>
            <a:spLocks noGrp="1"/>
          </p:cNvSpPr>
          <p:nvPr/>
        </p:nvSpPr>
        <p:spPr>
          <a:xfrm>
            <a:off x="4276725" y="3038475"/>
            <a:ext cx="266700" cy="3619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0971D4A-02B0-495B-83FF-88E13ED72D13}"/>
              </a:ext>
            </a:extLst>
          </p:cNvPr>
          <p:cNvSpPr>
            <a:spLocks noGrp="1"/>
          </p:cNvSpPr>
          <p:nvPr/>
        </p:nvSpPr>
        <p:spPr>
          <a:xfrm>
            <a:off x="3505200" y="245745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DD1961-16E6-4EF8-9B50-827EBFC98F99}"/>
              </a:ext>
            </a:extLst>
          </p:cNvPr>
          <p:cNvSpPr>
            <a:spLocks noGrp="1"/>
          </p:cNvSpPr>
          <p:nvPr/>
        </p:nvSpPr>
        <p:spPr>
          <a:xfrm>
            <a:off x="3505200" y="3619500"/>
            <a:ext cx="22669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留存截图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8F5D48C-0FBF-4842-85AD-7D3E0CBCE066}"/>
              </a:ext>
            </a:extLst>
          </p:cNvPr>
          <p:cNvSpPr>
            <a:spLocks noGrp="1"/>
          </p:cNvSpPr>
          <p:nvPr/>
        </p:nvSpPr>
        <p:spPr>
          <a:xfrm>
            <a:off x="3505200" y="4286250"/>
            <a:ext cx="239077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画面证据关联事件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AEFC488-A9FB-4704-ABDC-64BA7F6B5A75}"/>
              </a:ext>
            </a:extLst>
          </p:cNvPr>
          <p:cNvSpPr>
            <a:spLocks noGrp="1"/>
          </p:cNvSpPr>
          <p:nvPr/>
        </p:nvSpPr>
        <p:spPr>
          <a:xfrm>
            <a:off x="7115175" y="3038475"/>
            <a:ext cx="266700" cy="3619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76DA91-9A74-4396-BB7F-E14219422D72}"/>
              </a:ext>
            </a:extLst>
          </p:cNvPr>
          <p:cNvSpPr>
            <a:spLocks noGrp="1"/>
          </p:cNvSpPr>
          <p:nvPr/>
        </p:nvSpPr>
        <p:spPr>
          <a:xfrm>
            <a:off x="6343650" y="245745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5AD49DA-A281-4827-8E1F-57E4E17A3BC8}"/>
              </a:ext>
            </a:extLst>
          </p:cNvPr>
          <p:cNvSpPr>
            <a:spLocks noGrp="1"/>
          </p:cNvSpPr>
          <p:nvPr/>
        </p:nvSpPr>
        <p:spPr>
          <a:xfrm>
            <a:off x="6343650" y="3619500"/>
            <a:ext cx="22669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人员处理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52E3174-3029-4BEE-B335-F42E5DE515E8}"/>
              </a:ext>
            </a:extLst>
          </p:cNvPr>
          <p:cNvSpPr>
            <a:spLocks noGrp="1"/>
          </p:cNvSpPr>
          <p:nvPr/>
        </p:nvSpPr>
        <p:spPr>
          <a:xfrm>
            <a:off x="6343650" y="4286250"/>
            <a:ext cx="239077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解除 / 误报 / 跟进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1BD661-7F94-40DA-8389-F3EACCC98872}"/>
              </a:ext>
            </a:extLst>
          </p:cNvPr>
          <p:cNvSpPr>
            <a:spLocks noGrp="1"/>
          </p:cNvSpPr>
          <p:nvPr/>
        </p:nvSpPr>
        <p:spPr>
          <a:xfrm>
            <a:off x="9953625" y="3038475"/>
            <a:ext cx="266700" cy="3619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774ED6E-0290-4DA9-971E-1DA65BF581E3}"/>
              </a:ext>
            </a:extLst>
          </p:cNvPr>
          <p:cNvSpPr>
            <a:spLocks noGrp="1"/>
          </p:cNvSpPr>
          <p:nvPr/>
        </p:nvSpPr>
        <p:spPr>
          <a:xfrm>
            <a:off x="9182100" y="245745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3A932D8-2478-48E4-B16C-16DBE27954AB}"/>
              </a:ext>
            </a:extLst>
          </p:cNvPr>
          <p:cNvSpPr>
            <a:spLocks noGrp="1"/>
          </p:cNvSpPr>
          <p:nvPr/>
        </p:nvSpPr>
        <p:spPr>
          <a:xfrm>
            <a:off x="9182100" y="3619500"/>
            <a:ext cx="22669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历史追溯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616BD0D-5676-49BE-A6AA-EAC25DFFD835}"/>
              </a:ext>
            </a:extLst>
          </p:cNvPr>
          <p:cNvSpPr>
            <a:spLocks noGrp="1"/>
          </p:cNvSpPr>
          <p:nvPr/>
        </p:nvSpPr>
        <p:spPr>
          <a:xfrm>
            <a:off x="9182100" y="4286250"/>
            <a:ext cx="239077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状态与时间线保留</a:t>
            </a:r>
          </a:p>
        </p:txBody>
      </p:sp>
    </p:spTree>
    <p:extLst>
      <p:ext uri="{BB962C8B-B14F-4D97-AF65-F5344CB8AC3E}">
        <p14:creationId xmlns:p14="http://schemas.microsoft.com/office/powerpoint/2010/main" val="324838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1E909FB4-6FDD-499B-B304-FDD9DFCCDC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28575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5D3BA03-F828-4B48-9304-AE4F7EFBE2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606F613-6682-43F9-94B1-7E4D59A2AEDD}"/>
              </a:ext>
            </a:extLst>
          </p:cNvPr>
          <p:cNvSpPr>
            <a:spLocks noGrp="1"/>
          </p:cNvSpPr>
          <p:nvPr/>
        </p:nvSpPr>
        <p:spPr>
          <a:xfrm>
            <a:off x="519593" y="502762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09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数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据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分</a:t>
            </a:r>
            <a:r>
              <a:rPr lang="en-US"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32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104D05-6AD1-4C3B-B580-9947F0870A70}"/>
              </a:ext>
            </a:extLst>
          </p:cNvPr>
          <p:cNvSpPr>
            <a:spLocks noGrp="1"/>
          </p:cNvSpPr>
          <p:nvPr/>
        </p:nvSpPr>
        <p:spPr>
          <a:xfrm>
            <a:off x="616663" y="1281431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让事件形成可回看的趋势</a:t>
            </a:r>
            <a:endParaRPr sz="18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AD24C1-F083-479B-8181-F6B35B69C7DB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AF3855C-EC8A-4161-BA90-FE6741212D9D}"/>
              </a:ext>
            </a:extLst>
          </p:cNvPr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dirty="0"/>
              <a:t>让算法贴近现实</a:t>
            </a:r>
            <a:r>
              <a:rPr lang="en-US" altLang="zh-CN" dirty="0"/>
              <a:t>, </a:t>
            </a:r>
            <a:r>
              <a:rPr lang="zh-CN" altLang="en-US" dirty="0"/>
              <a:t>让</a:t>
            </a:r>
            <a:r>
              <a:rPr lang="zh-CN" altLang="en-US" sz="1425" b="0" dirty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事件能被追溯</a:t>
            </a:r>
            <a:r>
              <a:rPr lang="en-US" altLang="zh-CN" sz="1425" b="0" dirty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, </a:t>
            </a:r>
            <a:r>
              <a:rPr lang="zh-CN" altLang="en-US" sz="1425" b="0" dirty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让意外被时刻留意</a:t>
            </a:r>
            <a:r>
              <a:rPr lang="en-US" altLang="zh-CN" sz="1425" b="0" dirty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 </a:t>
            </a:r>
            <a:endParaRPr sz="1425" b="0" dirty="0">
              <a:solidFill>
                <a:srgbClr val="C5DCEC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E528E01-C7A7-470E-BD68-70D2A9ECF9AE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</a:t>
            </a:r>
            <a:r>
              <a:rPr lang="en-US"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4</a:t>
            </a:r>
            <a:endParaRPr sz="13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DD8430-8786-4186-975A-E7C9C17CE726}"/>
              </a:ext>
            </a:extLst>
          </p:cNvPr>
          <p:cNvSpPr>
            <a:spLocks noGrp="1"/>
          </p:cNvSpPr>
          <p:nvPr/>
        </p:nvSpPr>
        <p:spPr>
          <a:xfrm flipV="1">
            <a:off x="619125" y="2249805"/>
            <a:ext cx="2682875" cy="45719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249548-E30D-42BA-804D-4DCFAFCAC5B9}"/>
              </a:ext>
            </a:extLst>
          </p:cNvPr>
          <p:cNvSpPr>
            <a:spLocks noGrp="1"/>
          </p:cNvSpPr>
          <p:nvPr/>
        </p:nvSpPr>
        <p:spPr>
          <a:xfrm>
            <a:off x="644524" y="2438400"/>
            <a:ext cx="3562351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330" dirty="0"/>
              <a:t>事件列表</a:t>
            </a:r>
            <a:endParaRPr sz="233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A5A25C5-62FB-4A82-9E7D-97146293AD56}"/>
              </a:ext>
            </a:extLst>
          </p:cNvPr>
          <p:cNvSpPr>
            <a:spLocks noGrp="1"/>
          </p:cNvSpPr>
          <p:nvPr/>
        </p:nvSpPr>
        <p:spPr>
          <a:xfrm>
            <a:off x="4206875" y="2257743"/>
            <a:ext cx="2682875" cy="45719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3945E1-4B38-4120-A10A-AF7F76A38C7A}"/>
              </a:ext>
            </a:extLst>
          </p:cNvPr>
          <p:cNvSpPr>
            <a:spLocks noGrp="1"/>
          </p:cNvSpPr>
          <p:nvPr/>
        </p:nvSpPr>
        <p:spPr>
          <a:xfrm>
            <a:off x="4206875" y="243205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330" b="1" dirty="0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数据</a:t>
            </a:r>
            <a:r>
              <a:rPr sz="2330" b="1" dirty="0" err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分布</a:t>
            </a:r>
            <a:r>
              <a:rPr lang="en-US" sz="2330" b="1" dirty="0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 </a:t>
            </a:r>
            <a:endParaRPr sz="2330" b="1" dirty="0">
              <a:solidFill>
                <a:srgbClr val="F5C86B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0A5B3AA-5A14-4525-ABB9-E339100A5363}"/>
              </a:ext>
            </a:extLst>
          </p:cNvPr>
          <p:cNvSpPr>
            <a:spLocks noGrp="1"/>
          </p:cNvSpPr>
          <p:nvPr/>
        </p:nvSpPr>
        <p:spPr>
          <a:xfrm>
            <a:off x="7629525" y="2234883"/>
            <a:ext cx="2682875" cy="45719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031D9D-B537-4669-BFEB-9F4623AAAB17}"/>
              </a:ext>
            </a:extLst>
          </p:cNvPr>
          <p:cNvSpPr>
            <a:spLocks noGrp="1"/>
          </p:cNvSpPr>
          <p:nvPr/>
        </p:nvSpPr>
        <p:spPr>
          <a:xfrm>
            <a:off x="7626351" y="2438400"/>
            <a:ext cx="392112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330" dirty="0"/>
              <a:t>算法配置 </a:t>
            </a:r>
            <a:endParaRPr sz="233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14D6384-2B67-9224-887D-AD233A1B68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875" y="2886074"/>
            <a:ext cx="2682875" cy="366712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2737256-A884-6C2E-0131-EDA4FAFAC5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225" y="2919413"/>
            <a:ext cx="2740025" cy="366712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CD9E770B-FED7-4C4C-E0B5-3E35A86FF3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" y="2881313"/>
            <a:ext cx="2740025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116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>
            <a:extLst>
              <a:ext uri="{FF2B5EF4-FFF2-40B4-BE49-F238E27FC236}">
                <a16:creationId xmlns:a16="http://schemas.microsoft.com/office/drawing/2014/main" id="{52C11D98-A87A-407A-80E6-5AC90E1737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CDD2C81-7186-4905-AE96-2ACC55826D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15B0DB-2E8B-4382-BED3-D12797D5BA6E}"/>
              </a:ext>
            </a:extLst>
          </p:cNvPr>
          <p:cNvSpPr>
            <a:spLocks noGrp="1"/>
          </p:cNvSpPr>
          <p:nvPr/>
        </p:nvSpPr>
        <p:spPr>
          <a:xfrm>
            <a:off x="593725" y="43815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</a:t>
            </a:r>
            <a:r>
              <a:rPr lang="en-US" sz="3600" dirty="0"/>
              <a:t>0</a:t>
            </a:r>
            <a:r>
              <a:rPr sz="36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CODEARTS </a:t>
            </a:r>
            <a:r>
              <a:rPr sz="3600" b="1" dirty="0" err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实践</a:t>
            </a:r>
            <a:r>
              <a:rPr sz="36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2DA162-A7B6-4323-BCF2-0B4F7CBA346B}"/>
              </a:ext>
            </a:extLst>
          </p:cNvPr>
          <p:cNvSpPr>
            <a:spLocks noGrp="1"/>
          </p:cNvSpPr>
          <p:nvPr/>
        </p:nvSpPr>
        <p:spPr>
          <a:xfrm>
            <a:off x="619576" y="126682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CodeArts</a:t>
            </a:r>
            <a:r>
              <a:rPr sz="18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 Agent </a:t>
            </a:r>
            <a:r>
              <a:rPr sz="18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驱动</a:t>
            </a:r>
            <a:r>
              <a:rPr lang="zh-CN" altLang="en-US" sz="18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视觉</a:t>
            </a:r>
            <a:r>
              <a:rPr sz="18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模型训练</a:t>
            </a:r>
            <a:endParaRPr sz="18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DDBCA6-4852-44A8-82C2-0B81AFA028C4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079B94-F552-4026-BBE7-78FA21181EDB}"/>
              </a:ext>
            </a:extLst>
          </p:cNvPr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dirty="0" err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调用项目自定义</a:t>
            </a:r>
            <a:r>
              <a:rPr sz="1425" b="0" dirty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425" b="0" dirty="0" err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Skill，按质量门组织教室行为模型研发</a:t>
            </a:r>
            <a:endParaRPr sz="1425" b="0" dirty="0">
              <a:solidFill>
                <a:srgbClr val="C5DCEC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29DEE2-8D3F-499B-B827-743E73F99D84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</a:t>
            </a:r>
            <a:r>
              <a:rPr lang="en-US"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5</a:t>
            </a:r>
            <a:endParaRPr sz="13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B4EF14A-257D-4011-81E3-5444D38ADC85}"/>
              </a:ext>
            </a:extLst>
          </p:cNvPr>
          <p:cNvSpPr>
            <a:spLocks noGrp="1"/>
          </p:cNvSpPr>
          <p:nvPr/>
        </p:nvSpPr>
        <p:spPr>
          <a:xfrm>
            <a:off x="7686674" y="2266950"/>
            <a:ext cx="38957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dirty="0"/>
              <a:t>目标检测</a:t>
            </a:r>
            <a:r>
              <a:rPr lang="zh-CN" altLang="en-US" sz="2175" b="1" dirty="0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模型研发自动化工作流</a:t>
            </a:r>
            <a:endParaRPr sz="2175" b="1" dirty="0">
              <a:solidFill>
                <a:srgbClr val="F5C86B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16DCCA3-8651-41DA-BD27-2B7BACBBDEDF}"/>
              </a:ext>
            </a:extLst>
          </p:cNvPr>
          <p:cNvSpPr>
            <a:spLocks noGrp="1"/>
          </p:cNvSpPr>
          <p:nvPr/>
        </p:nvSpPr>
        <p:spPr>
          <a:xfrm>
            <a:off x="7686675" y="2733675"/>
            <a:ext cx="370522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lang="en-US" dirty="0"/>
              <a:t>/</a:t>
            </a:r>
            <a:r>
              <a:rPr sz="1650" b="1" dirty="0" err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</a:t>
            </a:r>
            <a:r>
              <a:rPr sz="16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-</a:t>
            </a:r>
            <a:r>
              <a:rPr lang="en-US" altLang="zh-CN" sz="16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vertical</a:t>
            </a:r>
            <a:r>
              <a:rPr sz="16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-model-</a:t>
            </a:r>
            <a:r>
              <a:rPr sz="1650" b="1" dirty="0" err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rnd</a:t>
            </a:r>
            <a:endParaRPr sz="16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D432D74-B57F-4382-B6C9-B57B7694C648}"/>
              </a:ext>
            </a:extLst>
          </p:cNvPr>
          <p:cNvSpPr>
            <a:spLocks noGrp="1"/>
          </p:cNvSpPr>
          <p:nvPr/>
        </p:nvSpPr>
        <p:spPr>
          <a:xfrm>
            <a:off x="7686675" y="3286125"/>
            <a:ext cx="3686175" cy="28575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73ECB81-E757-4437-931C-B720F6C465D5}"/>
              </a:ext>
            </a:extLst>
          </p:cNvPr>
          <p:cNvSpPr>
            <a:spLocks noGrp="1"/>
          </p:cNvSpPr>
          <p:nvPr/>
        </p:nvSpPr>
        <p:spPr>
          <a:xfrm>
            <a:off x="7686675" y="3429000"/>
            <a:ext cx="4667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7FBA6CA-E7D9-45BF-A6CC-CC16BD348B0F}"/>
              </a:ext>
            </a:extLst>
          </p:cNvPr>
          <p:cNvSpPr>
            <a:spLocks noGrp="1"/>
          </p:cNvSpPr>
          <p:nvPr/>
        </p:nvSpPr>
        <p:spPr>
          <a:xfrm>
            <a:off x="8162925" y="3429000"/>
            <a:ext cx="32289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固定数据版本与类别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035A989-A415-4D67-8965-1C9656963A86}"/>
              </a:ext>
            </a:extLst>
          </p:cNvPr>
          <p:cNvSpPr>
            <a:spLocks noGrp="1"/>
          </p:cNvSpPr>
          <p:nvPr/>
        </p:nvSpPr>
        <p:spPr>
          <a:xfrm>
            <a:off x="7686675" y="3762375"/>
            <a:ext cx="4667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C28BBBD-F1C1-451C-8E9C-74FA193B99BD}"/>
              </a:ext>
            </a:extLst>
          </p:cNvPr>
          <p:cNvSpPr>
            <a:spLocks noGrp="1"/>
          </p:cNvSpPr>
          <p:nvPr/>
        </p:nvSpPr>
        <p:spPr>
          <a:xfrm>
            <a:off x="8162925" y="3762375"/>
            <a:ext cx="32289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训练、验证 YOLO 模型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E10A5F2-60DF-440E-A528-5D297255743D}"/>
              </a:ext>
            </a:extLst>
          </p:cNvPr>
          <p:cNvSpPr>
            <a:spLocks noGrp="1"/>
          </p:cNvSpPr>
          <p:nvPr/>
        </p:nvSpPr>
        <p:spPr>
          <a:xfrm>
            <a:off x="7686675" y="4095750"/>
            <a:ext cx="4667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BAD62DF-92AE-4917-92E7-5986FCD8181F}"/>
              </a:ext>
            </a:extLst>
          </p:cNvPr>
          <p:cNvSpPr>
            <a:spLocks noGrp="1"/>
          </p:cNvSpPr>
          <p:nvPr/>
        </p:nvSpPr>
        <p:spPr>
          <a:xfrm>
            <a:off x="8162925" y="4095750"/>
            <a:ext cx="32289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导出并核验 ONNX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7985C16-3E94-4062-88D4-D75CD990190D}"/>
              </a:ext>
            </a:extLst>
          </p:cNvPr>
          <p:cNvSpPr>
            <a:spLocks noGrp="1"/>
          </p:cNvSpPr>
          <p:nvPr/>
        </p:nvSpPr>
        <p:spPr>
          <a:xfrm>
            <a:off x="7686675" y="4429125"/>
            <a:ext cx="4667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DBC490C-9B3C-4E70-88FC-275F707550D0}"/>
              </a:ext>
            </a:extLst>
          </p:cNvPr>
          <p:cNvSpPr>
            <a:spLocks noGrp="1"/>
          </p:cNvSpPr>
          <p:nvPr/>
        </p:nvSpPr>
        <p:spPr>
          <a:xfrm>
            <a:off x="8162925" y="4429125"/>
            <a:ext cx="32289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Atlas ATC 转换 OM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A45E0FC-727F-4F8A-BDB6-F5EB0EE0580B}"/>
              </a:ext>
            </a:extLst>
          </p:cNvPr>
          <p:cNvSpPr>
            <a:spLocks noGrp="1"/>
          </p:cNvSpPr>
          <p:nvPr/>
        </p:nvSpPr>
        <p:spPr>
          <a:xfrm>
            <a:off x="7686675" y="4762500"/>
            <a:ext cx="4667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227C837-8684-41C8-B559-C799D6E99F9C}"/>
              </a:ext>
            </a:extLst>
          </p:cNvPr>
          <p:cNvSpPr>
            <a:spLocks noGrp="1"/>
          </p:cNvSpPr>
          <p:nvPr/>
        </p:nvSpPr>
        <p:spPr>
          <a:xfrm>
            <a:off x="8162925" y="4762500"/>
            <a:ext cx="32289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板端精度 / 性能 / 内存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2B6DE7-03FB-4916-A6B1-4F3634955362}"/>
              </a:ext>
            </a:extLst>
          </p:cNvPr>
          <p:cNvSpPr>
            <a:spLocks noGrp="1"/>
          </p:cNvSpPr>
          <p:nvPr/>
        </p:nvSpPr>
        <p:spPr>
          <a:xfrm>
            <a:off x="7686675" y="5095875"/>
            <a:ext cx="4667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0E4613-5A0C-48A7-9256-9D7B3FC37436}"/>
              </a:ext>
            </a:extLst>
          </p:cNvPr>
          <p:cNvSpPr>
            <a:spLocks noGrp="1"/>
          </p:cNvSpPr>
          <p:nvPr/>
        </p:nvSpPr>
        <p:spPr>
          <a:xfrm>
            <a:off x="8162925" y="5095875"/>
            <a:ext cx="32289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H.264 演示与证据归档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DB6A435-71AC-47D3-BA11-E274C4A49947}"/>
              </a:ext>
            </a:extLst>
          </p:cNvPr>
          <p:cNvSpPr>
            <a:spLocks noGrp="1"/>
          </p:cNvSpPr>
          <p:nvPr/>
        </p:nvSpPr>
        <p:spPr>
          <a:xfrm>
            <a:off x="619125" y="5800725"/>
            <a:ext cx="1080135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330D2E2-CF63-ED4C-0B21-58BBFC2367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" y="2233084"/>
            <a:ext cx="3375025" cy="3365501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EE469051-3ADC-023C-47F7-D3888E6B24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823" y="2233084"/>
            <a:ext cx="3193002" cy="336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228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5411579A-0473-49CA-83AD-6B142D54A0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13CC4E9-DF8C-4C36-8868-44AF3BF0E1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09ACFF-3A1C-41E2-9447-3775EECD1C03}"/>
              </a:ext>
            </a:extLst>
          </p:cNvPr>
          <p:cNvSpPr>
            <a:spLocks noGrp="1"/>
          </p:cNvSpPr>
          <p:nvPr/>
        </p:nvSpPr>
        <p:spPr>
          <a:xfrm>
            <a:off x="574121" y="428625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</a:t>
            </a:r>
            <a:r>
              <a:rPr lang="en-US" sz="3600" dirty="0"/>
              <a:t>1</a:t>
            </a:r>
            <a:r>
              <a:rPr sz="36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CODEARTS </a:t>
            </a:r>
            <a:r>
              <a:rPr sz="3600" b="1" dirty="0" err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实践</a:t>
            </a:r>
            <a:r>
              <a:rPr sz="36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4E145F4-3D63-42EF-B6AB-4DFC30BF3B32}"/>
              </a:ext>
            </a:extLst>
          </p:cNvPr>
          <p:cNvSpPr>
            <a:spLocks noGrp="1"/>
          </p:cNvSpPr>
          <p:nvPr/>
        </p:nvSpPr>
        <p:spPr>
          <a:xfrm>
            <a:off x="619125" y="1200150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CodeArts</a:t>
            </a:r>
            <a:r>
              <a:rPr sz="18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 Agent </a:t>
            </a:r>
            <a:r>
              <a:rPr lang="zh-CN" altLang="en-US" sz="1800" dirty="0"/>
              <a:t>应用规格驱动开发</a:t>
            </a:r>
            <a:r>
              <a:rPr sz="18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工作流</a:t>
            </a:r>
            <a:endParaRPr sz="18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D36F6E-4969-4155-A379-E1952165EEA5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EBA69E-C59E-4949-9B75-2710FF079A73}"/>
              </a:ext>
            </a:extLst>
          </p:cNvPr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用自定义 Skill 将任务输入转成可追踪的规格与验收记录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DC2D408-BFF2-4A90-9D5F-38C6AA107E92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</a:t>
            </a:r>
            <a:r>
              <a:rPr lang="en-US"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6</a:t>
            </a:r>
            <a:endParaRPr sz="13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41B92A9-C5F4-4C3F-AB5E-027C362E4362}"/>
              </a:ext>
            </a:extLst>
          </p:cNvPr>
          <p:cNvSpPr>
            <a:spLocks noGrp="1"/>
          </p:cNvSpPr>
          <p:nvPr/>
        </p:nvSpPr>
        <p:spPr>
          <a:xfrm>
            <a:off x="619125" y="2181225"/>
            <a:ext cx="4134181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180" dirty="0"/>
              <a:t>规格驱动开发工作流</a:t>
            </a:r>
            <a:endParaRPr sz="218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C9E782-1007-4D5B-A7AA-A268EC443006}"/>
              </a:ext>
            </a:extLst>
          </p:cNvPr>
          <p:cNvSpPr>
            <a:spLocks noGrp="1"/>
          </p:cNvSpPr>
          <p:nvPr/>
        </p:nvSpPr>
        <p:spPr>
          <a:xfrm>
            <a:off x="619125" y="2686050"/>
            <a:ext cx="4676775" cy="44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lang="en-US" dirty="0"/>
              <a:t>/</a:t>
            </a:r>
            <a:r>
              <a:rPr sz="1950" b="1" dirty="0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project-spec-workflow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C3B9390-2E5E-4D3E-88A0-EBE7437C7C86}"/>
              </a:ext>
            </a:extLst>
          </p:cNvPr>
          <p:cNvSpPr>
            <a:spLocks noGrp="1"/>
          </p:cNvSpPr>
          <p:nvPr/>
        </p:nvSpPr>
        <p:spPr>
          <a:xfrm>
            <a:off x="619125" y="3267075"/>
            <a:ext cx="4000500" cy="28575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DF6663-B39B-459B-82CB-0D014246B6C5}"/>
              </a:ext>
            </a:extLst>
          </p:cNvPr>
          <p:cNvSpPr>
            <a:spLocks noGrp="1"/>
          </p:cNvSpPr>
          <p:nvPr/>
        </p:nvSpPr>
        <p:spPr>
          <a:xfrm>
            <a:off x="619125" y="3457575"/>
            <a:ext cx="4667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EE6EB5-0A2A-463C-A4C7-9DAF95EAB8DE}"/>
              </a:ext>
            </a:extLst>
          </p:cNvPr>
          <p:cNvSpPr>
            <a:spLocks noGrp="1"/>
          </p:cNvSpPr>
          <p:nvPr/>
        </p:nvSpPr>
        <p:spPr>
          <a:xfrm>
            <a:off x="1095375" y="3457575"/>
            <a:ext cx="39147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读取</a:t>
            </a:r>
            <a:r>
              <a:rPr sz="1500" b="0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 PRD / SPEC / </a:t>
            </a:r>
            <a:r>
              <a:rPr sz="1500" b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代码</a:t>
            </a:r>
            <a:endParaRPr sz="1500" b="0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18EBA10-CCCA-41B7-B668-4D73A9A11B43}"/>
              </a:ext>
            </a:extLst>
          </p:cNvPr>
          <p:cNvSpPr>
            <a:spLocks noGrp="1"/>
          </p:cNvSpPr>
          <p:nvPr/>
        </p:nvSpPr>
        <p:spPr>
          <a:xfrm>
            <a:off x="619125" y="3848100"/>
            <a:ext cx="4667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D239771-1B24-402C-91A7-0AE855DDBFF4}"/>
              </a:ext>
            </a:extLst>
          </p:cNvPr>
          <p:cNvSpPr>
            <a:spLocks noGrp="1"/>
          </p:cNvSpPr>
          <p:nvPr/>
        </p:nvSpPr>
        <p:spPr>
          <a:xfrm>
            <a:off x="1095375" y="3848100"/>
            <a:ext cx="39147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按风险选择工作路径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8A35E4-C05E-41C5-9B9A-CE1335A82B94}"/>
              </a:ext>
            </a:extLst>
          </p:cNvPr>
          <p:cNvSpPr>
            <a:spLocks noGrp="1"/>
          </p:cNvSpPr>
          <p:nvPr/>
        </p:nvSpPr>
        <p:spPr>
          <a:xfrm>
            <a:off x="619125" y="4238625"/>
            <a:ext cx="4667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A0DF6CA-E63F-4C9E-A323-0018F26CB43A}"/>
              </a:ext>
            </a:extLst>
          </p:cNvPr>
          <p:cNvSpPr>
            <a:spLocks noGrp="1"/>
          </p:cNvSpPr>
          <p:nvPr/>
        </p:nvSpPr>
        <p:spPr>
          <a:xfrm>
            <a:off x="1095375" y="4238625"/>
            <a:ext cx="39147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维护四份规格文档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C34E279-DDCD-4FF6-B2A1-7315D061B77A}"/>
              </a:ext>
            </a:extLst>
          </p:cNvPr>
          <p:cNvSpPr>
            <a:spLocks noGrp="1"/>
          </p:cNvSpPr>
          <p:nvPr/>
        </p:nvSpPr>
        <p:spPr>
          <a:xfrm>
            <a:off x="619125" y="4629150"/>
            <a:ext cx="4667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FCB410F-8E87-4104-B209-4350725169C9}"/>
              </a:ext>
            </a:extLst>
          </p:cNvPr>
          <p:cNvSpPr>
            <a:spLocks noGrp="1"/>
          </p:cNvSpPr>
          <p:nvPr/>
        </p:nvSpPr>
        <p:spPr>
          <a:xfrm>
            <a:off x="1095375" y="4629150"/>
            <a:ext cx="39147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链接 REQ → AC → 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FED8128-48F7-46D4-9D93-F9E3F1214EF5}"/>
              </a:ext>
            </a:extLst>
          </p:cNvPr>
          <p:cNvSpPr>
            <a:spLocks noGrp="1"/>
          </p:cNvSpPr>
          <p:nvPr/>
        </p:nvSpPr>
        <p:spPr>
          <a:xfrm>
            <a:off x="619125" y="5019675"/>
            <a:ext cx="4667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1DC82A8-4F38-4A1D-94EC-41B2CE9461FF}"/>
              </a:ext>
            </a:extLst>
          </p:cNvPr>
          <p:cNvSpPr>
            <a:spLocks noGrp="1"/>
          </p:cNvSpPr>
          <p:nvPr/>
        </p:nvSpPr>
        <p:spPr>
          <a:xfrm>
            <a:off x="1095375" y="5019675"/>
            <a:ext cx="39147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运行结构校验并记录证据</a:t>
            </a:r>
            <a:endParaRPr sz="1500" b="0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B7DE148-A373-4AE3-B3FD-EB487F85D71D}"/>
              </a:ext>
            </a:extLst>
          </p:cNvPr>
          <p:cNvSpPr>
            <a:spLocks noGrp="1"/>
          </p:cNvSpPr>
          <p:nvPr/>
        </p:nvSpPr>
        <p:spPr>
          <a:xfrm>
            <a:off x="619125" y="5800725"/>
            <a:ext cx="1080135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0BA3FF21-3406-59CC-29A5-2B1B804428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053" y="1962150"/>
            <a:ext cx="3550177" cy="3552825"/>
          </a:xfrm>
          <a:prstGeom prst="rect">
            <a:avLst/>
          </a:prstGeom>
        </p:spPr>
      </p:pic>
      <p:pic>
        <p:nvPicPr>
          <p:cNvPr id="26" name="图形 25">
            <a:extLst>
              <a:ext uri="{FF2B5EF4-FFF2-40B4-BE49-F238E27FC236}">
                <a16:creationId xmlns:a16="http://schemas.microsoft.com/office/drawing/2014/main" id="{5AB69C56-619D-1B70-A5DD-251605E9EA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39200" y="1963208"/>
            <a:ext cx="2948053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795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CDC6E778-8EDE-456C-AC1D-F8AB56B8E4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B5AA651-6DCD-420B-A550-3EFB6E9E30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06BA6F-5DD8-48A0-841F-BD40AD800ADA}"/>
              </a:ext>
            </a:extLst>
          </p:cNvPr>
          <p:cNvSpPr>
            <a:spLocks noGrp="1"/>
          </p:cNvSpPr>
          <p:nvPr/>
        </p:nvSpPr>
        <p:spPr>
          <a:xfrm>
            <a:off x="600075" y="43981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</a:t>
            </a:r>
            <a:r>
              <a:rPr lang="en-US" sz="3600" dirty="0"/>
              <a:t>2</a:t>
            </a:r>
            <a:r>
              <a:rPr sz="360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3600" b="1" dirty="0" err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阶段判断</a:t>
            </a:r>
            <a:endParaRPr sz="360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4EC359-DAE9-4C34-AAC5-109359067CED}"/>
              </a:ext>
            </a:extLst>
          </p:cNvPr>
          <p:cNvSpPr>
            <a:spLocks noGrp="1"/>
          </p:cNvSpPr>
          <p:nvPr/>
        </p:nvSpPr>
        <p:spPr>
          <a:xfrm>
            <a:off x="600075" y="124943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800" dirty="0"/>
              <a:t>放眼当下，展望</a:t>
            </a:r>
            <a:r>
              <a:rPr lang="zh-CN" altLang="en-US" sz="18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未来</a:t>
            </a:r>
            <a:endParaRPr sz="18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3656AD-11BD-4F3E-B7D5-33A7CA79EE07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ACBD79-0142-4D97-AA86-EC2DE23A1637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</a:t>
            </a:r>
            <a:r>
              <a:rPr lang="en-US"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7</a:t>
            </a:r>
            <a:endParaRPr sz="13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35D26A7-7317-45E0-8E96-AB219F050E93}"/>
              </a:ext>
            </a:extLst>
          </p:cNvPr>
          <p:cNvSpPr>
            <a:spLocks noGrp="1"/>
          </p:cNvSpPr>
          <p:nvPr/>
        </p:nvSpPr>
        <p:spPr>
          <a:xfrm>
            <a:off x="600075" y="1947862"/>
            <a:ext cx="447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dirty="0"/>
              <a:t>当前进展</a:t>
            </a:r>
            <a:endParaRPr sz="31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3234D2-52C1-4ED8-B4D2-0E71E00718E8}"/>
              </a:ext>
            </a:extLst>
          </p:cNvPr>
          <p:cNvSpPr>
            <a:spLocks noGrp="1"/>
          </p:cNvSpPr>
          <p:nvPr/>
        </p:nvSpPr>
        <p:spPr>
          <a:xfrm>
            <a:off x="638175" y="3022745"/>
            <a:ext cx="443865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Web / PWA </a:t>
            </a:r>
            <a:r>
              <a:rPr sz="1725" b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页面与</a:t>
            </a:r>
            <a:r>
              <a:rPr lang="en-US" altLang="zh-CN" sz="1725" b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mock</a:t>
            </a:r>
            <a:r>
              <a:rPr sz="1725" b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数据联调</a:t>
            </a:r>
            <a:endParaRPr lang="en-US" sz="1725" b="0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  <a:p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endParaRPr sz="1725" b="0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  <a:p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账号、事件、统计等服务流程</a:t>
            </a:r>
            <a:endParaRPr lang="en-US" sz="1725" b="0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  <a:p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endParaRPr sz="1725" b="0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  <a:p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Atlas </a:t>
            </a:r>
            <a:r>
              <a:rPr sz="1725" b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模型加载与视频</a:t>
            </a:r>
            <a:r>
              <a:rPr lang="zh-CN" altLang="en-US" dirty="0"/>
              <a:t>流</a:t>
            </a:r>
            <a:r>
              <a:rPr sz="1725" b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处理</a:t>
            </a:r>
            <a:endParaRPr sz="1725" b="0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A91A50E-5451-4A44-AF3E-87DF74150F57}"/>
              </a:ext>
            </a:extLst>
          </p:cNvPr>
          <p:cNvSpPr>
            <a:spLocks noGrp="1"/>
          </p:cNvSpPr>
          <p:nvPr/>
        </p:nvSpPr>
        <p:spPr>
          <a:xfrm>
            <a:off x="6705600" y="1924050"/>
            <a:ext cx="447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dirty="0"/>
              <a:t>未来发展</a:t>
            </a:r>
            <a:endParaRPr sz="3150" b="1" dirty="0">
              <a:solidFill>
                <a:srgbClr val="F5C86B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DF5CCB2-902C-48D6-9E0B-A6C5FD179D02}"/>
              </a:ext>
            </a:extLst>
          </p:cNvPr>
          <p:cNvSpPr>
            <a:spLocks noGrp="1"/>
          </p:cNvSpPr>
          <p:nvPr/>
        </p:nvSpPr>
        <p:spPr>
          <a:xfrm>
            <a:off x="6655266" y="3028950"/>
            <a:ext cx="4429125" cy="917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真实相机至浏览器播放</a:t>
            </a:r>
            <a:endParaRPr sz="1725" b="0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  <a:p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endParaRPr lang="en-US" sz="1725" b="0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  <a:p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规则事件至系统通知</a:t>
            </a:r>
            <a:endParaRPr lang="en-US" sz="1725" b="0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  <a:p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endParaRPr sz="1725" b="0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  <a:p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持续稳定性与容量压测</a:t>
            </a:r>
            <a:endParaRPr sz="1725" b="0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47223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9A0DA34D-FB9C-4027-B64A-87BA439D6E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EB96D8-3223-4856-B784-AB27B4F088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C95923-C12B-4F6A-995E-C0FA8D9BF526}"/>
              </a:ext>
            </a:extLst>
          </p:cNvPr>
          <p:cNvSpPr>
            <a:spLocks noGrp="1"/>
          </p:cNvSpPr>
          <p:nvPr/>
        </p:nvSpPr>
        <p:spPr>
          <a:xfrm>
            <a:off x="752475" y="857250"/>
            <a:ext cx="76200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NEXT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A8B792B-8CC7-44CD-878F-FFEAAAB76C00}"/>
              </a:ext>
            </a:extLst>
          </p:cNvPr>
          <p:cNvSpPr>
            <a:spLocks noGrp="1"/>
          </p:cNvSpPr>
          <p:nvPr/>
        </p:nvSpPr>
        <p:spPr>
          <a:xfrm>
            <a:off x="752475" y="1428750"/>
            <a:ext cx="1647825" cy="3810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B7C747-5753-4AB6-BD68-2532C583B6DA}"/>
              </a:ext>
            </a:extLst>
          </p:cNvPr>
          <p:cNvSpPr>
            <a:spLocks noGrp="1"/>
          </p:cNvSpPr>
          <p:nvPr/>
        </p:nvSpPr>
        <p:spPr>
          <a:xfrm>
            <a:off x="752475" y="1881187"/>
            <a:ext cx="10782300" cy="847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4725" b="1" dirty="0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边缘实时感知</a:t>
            </a:r>
            <a:endParaRPr lang="en-US" altLang="zh-CN" sz="4725" b="1" dirty="0">
              <a:solidFill>
                <a:srgbClr val="F5C86B"/>
              </a:solidFill>
              <a:latin typeface="PingFang SC"/>
              <a:ea typeface="PingFang SC"/>
              <a:cs typeface="PingFang SC"/>
            </a:endParaRPr>
          </a:p>
          <a:p>
            <a: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endParaRPr lang="en-US" altLang="zh-CN" sz="4725" b="1" dirty="0">
              <a:solidFill>
                <a:srgbClr val="F5C86B"/>
              </a:solidFill>
              <a:latin typeface="PingFang SC"/>
              <a:ea typeface="PingFang SC"/>
              <a:cs typeface="PingFang SC"/>
            </a:endParaRPr>
          </a:p>
          <a:p>
            <a: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endParaRPr sz="4725" b="1" dirty="0">
              <a:solidFill>
                <a:srgbClr val="F5C86B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3EBD7E-948A-4ADB-A2DD-8A7C2D100AFC}"/>
              </a:ext>
            </a:extLst>
          </p:cNvPr>
          <p:cNvSpPr>
            <a:spLocks noGrp="1"/>
          </p:cNvSpPr>
          <p:nvPr/>
        </p:nvSpPr>
        <p:spPr>
          <a:xfrm>
            <a:off x="762000" y="2759868"/>
            <a:ext cx="10782300" cy="847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47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云</a:t>
            </a:r>
            <a:r>
              <a:rPr lang="zh-CN" altLang="en-US" dirty="0"/>
              <a:t>上</a:t>
            </a:r>
            <a:r>
              <a:rPr lang="zh-CN" altLang="en-US" sz="47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协调统一</a:t>
            </a:r>
            <a:endParaRPr sz="4725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8413B0-3C5B-CBB2-BBCE-2DAFCCDD540B}"/>
              </a:ext>
            </a:extLst>
          </p:cNvPr>
          <p:cNvSpPr>
            <a:spLocks noGrp="1"/>
          </p:cNvSpPr>
          <p:nvPr/>
        </p:nvSpPr>
        <p:spPr>
          <a:xfrm>
            <a:off x="762000" y="3623071"/>
            <a:ext cx="10782300" cy="847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dirty="0">
                <a:solidFill>
                  <a:srgbClr val="F5C86B"/>
                </a:solidFill>
              </a:rPr>
              <a:t>终端推动进化</a:t>
            </a:r>
            <a:endParaRPr dirty="0">
              <a:solidFill>
                <a:srgbClr val="F5C8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2507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</TotalTime>
  <Words>1057</Words>
  <Application>Microsoft Office PowerPoint</Application>
  <DocSecurity>0</DocSecurity>
  <PresentationFormat>宽屏</PresentationFormat>
  <Paragraphs>239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PingFang SC</vt:lpstr>
      <vt:lpstr>黑体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EEE901</cp:lastModifiedBy>
  <cp:revision>100</cp:revision>
  <dcterms:created xsi:type="dcterms:W3CDTF">2026-10-22T17:51:53Z</dcterms:created>
  <dcterms:modified xsi:type="dcterms:W3CDTF">2026-10-23T13:07:05Z</dcterms:modified>
</cp:coreProperties>
</file>