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73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</a:t>
            </a:r>
          </a:p>
          <a:p>
            <a:r>
              <a:t>/Users/jiangdongting/Yunshao-project/Yunshao/project/docs/Analysis/PRD.md</a:t>
            </a:r>
          </a:p>
          <a:p>
            <a:r>
              <a:t>/Users/jiangdongting/Yunshao-project/Yunshao/project/src/clients/web/src/pages/AnalyticsPage.vue</a:t>
            </a:r>
          </a:p>
          <a:p>
            <a:r>
              <a:t>/Users/jiangdongting/Yunshao-project/Yunshao/project/docs/Specification/platform_deployment/evidence/local_pc_20261020.json</a:t>
            </a:r>
          </a:p>
          <a:p>
            <a:r>
              <a:t>说明：不使用虚构数据。</a:t>
            </a:r>
          </a:p>
          <a:p>
            <a:r>
              <a:t>视觉参考：用户提供的《2_最终修改版(1)(1).pptx》通用蓝色科技背景。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来源：AtomGit milo-ally-stu/Yunshao 的 model_codex_single-classroom-cycle 分支，提交 844135f，codearts_proof/skills/yunshao-classroom-model-rnd/SKILL.md；AtomGit jdt_123/Yunshao main 分支的 classroom_behavior_training.json 与 model_val/reports；华为云 CodeArts Agent Skills 官方文档 https://support.huaweicloud.com/intl/en-us/usermanual-codeartsagent/codeartsagent_ug_0024.html。图片由 OpenAI image_gen 生成，说明 CodeArts Agent 按 Skill 组织研发的工作方式，不是实际操作截图。仓库训练记录与 Skill 标准配置不同，不据此声称 Skill 全流程已验收。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来源：AtomGit</a:t>
            </a:r>
            <a:r>
              <a:rPr dirty="0"/>
              <a:t> jdt_123/</a:t>
            </a:r>
            <a:r>
              <a:rPr dirty="0" err="1"/>
              <a:t>Yunshao</a:t>
            </a:r>
            <a:r>
              <a:rPr dirty="0"/>
              <a:t> main </a:t>
            </a:r>
            <a:r>
              <a:rPr dirty="0" err="1"/>
              <a:t>分支：codearts_proof</a:t>
            </a:r>
            <a:r>
              <a:rPr dirty="0"/>
              <a:t>/prompts/prompt.txt 的提示词3；codearts_proof/skills/project-spec-workflow/</a:t>
            </a:r>
            <a:r>
              <a:rPr dirty="0" err="1"/>
              <a:t>SKILL.md；project</a:t>
            </a:r>
            <a:r>
              <a:rPr dirty="0"/>
              <a:t>/docs/Specification/</a:t>
            </a:r>
            <a:r>
              <a:rPr dirty="0" err="1"/>
              <a:t>project_spec_workflow</a:t>
            </a:r>
            <a:r>
              <a:rPr dirty="0"/>
              <a:t>/{</a:t>
            </a:r>
            <a:r>
              <a:rPr dirty="0" err="1"/>
              <a:t>proposal,spec,design,tasks</a:t>
            </a:r>
            <a:r>
              <a:rPr dirty="0"/>
              <a:t>}.</a:t>
            </a:r>
            <a:r>
              <a:rPr dirty="0" err="1"/>
              <a:t>md；华为云</a:t>
            </a:r>
            <a:r>
              <a:rPr dirty="0"/>
              <a:t> </a:t>
            </a:r>
            <a:r>
              <a:rPr dirty="0" err="1"/>
              <a:t>CodeArts</a:t>
            </a:r>
            <a:r>
              <a:rPr dirty="0"/>
              <a:t> Agent Skills </a:t>
            </a:r>
            <a:r>
              <a:rPr dirty="0" err="1"/>
              <a:t>官方文档</a:t>
            </a:r>
            <a:r>
              <a:rPr dirty="0"/>
              <a:t> https://support.huaweicloud.com/intl/en-us/usermanual-codeartsagent/codeartsagent_ug_0024.html。tasks.md 中 T-01、T-02、T-03 </a:t>
            </a:r>
            <a:r>
              <a:rPr dirty="0" err="1"/>
              <a:t>标为完成，包含</a:t>
            </a:r>
            <a:r>
              <a:rPr dirty="0"/>
              <a:t> AC-01.1 至 AC-04.2 </a:t>
            </a:r>
            <a:r>
              <a:rPr dirty="0" err="1"/>
              <a:t>验收记录。图片由</a:t>
            </a:r>
            <a:r>
              <a:rPr dirty="0"/>
              <a:t> OpenAI </a:t>
            </a:r>
            <a:r>
              <a:rPr dirty="0" err="1"/>
              <a:t>image_gen</a:t>
            </a:r>
            <a:r>
              <a:rPr dirty="0"/>
              <a:t> </a:t>
            </a:r>
            <a:r>
              <a:rPr dirty="0" err="1"/>
              <a:t>生成，仅说明</a:t>
            </a:r>
            <a:r>
              <a:rPr dirty="0"/>
              <a:t> </a:t>
            </a:r>
            <a:r>
              <a:rPr dirty="0" err="1"/>
              <a:t>CodeArts</a:t>
            </a:r>
            <a:r>
              <a:rPr dirty="0"/>
              <a:t> Agent + Skill </a:t>
            </a:r>
            <a:r>
              <a:rPr dirty="0" err="1"/>
              <a:t>的工作方式，不是</a:t>
            </a:r>
            <a:r>
              <a:rPr dirty="0"/>
              <a:t> </a:t>
            </a:r>
            <a:r>
              <a:rPr dirty="0" err="1"/>
              <a:t>CodeArts</a:t>
            </a:r>
            <a:r>
              <a:rPr dirty="0"/>
              <a:t> </a:t>
            </a:r>
            <a:r>
              <a:rPr dirty="0" err="1"/>
              <a:t>操作界面截图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</a:t>
            </a:r>
          </a:p>
          <a:p>
            <a:r>
              <a:t>/Users/jiangdongting/Yunshao-project/Yunshao/project/docs/Specification/platform_deployment/evidence/local_pc_20261020.json</a:t>
            </a:r>
          </a:p>
          <a:p>
            <a:r>
              <a:t>/Users/jiangdongting/Yunshao-project/Yunshao/project/docs/Specification/atlas_edge_runtime/tasks.md</a:t>
            </a:r>
          </a:p>
          <a:p>
            <a:r>
              <a:t>/Users/jiangdongting/Yunshao-project/Yunshao/project/docs/Specification/web_pwa_client/tasks.md</a:t>
            </a:r>
          </a:p>
          <a:p>
            <a:r>
              <a:t>视觉参考：用户提供的《2_最终修改版(1)(1).pptx》通用蓝色科技背景。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</a:t>
            </a:r>
          </a:p>
          <a:p>
            <a:r>
              <a:t>/Users/jiangdongting/Yunshao-project/Yunshao/project/docs/Analysis/PRD.md</a:t>
            </a:r>
          </a:p>
          <a:p>
            <a:r>
              <a:t>/Users/jiangdongting/Yunshao-project/Yunshao/project/docs/Design/STRUCTURE.md</a:t>
            </a:r>
          </a:p>
          <a:p>
            <a:r>
              <a:t>说明：后续规划不代表已经交付。</a:t>
            </a:r>
          </a:p>
          <a:p>
            <a:r>
              <a:t>视觉参考：用户提供的《2_最终修改版(1)(1).pptx》通用蓝色科技背景。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40431B9-654A-43E0-A060-42F7A6A5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E07297B-CEA1-4798-B8F7-3C84B7576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B82AD7D7-0216-44BB-A6C6-1E5F863B4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9574F8E-E1E7-40F1-B20D-9758A566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753AA8EE-65C6-49F4-ACE6-9BC1DA6F6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864935E-05BF-4483-B2D0-F61BA5B39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140D614-C560-44DF-825B-AAE2BD9F5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8B72E98-C487-4456-80BC-C79060CBC38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B51E5F-3881-4B6F-88EE-F59AFA81D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80A99DC-A79A-4F8E-AA91-7DD33B433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7.jp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84E4D10-EF80-4168-8F5A-9C8FE4280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AC70F85F-AC2D-4D2C-BD38-FB665F6F81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FAE64B-E7A4-4CFE-9357-8E4B5EFF3DE2}"/>
              </a:ext>
            </a:extLst>
          </p:cNvPr>
          <p:cNvSpPr>
            <a:spLocks noGrp="1"/>
          </p:cNvSpPr>
          <p:nvPr/>
        </p:nvSpPr>
        <p:spPr>
          <a:xfrm>
            <a:off x="742950" y="895350"/>
            <a:ext cx="7048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AIoT EDGE VISION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B5390C-4DC7-4477-AE76-AB6C1121F4A5}"/>
              </a:ext>
            </a:extLst>
          </p:cNvPr>
          <p:cNvSpPr>
            <a:spLocks noGrp="1"/>
          </p:cNvSpPr>
          <p:nvPr/>
        </p:nvSpPr>
        <p:spPr>
          <a:xfrm>
            <a:off x="742950" y="1409700"/>
            <a:ext cx="1666875" cy="3810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94B1B22-5D3B-4C13-B179-6E992D9A15A6}"/>
              </a:ext>
            </a:extLst>
          </p:cNvPr>
          <p:cNvSpPr>
            <a:spLocks noGrp="1"/>
          </p:cNvSpPr>
          <p:nvPr/>
        </p:nvSpPr>
        <p:spPr>
          <a:xfrm>
            <a:off x="723900" y="1952625"/>
            <a:ext cx="74295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云  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23C8CA-9E8E-4D2E-AC10-E69AB8AB5F1D}"/>
              </a:ext>
            </a:extLst>
          </p:cNvPr>
          <p:cNvSpPr>
            <a:spLocks noGrp="1"/>
          </p:cNvSpPr>
          <p:nvPr/>
        </p:nvSpPr>
        <p:spPr>
          <a:xfrm>
            <a:off x="762000" y="3219450"/>
            <a:ext cx="10001250" cy="13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面向多行业的 AIoT</a:t>
            </a:r>
          </a:p>
          <a:p>
            <a:pPr>
              <a:def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边缘视频智能平台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2EA9E44-0EB6-43D1-A275-027D6DE13734}"/>
              </a:ext>
            </a:extLst>
          </p:cNvPr>
          <p:cNvSpPr>
            <a:spLocks noGrp="1"/>
          </p:cNvSpPr>
          <p:nvPr/>
        </p:nvSpPr>
        <p:spPr>
          <a:xfrm>
            <a:off x="781050" y="5314950"/>
            <a:ext cx="10191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产品定位</a:t>
            </a:r>
            <a:r>
              <a:rPr sz="18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平台能力</a:t>
            </a:r>
            <a:r>
              <a:rPr sz="18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试点验证</a:t>
            </a:r>
            <a:r>
              <a:rPr sz="18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CodeArts</a:t>
            </a:r>
            <a:r>
              <a:rPr sz="18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开发过程</a:t>
            </a:r>
            <a:endParaRPr sz="1800" b="0" dirty="0">
              <a:solidFill>
                <a:srgbClr val="C5DCEC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B3A525-D330-4B78-9E54-59469E1135FB}"/>
              </a:ext>
            </a:extLst>
          </p:cNvPr>
          <p:cNvSpPr>
            <a:spLocks noGrp="1"/>
          </p:cNvSpPr>
          <p:nvPr/>
        </p:nvSpPr>
        <p:spPr>
          <a:xfrm>
            <a:off x="10287000" y="62484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2026.10</a:t>
            </a:r>
          </a:p>
        </p:txBody>
      </p:sp>
    </p:spTree>
    <p:extLst>
      <p:ext uri="{BB962C8B-B14F-4D97-AF65-F5344CB8AC3E}">
        <p14:creationId xmlns:p14="http://schemas.microsoft.com/office/powerpoint/2010/main" val="1669856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>
            <a:extLst>
              <a:ext uri="{FF2B5EF4-FFF2-40B4-BE49-F238E27FC236}">
                <a16:creationId xmlns:a16="http://schemas.microsoft.com/office/drawing/2014/main" id="{E6AD3932-13E7-42C6-99DC-4C7BE6F07D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F1C29C0-D9CD-4D2E-8CC7-F9F0300D36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15C78B2-EEA3-4FE1-9970-9B298D242EFF}"/>
              </a:ext>
            </a:extLst>
          </p:cNvPr>
          <p:cNvSpPr>
            <a:spLocks noGrp="1"/>
          </p:cNvSpPr>
          <p:nvPr/>
        </p:nvSpPr>
        <p:spPr>
          <a:xfrm>
            <a:off x="628650" y="609600"/>
            <a:ext cx="38100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CONTENTS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3F8C6F-25F5-43E9-A043-CABCC7E86FC5}"/>
              </a:ext>
            </a:extLst>
          </p:cNvPr>
          <p:cNvSpPr>
            <a:spLocks noGrp="1"/>
          </p:cNvSpPr>
          <p:nvPr/>
        </p:nvSpPr>
        <p:spPr>
          <a:xfrm>
            <a:off x="628650" y="1123950"/>
            <a:ext cx="2895600" cy="923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54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002348-1A09-4098-9AB9-6E195ED8D05C}"/>
              </a:ext>
            </a:extLst>
          </p:cNvPr>
          <p:cNvSpPr>
            <a:spLocks noGrp="1"/>
          </p:cNvSpPr>
          <p:nvPr/>
        </p:nvSpPr>
        <p:spPr>
          <a:xfrm>
            <a:off x="638175" y="2333625"/>
            <a:ext cx="1600200" cy="4762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D8DDC3F-4551-4247-B4A8-AF929BCD03E8}"/>
              </a:ext>
            </a:extLst>
          </p:cNvPr>
          <p:cNvSpPr>
            <a:spLocks noGrp="1"/>
          </p:cNvSpPr>
          <p:nvPr/>
        </p:nvSpPr>
        <p:spPr>
          <a:xfrm>
            <a:off x="4400550" y="11620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B6630BA-099A-4FF6-B25B-D4E3D5B7D718}"/>
              </a:ext>
            </a:extLst>
          </p:cNvPr>
          <p:cNvSpPr>
            <a:spLocks noGrp="1"/>
          </p:cNvSpPr>
          <p:nvPr/>
        </p:nvSpPr>
        <p:spPr>
          <a:xfrm>
            <a:off x="5210175" y="1266825"/>
            <a:ext cx="26955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BB20C7-D264-4692-B681-40395EE76AC5}"/>
              </a:ext>
            </a:extLst>
          </p:cNvPr>
          <p:cNvSpPr>
            <a:spLocks noGrp="1"/>
          </p:cNvSpPr>
          <p:nvPr/>
        </p:nvSpPr>
        <p:spPr>
          <a:xfrm>
            <a:off x="4400550" y="20002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CC5ADCE-541A-4827-A61E-3C6482AD55A5}"/>
              </a:ext>
            </a:extLst>
          </p:cNvPr>
          <p:cNvSpPr>
            <a:spLocks noGrp="1"/>
          </p:cNvSpPr>
          <p:nvPr/>
        </p:nvSpPr>
        <p:spPr>
          <a:xfrm>
            <a:off x="7962900" y="11620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B882A3-7960-4DD6-8049-E2B383261BB4}"/>
              </a:ext>
            </a:extLst>
          </p:cNvPr>
          <p:cNvSpPr>
            <a:spLocks noGrp="1"/>
          </p:cNvSpPr>
          <p:nvPr/>
        </p:nvSpPr>
        <p:spPr>
          <a:xfrm>
            <a:off x="8772526" y="1266825"/>
            <a:ext cx="2040884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 dirty="0" err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核心架构</a:t>
            </a:r>
            <a:endParaRPr sz="2400" b="1" dirty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0E0512-57F0-4507-99FC-F3BF96D743A8}"/>
              </a:ext>
            </a:extLst>
          </p:cNvPr>
          <p:cNvSpPr>
            <a:spLocks noGrp="1"/>
          </p:cNvSpPr>
          <p:nvPr/>
        </p:nvSpPr>
        <p:spPr>
          <a:xfrm>
            <a:off x="7962900" y="20002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2FB75D-4EB8-4A2B-A8CD-70BB392028FD}"/>
              </a:ext>
            </a:extLst>
          </p:cNvPr>
          <p:cNvSpPr>
            <a:spLocks noGrp="1"/>
          </p:cNvSpPr>
          <p:nvPr/>
        </p:nvSpPr>
        <p:spPr>
          <a:xfrm>
            <a:off x="4400550" y="27241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962BD1-557D-4BB6-911B-6BE7667EF8A6}"/>
              </a:ext>
            </a:extLst>
          </p:cNvPr>
          <p:cNvSpPr>
            <a:spLocks noGrp="1"/>
          </p:cNvSpPr>
          <p:nvPr/>
        </p:nvSpPr>
        <p:spPr>
          <a:xfrm>
            <a:off x="5210175" y="2828925"/>
            <a:ext cx="26955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场景演示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C4B56AD-9EBC-4F84-8460-C6A3F6B92BD9}"/>
              </a:ext>
            </a:extLst>
          </p:cNvPr>
          <p:cNvSpPr>
            <a:spLocks noGrp="1"/>
          </p:cNvSpPr>
          <p:nvPr/>
        </p:nvSpPr>
        <p:spPr>
          <a:xfrm>
            <a:off x="4400550" y="35623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85C440-AD73-4615-AFAE-BE360249DA0E}"/>
              </a:ext>
            </a:extLst>
          </p:cNvPr>
          <p:cNvSpPr>
            <a:spLocks noGrp="1"/>
          </p:cNvSpPr>
          <p:nvPr/>
        </p:nvSpPr>
        <p:spPr>
          <a:xfrm>
            <a:off x="7962900" y="27241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4FA59D-A5C6-42AF-B70A-CA8A0BCCD6DB}"/>
              </a:ext>
            </a:extLst>
          </p:cNvPr>
          <p:cNvSpPr>
            <a:spLocks noGrp="1"/>
          </p:cNvSpPr>
          <p:nvPr/>
        </p:nvSpPr>
        <p:spPr>
          <a:xfrm>
            <a:off x="8772525" y="2828925"/>
            <a:ext cx="26955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运营闭环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2793ED-E1CD-4763-8AC9-3B2BD02F92FB}"/>
              </a:ext>
            </a:extLst>
          </p:cNvPr>
          <p:cNvSpPr>
            <a:spLocks noGrp="1"/>
          </p:cNvSpPr>
          <p:nvPr/>
        </p:nvSpPr>
        <p:spPr>
          <a:xfrm>
            <a:off x="7962900" y="35623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60A6438-214D-4B1E-95F0-935F21BA0D21}"/>
              </a:ext>
            </a:extLst>
          </p:cNvPr>
          <p:cNvSpPr>
            <a:spLocks noGrp="1"/>
          </p:cNvSpPr>
          <p:nvPr/>
        </p:nvSpPr>
        <p:spPr>
          <a:xfrm>
            <a:off x="4400550" y="42862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65E4C78-DCAF-420D-985C-EFE14373F0C8}"/>
              </a:ext>
            </a:extLst>
          </p:cNvPr>
          <p:cNvSpPr>
            <a:spLocks noGrp="1"/>
          </p:cNvSpPr>
          <p:nvPr/>
        </p:nvSpPr>
        <p:spPr>
          <a:xfrm>
            <a:off x="5210175" y="4391025"/>
            <a:ext cx="26955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CodeArts 实践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4C9232C-ACCC-443B-ACF0-3654ECA97AF8}"/>
              </a:ext>
            </a:extLst>
          </p:cNvPr>
          <p:cNvSpPr>
            <a:spLocks noGrp="1"/>
          </p:cNvSpPr>
          <p:nvPr/>
        </p:nvSpPr>
        <p:spPr>
          <a:xfrm>
            <a:off x="4400550" y="51244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E98045-9E57-48F2-859B-05C18211568F}"/>
              </a:ext>
            </a:extLst>
          </p:cNvPr>
          <p:cNvSpPr>
            <a:spLocks noGrp="1"/>
          </p:cNvSpPr>
          <p:nvPr/>
        </p:nvSpPr>
        <p:spPr>
          <a:xfrm>
            <a:off x="7962900" y="4286250"/>
            <a:ext cx="857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A25BC-1329-4E4F-B973-50956A2DCD1A}"/>
              </a:ext>
            </a:extLst>
          </p:cNvPr>
          <p:cNvSpPr>
            <a:spLocks noGrp="1"/>
          </p:cNvSpPr>
          <p:nvPr/>
        </p:nvSpPr>
        <p:spPr>
          <a:xfrm>
            <a:off x="8772525" y="4391025"/>
            <a:ext cx="26955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阶段判断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9132737-C2BB-4561-9963-264AF6D1C036}"/>
              </a:ext>
            </a:extLst>
          </p:cNvPr>
          <p:cNvSpPr>
            <a:spLocks noGrp="1"/>
          </p:cNvSpPr>
          <p:nvPr/>
        </p:nvSpPr>
        <p:spPr>
          <a:xfrm>
            <a:off x="7962900" y="5124450"/>
            <a:ext cx="309562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7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9075D834-CEBF-4B84-809F-F99D2C1361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C6056FC-05D2-4221-9D1B-54471C6DC3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EA4DCE-66EE-4C75-850E-3D1616C94C69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D20A65-771C-4724-AD19-046B91945150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  01 </a:t>
            </a:r>
            <a:r>
              <a:rPr lang="en-US" dirty="0"/>
              <a:t> </a:t>
            </a:r>
            <a:r>
              <a:rPr sz="13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产品定位</a:t>
            </a:r>
            <a:endParaRPr sz="135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FE42DF-2815-41AA-BFAE-E03344685E0F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一套平台，连接多种现场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72EAA-62DB-42EE-A147-F5FE1B2D7572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36FE03-DB9F-4B3F-81AB-8D5FB140E684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云哨定位：面向多行业的 AIoT 边缘视频智能平台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6DBC51B-2E5E-4FEC-973E-85BC51F0423C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46B6C53-8689-443D-86B1-2854DD0EDE8F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57150" cy="40005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653528-3E01-4AB6-AAFE-7F0D5C4A2FA0}"/>
              </a:ext>
            </a:extLst>
          </p:cNvPr>
          <p:cNvSpPr>
            <a:spLocks noGrp="1"/>
          </p:cNvSpPr>
          <p:nvPr/>
        </p:nvSpPr>
        <p:spPr>
          <a:xfrm>
            <a:off x="800100" y="2247900"/>
            <a:ext cx="44291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底座复用，算法按场景扩展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1A0F78B-AAFD-4970-A3B1-24D40142309F}"/>
              </a:ext>
            </a:extLst>
          </p:cNvPr>
          <p:cNvSpPr>
            <a:spLocks noGrp="1"/>
          </p:cNvSpPr>
          <p:nvPr/>
        </p:nvSpPr>
        <p:spPr>
          <a:xfrm>
            <a:off x="800100" y="3038475"/>
            <a:ext cx="4381500" cy="1085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接入 · 视频 · 规则 · 事件 · 通知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A52A434-77EE-4DE0-A039-0D58E1441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638800" y="2106083"/>
            <a:ext cx="5791200" cy="3217333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AA5FE303-8ED7-4763-AC43-3E34A9ADB287}"/>
              </a:ext>
            </a:extLst>
          </p:cNvPr>
          <p:cNvSpPr>
            <a:spLocks noGrp="1"/>
          </p:cNvSpPr>
          <p:nvPr/>
        </p:nvSpPr>
        <p:spPr>
          <a:xfrm>
            <a:off x="5638800" y="2085975"/>
            <a:ext cx="5791200" cy="32575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78B0786-1F8B-44AA-AEB9-DC2EA57A6B37}"/>
              </a:ext>
            </a:extLst>
          </p:cNvPr>
          <p:cNvSpPr>
            <a:spLocks noGrp="1"/>
          </p:cNvSpPr>
          <p:nvPr/>
        </p:nvSpPr>
        <p:spPr>
          <a:xfrm>
            <a:off x="5638800" y="5505450"/>
            <a:ext cx="580072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rPr>
              <a:t>真实系统页面；设备与事件为模拟数据</a:t>
            </a:r>
          </a:p>
        </p:txBody>
      </p:sp>
    </p:spTree>
    <p:extLst>
      <p:ext uri="{BB962C8B-B14F-4D97-AF65-F5344CB8AC3E}">
        <p14:creationId xmlns:p14="http://schemas.microsoft.com/office/powerpoint/2010/main" val="189070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9E5F66B-737B-4289-A042-02D283C526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5715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D072F5C-153A-4312-8763-F9E176A7AF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B970A0-104A-4DB2-B0CB-873F3E431B1E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endParaRPr sz="135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28522E-03D4-4BEE-81A9-ED7AD3DF5125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从画面到处置，形成可追踪闭环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93099E5-6B74-42DF-9C1A-0F9ADE91846B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8233E98-0FC2-4DD2-9187-3D061A52C0F1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首发规格覆盖完整链路；实际端到端能力以真实设备验收为准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D4AFAA2-657D-4D05-AA50-16712E3CB7F1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5CA39D-28C7-490D-8269-E2C6CA95FFBB}"/>
              </a:ext>
            </a:extLst>
          </p:cNvPr>
          <p:cNvSpPr>
            <a:spLocks noGrp="1"/>
          </p:cNvSpPr>
          <p:nvPr/>
        </p:nvSpPr>
        <p:spPr>
          <a:xfrm>
            <a:off x="619125" y="2419350"/>
            <a:ext cx="2524125" cy="3810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EF2779-17D0-4534-A2EE-30778E311D56}"/>
              </a:ext>
            </a:extLst>
          </p:cNvPr>
          <p:cNvSpPr>
            <a:spLocks noGrp="1"/>
          </p:cNvSpPr>
          <p:nvPr/>
        </p:nvSpPr>
        <p:spPr>
          <a:xfrm>
            <a:off x="619125" y="2609850"/>
            <a:ext cx="1066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C497615-2DD1-4D3A-BAA4-8FEAB18BD3DF}"/>
              </a:ext>
            </a:extLst>
          </p:cNvPr>
          <p:cNvSpPr>
            <a:spLocks noGrp="1"/>
          </p:cNvSpPr>
          <p:nvPr/>
        </p:nvSpPr>
        <p:spPr>
          <a:xfrm>
            <a:off x="619125" y="3467100"/>
            <a:ext cx="257175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视频接入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62B8E2-30EF-4BEA-AFA9-FA2BC7EA7509}"/>
              </a:ext>
            </a:extLst>
          </p:cNvPr>
          <p:cNvSpPr>
            <a:spLocks noGrp="1"/>
          </p:cNvSpPr>
          <p:nvPr/>
        </p:nvSpPr>
        <p:spPr>
          <a:xfrm>
            <a:off x="619125" y="4343400"/>
            <a:ext cx="2447925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摄像头画面与设备状态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420693-5E4B-4ACB-8842-CC42440C24A6}"/>
              </a:ext>
            </a:extLst>
          </p:cNvPr>
          <p:cNvSpPr>
            <a:spLocks noGrp="1"/>
          </p:cNvSpPr>
          <p:nvPr/>
        </p:nvSpPr>
        <p:spPr>
          <a:xfrm>
            <a:off x="3209925" y="2876550"/>
            <a:ext cx="19050" cy="247650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6F79B7-600F-44C9-B023-624AD174B383}"/>
              </a:ext>
            </a:extLst>
          </p:cNvPr>
          <p:cNvSpPr>
            <a:spLocks noGrp="1"/>
          </p:cNvSpPr>
          <p:nvPr/>
        </p:nvSpPr>
        <p:spPr>
          <a:xfrm>
            <a:off x="3467100" y="2419350"/>
            <a:ext cx="2524125" cy="3810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9CF3D2-66DD-4191-9AF0-0250BE19D9A6}"/>
              </a:ext>
            </a:extLst>
          </p:cNvPr>
          <p:cNvSpPr>
            <a:spLocks noGrp="1"/>
          </p:cNvSpPr>
          <p:nvPr/>
        </p:nvSpPr>
        <p:spPr>
          <a:xfrm>
            <a:off x="3467100" y="2609850"/>
            <a:ext cx="1066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8F85FB-ED88-462C-9C54-DF5FD2B467CF}"/>
              </a:ext>
            </a:extLst>
          </p:cNvPr>
          <p:cNvSpPr>
            <a:spLocks noGrp="1"/>
          </p:cNvSpPr>
          <p:nvPr/>
        </p:nvSpPr>
        <p:spPr>
          <a:xfrm>
            <a:off x="3467100" y="3467100"/>
            <a:ext cx="257175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边缘识别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A083D3A-2621-48FC-954E-760CB599AF1F}"/>
              </a:ext>
            </a:extLst>
          </p:cNvPr>
          <p:cNvSpPr>
            <a:spLocks noGrp="1"/>
          </p:cNvSpPr>
          <p:nvPr/>
        </p:nvSpPr>
        <p:spPr>
          <a:xfrm>
            <a:off x="3467100" y="4343400"/>
            <a:ext cx="2447925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模型输出目标与行为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A72C01-2D47-4A74-A46E-53BF6F8DF02F}"/>
              </a:ext>
            </a:extLst>
          </p:cNvPr>
          <p:cNvSpPr>
            <a:spLocks noGrp="1"/>
          </p:cNvSpPr>
          <p:nvPr/>
        </p:nvSpPr>
        <p:spPr>
          <a:xfrm>
            <a:off x="6057900" y="2876550"/>
            <a:ext cx="19050" cy="247650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AFAF921-3544-4A12-90E1-20DCC9309C00}"/>
              </a:ext>
            </a:extLst>
          </p:cNvPr>
          <p:cNvSpPr>
            <a:spLocks noGrp="1"/>
          </p:cNvSpPr>
          <p:nvPr/>
        </p:nvSpPr>
        <p:spPr>
          <a:xfrm>
            <a:off x="6315075" y="2419350"/>
            <a:ext cx="2524125" cy="3810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9E636D3-798B-4840-AAB3-34263E442414}"/>
              </a:ext>
            </a:extLst>
          </p:cNvPr>
          <p:cNvSpPr>
            <a:spLocks noGrp="1"/>
          </p:cNvSpPr>
          <p:nvPr/>
        </p:nvSpPr>
        <p:spPr>
          <a:xfrm>
            <a:off x="6315075" y="2609850"/>
            <a:ext cx="1066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1306758-51EC-405B-AFFF-74CAE0CEC18F}"/>
              </a:ext>
            </a:extLst>
          </p:cNvPr>
          <p:cNvSpPr>
            <a:spLocks noGrp="1"/>
          </p:cNvSpPr>
          <p:nvPr/>
        </p:nvSpPr>
        <p:spPr>
          <a:xfrm>
            <a:off x="6315075" y="3467100"/>
            <a:ext cx="257175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规则告警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D647AA-D4A8-4D8D-8A63-B5E8672F81B2}"/>
              </a:ext>
            </a:extLst>
          </p:cNvPr>
          <p:cNvSpPr>
            <a:spLocks noGrp="1"/>
          </p:cNvSpPr>
          <p:nvPr/>
        </p:nvSpPr>
        <p:spPr>
          <a:xfrm>
            <a:off x="6315075" y="4343400"/>
            <a:ext cx="2447925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命中规则产生事件</a:t>
            </a:r>
            <a:endParaRPr sz="1800" b="0" dirty="0">
              <a:solidFill>
                <a:srgbClr val="C5DCEC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FD2585-9CF9-44BF-9FF9-BEAB5301BE1F}"/>
              </a:ext>
            </a:extLst>
          </p:cNvPr>
          <p:cNvSpPr>
            <a:spLocks noGrp="1"/>
          </p:cNvSpPr>
          <p:nvPr/>
        </p:nvSpPr>
        <p:spPr>
          <a:xfrm>
            <a:off x="8905875" y="2876550"/>
            <a:ext cx="19050" cy="247650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A3EC487-5199-42C3-BD66-7535181E1BF8}"/>
              </a:ext>
            </a:extLst>
          </p:cNvPr>
          <p:cNvSpPr>
            <a:spLocks noGrp="1"/>
          </p:cNvSpPr>
          <p:nvPr/>
        </p:nvSpPr>
        <p:spPr>
          <a:xfrm>
            <a:off x="9163050" y="2419350"/>
            <a:ext cx="2524125" cy="3810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56DAC-5071-49F6-B985-015D940B6DB4}"/>
              </a:ext>
            </a:extLst>
          </p:cNvPr>
          <p:cNvSpPr>
            <a:spLocks noGrp="1"/>
          </p:cNvSpPr>
          <p:nvPr/>
        </p:nvSpPr>
        <p:spPr>
          <a:xfrm>
            <a:off x="9163050" y="2609850"/>
            <a:ext cx="1066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5CE20C-91E3-4F64-9FCA-51A96E95C771}"/>
              </a:ext>
            </a:extLst>
          </p:cNvPr>
          <p:cNvSpPr>
            <a:spLocks noGrp="1"/>
          </p:cNvSpPr>
          <p:nvPr/>
        </p:nvSpPr>
        <p:spPr>
          <a:xfrm>
            <a:off x="9163050" y="3467100"/>
            <a:ext cx="257175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协同处置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57CA2B4-E6F0-4426-A546-B098ACB25348}"/>
              </a:ext>
            </a:extLst>
          </p:cNvPr>
          <p:cNvSpPr>
            <a:spLocks noGrp="1"/>
          </p:cNvSpPr>
          <p:nvPr/>
        </p:nvSpPr>
        <p:spPr>
          <a:xfrm>
            <a:off x="9163050" y="4343400"/>
            <a:ext cx="2447925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Web / PWA 查看与处理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D70FC21-CB02-4A23-B984-ABC995535AC0}"/>
              </a:ext>
            </a:extLst>
          </p:cNvPr>
          <p:cNvSpPr>
            <a:spLocks noGrp="1"/>
          </p:cNvSpPr>
          <p:nvPr/>
        </p:nvSpPr>
        <p:spPr>
          <a:xfrm>
            <a:off x="628650" y="5676900"/>
            <a:ext cx="1084897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789A364-B9F1-4ABF-B53D-90620B0BBE77}"/>
              </a:ext>
            </a:extLst>
          </p:cNvPr>
          <p:cNvSpPr>
            <a:spLocks noGrp="1"/>
          </p:cNvSpPr>
          <p:nvPr/>
        </p:nvSpPr>
        <p:spPr>
          <a:xfrm>
            <a:off x="628650" y="5848350"/>
            <a:ext cx="106203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边缘实时处理    /    事件证据沉淀    /    人员处理记录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5070A6B-70CE-6E8B-8F36-ACDE69750D96}"/>
              </a:ext>
            </a:extLst>
          </p:cNvPr>
          <p:cNvSpPr>
            <a:spLocks noGrp="1"/>
          </p:cNvSpPr>
          <p:nvPr/>
        </p:nvSpPr>
        <p:spPr>
          <a:xfrm>
            <a:off x="361950" y="395287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08AA42D-F204-88FF-9473-C7E8F33BD8D3}"/>
              </a:ext>
            </a:extLst>
          </p:cNvPr>
          <p:cNvSpPr>
            <a:spLocks noGrp="1"/>
          </p:cNvSpPr>
          <p:nvPr/>
        </p:nvSpPr>
        <p:spPr>
          <a:xfrm>
            <a:off x="838200" y="3048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  01 </a:t>
            </a:r>
            <a:r>
              <a:rPr lang="en-US" dirty="0"/>
              <a:t> </a:t>
            </a:r>
            <a:r>
              <a:rPr sz="13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产品定位</a:t>
            </a:r>
            <a:endParaRPr sz="135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</p:spTree>
    <p:extLst>
      <p:ext uri="{BB962C8B-B14F-4D97-AF65-F5344CB8AC3E}">
        <p14:creationId xmlns:p14="http://schemas.microsoft.com/office/powerpoint/2010/main" val="1378759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图片 34">
            <a:extLst>
              <a:ext uri="{FF2B5EF4-FFF2-40B4-BE49-F238E27FC236}">
                <a16:creationId xmlns:a16="http://schemas.microsoft.com/office/drawing/2014/main" id="{68468451-433B-4ACE-8126-FCF77D5C2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AB24F3C-9710-4399-8194-D52B937A51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B4C8CB-8F7E-48B2-BE6C-FF8EFA7C5234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78310D-8714-411C-B8C3-BD3E3D30AE2C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</a:t>
            </a:r>
            <a:r>
              <a:rPr lang="en-US" sz="13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2 </a:t>
            </a:r>
            <a:r>
              <a:rPr sz="13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核心架构</a:t>
            </a:r>
            <a:endParaRPr sz="135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6475C6-744D-4F49-BE40-542C84CD8258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dirty="0" err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边缘负责识别，平台负责协同</a:t>
            </a:r>
            <a:endParaRPr sz="3450" b="1" dirty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4474024-A364-43D8-B79B-31C092E52F53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BE7C4F-9867-41B8-BEE7-13503E93D15E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当前首发为单园区部署；跨园区公有云拓扑仍属规划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4ED12D-B7C1-4998-9269-A5A7A2A29A8C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EA24881-997E-4CE8-989B-7D819CDFF8CD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2352675" cy="195262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82F143-3289-4592-A02B-30F67743A460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2352675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0021BB9-7111-451A-9594-AA1C9B782FF6}"/>
              </a:ext>
            </a:extLst>
          </p:cNvPr>
          <p:cNvSpPr>
            <a:spLocks noGrp="1"/>
          </p:cNvSpPr>
          <p:nvPr/>
        </p:nvSpPr>
        <p:spPr>
          <a:xfrm>
            <a:off x="790575" y="2657475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DBFC00D-6B1D-4B8B-B706-C6D7731AAFF6}"/>
              </a:ext>
            </a:extLst>
          </p:cNvPr>
          <p:cNvSpPr>
            <a:spLocks noGrp="1"/>
          </p:cNvSpPr>
          <p:nvPr/>
        </p:nvSpPr>
        <p:spPr>
          <a:xfrm>
            <a:off x="790575" y="3124200"/>
            <a:ext cx="20478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摄像头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0CB339-72B7-4D1B-B4D6-51C9B0D9FF43}"/>
              </a:ext>
            </a:extLst>
          </p:cNvPr>
          <p:cNvSpPr>
            <a:spLocks noGrp="1"/>
          </p:cNvSpPr>
          <p:nvPr/>
        </p:nvSpPr>
        <p:spPr>
          <a:xfrm>
            <a:off x="790575" y="3733800"/>
            <a:ext cx="20478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H.264 / RTSP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A71BCC-095A-4A34-8C6B-7184B6BCC54C}"/>
              </a:ext>
            </a:extLst>
          </p:cNvPr>
          <p:cNvSpPr>
            <a:spLocks noGrp="1"/>
          </p:cNvSpPr>
          <p:nvPr/>
        </p:nvSpPr>
        <p:spPr>
          <a:xfrm>
            <a:off x="3028950" y="3105150"/>
            <a:ext cx="38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›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40D045-78F8-437B-A477-BD840CF29354}"/>
              </a:ext>
            </a:extLst>
          </p:cNvPr>
          <p:cNvSpPr>
            <a:spLocks noGrp="1"/>
          </p:cNvSpPr>
          <p:nvPr/>
        </p:nvSpPr>
        <p:spPr>
          <a:xfrm>
            <a:off x="3467100" y="2457450"/>
            <a:ext cx="2352675" cy="1952625"/>
          </a:xfrm>
          <a:prstGeom prst="rect">
            <a:avLst/>
          </a:prstGeom>
          <a:noFill/>
          <a:ln w="13335">
            <a:solidFill>
              <a:srgbClr val="F5C8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A3BAEA-B93A-4897-9393-3F0C760A106D}"/>
              </a:ext>
            </a:extLst>
          </p:cNvPr>
          <p:cNvSpPr>
            <a:spLocks noGrp="1"/>
          </p:cNvSpPr>
          <p:nvPr/>
        </p:nvSpPr>
        <p:spPr>
          <a:xfrm>
            <a:off x="3467100" y="2457450"/>
            <a:ext cx="2352675" cy="4762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56FD9C9-B8D8-4365-9DB5-8E11508D5D74}"/>
              </a:ext>
            </a:extLst>
          </p:cNvPr>
          <p:cNvSpPr>
            <a:spLocks noGrp="1"/>
          </p:cNvSpPr>
          <p:nvPr/>
        </p:nvSpPr>
        <p:spPr>
          <a:xfrm>
            <a:off x="3638550" y="2657475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A1D2D2-E5C0-4F55-B104-025E761329B4}"/>
              </a:ext>
            </a:extLst>
          </p:cNvPr>
          <p:cNvSpPr>
            <a:spLocks noGrp="1"/>
          </p:cNvSpPr>
          <p:nvPr/>
        </p:nvSpPr>
        <p:spPr>
          <a:xfrm>
            <a:off x="3638550" y="3124200"/>
            <a:ext cx="20478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Atlas 边缘端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5893AEA-8F47-41AA-968D-4E250FAFC99D}"/>
              </a:ext>
            </a:extLst>
          </p:cNvPr>
          <p:cNvSpPr>
            <a:spLocks noGrp="1"/>
          </p:cNvSpPr>
          <p:nvPr/>
        </p:nvSpPr>
        <p:spPr>
          <a:xfrm>
            <a:off x="3638550" y="3733800"/>
            <a:ext cx="20478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本地推理 / 事件筛选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86587DA-0D02-4377-BC49-433C769D85F9}"/>
              </a:ext>
            </a:extLst>
          </p:cNvPr>
          <p:cNvSpPr>
            <a:spLocks noGrp="1"/>
          </p:cNvSpPr>
          <p:nvPr/>
        </p:nvSpPr>
        <p:spPr>
          <a:xfrm>
            <a:off x="5876925" y="3105150"/>
            <a:ext cx="38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›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362F15-55D9-4718-B393-44A5D4BB124F}"/>
              </a:ext>
            </a:extLst>
          </p:cNvPr>
          <p:cNvSpPr>
            <a:spLocks noGrp="1"/>
          </p:cNvSpPr>
          <p:nvPr/>
        </p:nvSpPr>
        <p:spPr>
          <a:xfrm>
            <a:off x="6315075" y="2457450"/>
            <a:ext cx="2352675" cy="195262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86FBC7-A248-4EC1-83AC-E487C028993B}"/>
              </a:ext>
            </a:extLst>
          </p:cNvPr>
          <p:cNvSpPr>
            <a:spLocks noGrp="1"/>
          </p:cNvSpPr>
          <p:nvPr/>
        </p:nvSpPr>
        <p:spPr>
          <a:xfrm>
            <a:off x="6315075" y="2457450"/>
            <a:ext cx="2352675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077AD24-8B91-49C2-8E63-957BCE253612}"/>
              </a:ext>
            </a:extLst>
          </p:cNvPr>
          <p:cNvSpPr>
            <a:spLocks noGrp="1"/>
          </p:cNvSpPr>
          <p:nvPr/>
        </p:nvSpPr>
        <p:spPr>
          <a:xfrm>
            <a:off x="6486525" y="2657475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7810B9-1FED-4065-8916-CE202D5D8AE7}"/>
              </a:ext>
            </a:extLst>
          </p:cNvPr>
          <p:cNvSpPr>
            <a:spLocks noGrp="1"/>
          </p:cNvSpPr>
          <p:nvPr/>
        </p:nvSpPr>
        <p:spPr>
          <a:xfrm>
            <a:off x="6486525" y="3124200"/>
            <a:ext cx="20478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园区平台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51C8A36-DB95-4ABB-8BE1-BCBAF44C047D}"/>
              </a:ext>
            </a:extLst>
          </p:cNvPr>
          <p:cNvSpPr>
            <a:spLocks noGrp="1"/>
          </p:cNvSpPr>
          <p:nvPr/>
        </p:nvSpPr>
        <p:spPr>
          <a:xfrm>
            <a:off x="6486525" y="3733800"/>
            <a:ext cx="20478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媒体 / 设备 / 事件 / Push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91E969-8049-4E37-ADDA-58F40A9AA7CC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38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73DB915-410B-4A4C-8B86-EBA6BE23AC96}"/>
              </a:ext>
            </a:extLst>
          </p:cNvPr>
          <p:cNvSpPr>
            <a:spLocks noGrp="1"/>
          </p:cNvSpPr>
          <p:nvPr/>
        </p:nvSpPr>
        <p:spPr>
          <a:xfrm>
            <a:off x="9163050" y="2457450"/>
            <a:ext cx="2352675" cy="195262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9560B8D-E360-442D-A48E-A73B2E8CF2B4}"/>
              </a:ext>
            </a:extLst>
          </p:cNvPr>
          <p:cNvSpPr>
            <a:spLocks noGrp="1"/>
          </p:cNvSpPr>
          <p:nvPr/>
        </p:nvSpPr>
        <p:spPr>
          <a:xfrm>
            <a:off x="9163050" y="2457450"/>
            <a:ext cx="2352675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0A8A4F-5B25-44AB-BF82-0C2B3F662EFC}"/>
              </a:ext>
            </a:extLst>
          </p:cNvPr>
          <p:cNvSpPr>
            <a:spLocks noGrp="1"/>
          </p:cNvSpPr>
          <p:nvPr/>
        </p:nvSpPr>
        <p:spPr>
          <a:xfrm>
            <a:off x="9334500" y="2657475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C568963-B89B-4557-ADFB-3E8BC42D22BF}"/>
              </a:ext>
            </a:extLst>
          </p:cNvPr>
          <p:cNvSpPr>
            <a:spLocks noGrp="1"/>
          </p:cNvSpPr>
          <p:nvPr/>
        </p:nvSpPr>
        <p:spPr>
          <a:xfrm>
            <a:off x="9334500" y="3124200"/>
            <a:ext cx="20478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Web / PWA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01FDCA1-DA72-4813-BD4C-FA4B366E30F9}"/>
              </a:ext>
            </a:extLst>
          </p:cNvPr>
          <p:cNvSpPr>
            <a:spLocks noGrp="1"/>
          </p:cNvSpPr>
          <p:nvPr/>
        </p:nvSpPr>
        <p:spPr>
          <a:xfrm>
            <a:off x="9334500" y="3733800"/>
            <a:ext cx="20478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实时查看 / 追溯处置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84F420-350B-470D-B5C9-2E8B78E5EA5C}"/>
              </a:ext>
            </a:extLst>
          </p:cNvPr>
          <p:cNvSpPr>
            <a:spLocks noGrp="1"/>
          </p:cNvSpPr>
          <p:nvPr/>
        </p:nvSpPr>
        <p:spPr>
          <a:xfrm>
            <a:off x="619125" y="4857750"/>
            <a:ext cx="108108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RTSP </a:t>
            </a:r>
            <a:r>
              <a:rPr sz="16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摄像头</a:t>
            </a:r>
            <a:r>
              <a:rPr sz="16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 → Atlas </a:t>
            </a:r>
            <a:r>
              <a:rPr sz="16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推理</a:t>
            </a:r>
            <a:r>
              <a:rPr sz="16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 → MQTT/TLS </a:t>
            </a:r>
            <a:r>
              <a:rPr sz="16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事件上报</a:t>
            </a:r>
            <a:r>
              <a:rPr sz="1650" b="1" dirty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 → </a:t>
            </a:r>
            <a:r>
              <a:rPr sz="1650" b="1" dirty="0" err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云端业务服务</a:t>
            </a:r>
            <a:endParaRPr sz="165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31A70E2-1660-485F-A93D-A63040A7B494}"/>
              </a:ext>
            </a:extLst>
          </p:cNvPr>
          <p:cNvSpPr>
            <a:spLocks noGrp="1"/>
          </p:cNvSpPr>
          <p:nvPr/>
        </p:nvSpPr>
        <p:spPr>
          <a:xfrm>
            <a:off x="619125" y="5334000"/>
            <a:ext cx="10810875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endParaRPr sz="1500" b="0" dirty="0">
              <a:solidFill>
                <a:srgbClr val="C5DCEC"/>
              </a:solidFill>
              <a:latin typeface="PingFang SC"/>
              <a:ea typeface="PingFang SC"/>
              <a:cs typeface="PingFang SC"/>
            </a:endParaRPr>
          </a:p>
        </p:txBody>
      </p:sp>
    </p:spTree>
    <p:extLst>
      <p:ext uri="{BB962C8B-B14F-4D97-AF65-F5344CB8AC3E}">
        <p14:creationId xmlns:p14="http://schemas.microsoft.com/office/powerpoint/2010/main" val="674087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图片 67">
            <a:extLst>
              <a:ext uri="{FF2B5EF4-FFF2-40B4-BE49-F238E27FC236}">
                <a16:creationId xmlns:a16="http://schemas.microsoft.com/office/drawing/2014/main" id="{E771C539-F341-46BF-997C-CAB821D26D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B9E80C00-50CC-4A0E-939C-EFA5E21AF4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68754A-BABE-473B-8869-F23FC8DB4E4E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107A19A-183B-4723-9D15-5E0868C31604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03 / 核心架构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256D27-47D2-48AD-996B-E2CBDE6AF2C1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首发单园区网络拓扑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CE84C3-B704-4BD9-BFBE-FD2F9200C28F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675E6B-4E58-43E0-9BF3-E470E46222E9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浏览器统一入口 · Atlas 本地推理 · 事件上报与实时媒体分路传输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187403F-5127-452F-B3C5-1F97C981F7F5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7120B35-CFCB-4FEC-A464-7A65AD849228}"/>
              </a:ext>
            </a:extLst>
          </p:cNvPr>
          <p:cNvSpPr>
            <a:spLocks noGrp="1"/>
          </p:cNvSpPr>
          <p:nvPr/>
        </p:nvSpPr>
        <p:spPr>
          <a:xfrm>
            <a:off x="619125" y="2200275"/>
            <a:ext cx="57150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浏览器入口与云端业务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81FA635-7540-4852-8157-A8DF9E2B16D6}"/>
              </a:ext>
            </a:extLst>
          </p:cNvPr>
          <p:cNvSpPr>
            <a:spLocks noGrp="1"/>
          </p:cNvSpPr>
          <p:nvPr/>
        </p:nvSpPr>
        <p:spPr>
          <a:xfrm>
            <a:off x="619125" y="2628900"/>
            <a:ext cx="2028825" cy="7810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84B1784-8098-416B-90DA-9EAA4A8A3470}"/>
              </a:ext>
            </a:extLst>
          </p:cNvPr>
          <p:cNvSpPr>
            <a:spLocks noGrp="1"/>
          </p:cNvSpPr>
          <p:nvPr/>
        </p:nvSpPr>
        <p:spPr>
          <a:xfrm>
            <a:off x="619125" y="2628900"/>
            <a:ext cx="2028825" cy="7810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3A32559-8E00-4361-9785-FBAE7BC1AF05}"/>
              </a:ext>
            </a:extLst>
          </p:cNvPr>
          <p:cNvSpPr>
            <a:spLocks noGrp="1"/>
          </p:cNvSpPr>
          <p:nvPr/>
        </p:nvSpPr>
        <p:spPr>
          <a:xfrm>
            <a:off x="619125" y="2628900"/>
            <a:ext cx="202882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53EF63F-E94B-42D4-8787-3D56F5FD98E4}"/>
              </a:ext>
            </a:extLst>
          </p:cNvPr>
          <p:cNvSpPr>
            <a:spLocks noGrp="1"/>
          </p:cNvSpPr>
          <p:nvPr/>
        </p:nvSpPr>
        <p:spPr>
          <a:xfrm>
            <a:off x="733425" y="2752725"/>
            <a:ext cx="180022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Web / PWA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告警与事件详情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F9F244-49C0-4E04-B476-22C64D3169F9}"/>
              </a:ext>
            </a:extLst>
          </p:cNvPr>
          <p:cNvSpPr>
            <a:spLocks noGrp="1"/>
          </p:cNvSpPr>
          <p:nvPr/>
        </p:nvSpPr>
        <p:spPr>
          <a:xfrm>
            <a:off x="3524250" y="2628900"/>
            <a:ext cx="2028825" cy="7810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1F168E-EF45-44D2-ADA6-D062186A76F2}"/>
              </a:ext>
            </a:extLst>
          </p:cNvPr>
          <p:cNvSpPr>
            <a:spLocks noGrp="1"/>
          </p:cNvSpPr>
          <p:nvPr/>
        </p:nvSpPr>
        <p:spPr>
          <a:xfrm>
            <a:off x="3524250" y="2628900"/>
            <a:ext cx="2028825" cy="7810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6DBD8D8-6146-47DC-9BB2-87667310101E}"/>
              </a:ext>
            </a:extLst>
          </p:cNvPr>
          <p:cNvSpPr>
            <a:spLocks noGrp="1"/>
          </p:cNvSpPr>
          <p:nvPr/>
        </p:nvSpPr>
        <p:spPr>
          <a:xfrm>
            <a:off x="3524250" y="2628900"/>
            <a:ext cx="202882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4B93AE-EC82-412B-B3B4-1802C7B92670}"/>
              </a:ext>
            </a:extLst>
          </p:cNvPr>
          <p:cNvSpPr>
            <a:spLocks noGrp="1"/>
          </p:cNvSpPr>
          <p:nvPr/>
        </p:nvSpPr>
        <p:spPr>
          <a:xfrm>
            <a:off x="3638550" y="2752725"/>
            <a:ext cx="180022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Nginx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Web / API / 媒体代理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FFC82E-3200-40C5-932E-20977F826E47}"/>
              </a:ext>
            </a:extLst>
          </p:cNvPr>
          <p:cNvSpPr>
            <a:spLocks noGrp="1"/>
          </p:cNvSpPr>
          <p:nvPr/>
        </p:nvSpPr>
        <p:spPr>
          <a:xfrm>
            <a:off x="6429375" y="2514600"/>
            <a:ext cx="2286000" cy="10096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35B7EF2-0A5E-4FBC-8387-0E7880273E89}"/>
              </a:ext>
            </a:extLst>
          </p:cNvPr>
          <p:cNvSpPr>
            <a:spLocks noGrp="1"/>
          </p:cNvSpPr>
          <p:nvPr/>
        </p:nvSpPr>
        <p:spPr>
          <a:xfrm>
            <a:off x="6429375" y="2514600"/>
            <a:ext cx="2286000" cy="10096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BCC4D5-1BC6-414D-885A-01A2056FC22C}"/>
              </a:ext>
            </a:extLst>
          </p:cNvPr>
          <p:cNvSpPr>
            <a:spLocks noGrp="1"/>
          </p:cNvSpPr>
          <p:nvPr/>
        </p:nvSpPr>
        <p:spPr>
          <a:xfrm>
            <a:off x="6429375" y="2514600"/>
            <a:ext cx="2286000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2936B5-3BC5-4557-A299-D62D33ECD919}"/>
              </a:ext>
            </a:extLst>
          </p:cNvPr>
          <p:cNvSpPr>
            <a:spLocks noGrp="1"/>
          </p:cNvSpPr>
          <p:nvPr/>
        </p:nvSpPr>
        <p:spPr>
          <a:xfrm>
            <a:off x="6543675" y="2638425"/>
            <a:ext cx="20574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Go 业务服务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Auth · Device · Event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Media · Push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8799F7D-B2CC-4D1D-8527-6B58EC87E1A7}"/>
              </a:ext>
            </a:extLst>
          </p:cNvPr>
          <p:cNvSpPr>
            <a:spLocks noGrp="1"/>
          </p:cNvSpPr>
          <p:nvPr/>
        </p:nvSpPr>
        <p:spPr>
          <a:xfrm>
            <a:off x="9534525" y="2628900"/>
            <a:ext cx="2028825" cy="7810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E3366DB-A8CD-4E85-8DA5-31FC9D1CADA9}"/>
              </a:ext>
            </a:extLst>
          </p:cNvPr>
          <p:cNvSpPr>
            <a:spLocks noGrp="1"/>
          </p:cNvSpPr>
          <p:nvPr/>
        </p:nvSpPr>
        <p:spPr>
          <a:xfrm>
            <a:off x="9534525" y="2628900"/>
            <a:ext cx="2028825" cy="7810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406BF86-C0ED-43D4-A111-91882B8074E1}"/>
              </a:ext>
            </a:extLst>
          </p:cNvPr>
          <p:cNvSpPr>
            <a:spLocks noGrp="1"/>
          </p:cNvSpPr>
          <p:nvPr/>
        </p:nvSpPr>
        <p:spPr>
          <a:xfrm>
            <a:off x="9534525" y="2628900"/>
            <a:ext cx="202882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D898282-8A81-493D-846D-FEE6E4DB6510}"/>
              </a:ext>
            </a:extLst>
          </p:cNvPr>
          <p:cNvSpPr>
            <a:spLocks noGrp="1"/>
          </p:cNvSpPr>
          <p:nvPr/>
        </p:nvSpPr>
        <p:spPr>
          <a:xfrm>
            <a:off x="9648825" y="2752725"/>
            <a:ext cx="180022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PostgreSQL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五服务 schema 隔离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999477E7-0997-4808-A03C-C1D6B13430D6}"/>
              </a:ext>
            </a:extLst>
          </p:cNvPr>
          <p:cNvCxnSpPr>
            <a:stCxn id="10" idx="3"/>
            <a:endCxn id="14" idx="1"/>
          </p:cNvCxnSpPr>
          <p:nvPr/>
        </p:nvCxnSpPr>
        <p:spPr>
          <a:xfrm>
            <a:off x="2647950" y="3019425"/>
            <a:ext cx="87630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B2C3ADC-2B60-413E-8F84-39F7CF9C8D81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5553075" y="3019425"/>
            <a:ext cx="87630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9C351590-FFE2-4801-8281-DC9C92D9636D}"/>
              </a:ext>
            </a:extLst>
          </p:cNvPr>
          <p:cNvCxnSpPr>
            <a:stCxn id="18" idx="3"/>
            <a:endCxn id="22" idx="1"/>
          </p:cNvCxnSpPr>
          <p:nvPr/>
        </p:nvCxnSpPr>
        <p:spPr>
          <a:xfrm>
            <a:off x="8715375" y="3019425"/>
            <a:ext cx="81915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6EBBBC57-CB6A-4964-8ACC-0EF5233D570F}"/>
              </a:ext>
            </a:extLst>
          </p:cNvPr>
          <p:cNvSpPr>
            <a:spLocks noGrp="1"/>
          </p:cNvSpPr>
          <p:nvPr/>
        </p:nvSpPr>
        <p:spPr>
          <a:xfrm>
            <a:off x="2714625" y="2800350"/>
            <a:ext cx="8191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HTTPS 443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FD9F47-AB74-4D5C-91BD-28132C4489D2}"/>
              </a:ext>
            </a:extLst>
          </p:cNvPr>
          <p:cNvSpPr>
            <a:spLocks noGrp="1"/>
          </p:cNvSpPr>
          <p:nvPr/>
        </p:nvSpPr>
        <p:spPr>
          <a:xfrm>
            <a:off x="5619750" y="2800350"/>
            <a:ext cx="7810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内部 API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AE17086-30AC-4A12-9ECE-8B6EDF3B0897}"/>
              </a:ext>
            </a:extLst>
          </p:cNvPr>
          <p:cNvSpPr>
            <a:spLocks noGrp="1"/>
          </p:cNvSpPr>
          <p:nvPr/>
        </p:nvSpPr>
        <p:spPr>
          <a:xfrm>
            <a:off x="8867775" y="2800350"/>
            <a:ext cx="619125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SQL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69F911B-DC25-4DC6-A9FA-5FBCDFD7495B}"/>
              </a:ext>
            </a:extLst>
          </p:cNvPr>
          <p:cNvSpPr>
            <a:spLocks noGrp="1"/>
          </p:cNvSpPr>
          <p:nvPr/>
        </p:nvSpPr>
        <p:spPr>
          <a:xfrm>
            <a:off x="619125" y="373380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园区边缘采集与设备消息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9382C94-A220-419C-ABAC-2AA5ED49C869}"/>
              </a:ext>
            </a:extLst>
          </p:cNvPr>
          <p:cNvSpPr>
            <a:spLocks noGrp="1"/>
          </p:cNvSpPr>
          <p:nvPr/>
        </p:nvSpPr>
        <p:spPr>
          <a:xfrm>
            <a:off x="619125" y="4229100"/>
            <a:ext cx="2028825" cy="7810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352BCE0-DD1C-4869-9A46-18AD376A4EDD}"/>
              </a:ext>
            </a:extLst>
          </p:cNvPr>
          <p:cNvSpPr>
            <a:spLocks noGrp="1"/>
          </p:cNvSpPr>
          <p:nvPr/>
        </p:nvSpPr>
        <p:spPr>
          <a:xfrm>
            <a:off x="619125" y="4229100"/>
            <a:ext cx="2028825" cy="7810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E941417-A958-434E-8CAE-FFBD61A8596F}"/>
              </a:ext>
            </a:extLst>
          </p:cNvPr>
          <p:cNvSpPr>
            <a:spLocks noGrp="1"/>
          </p:cNvSpPr>
          <p:nvPr/>
        </p:nvSpPr>
        <p:spPr>
          <a:xfrm>
            <a:off x="619125" y="4229100"/>
            <a:ext cx="202882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A609006-537A-4A66-B976-D8595D862280}"/>
              </a:ext>
            </a:extLst>
          </p:cNvPr>
          <p:cNvSpPr>
            <a:spLocks noGrp="1"/>
          </p:cNvSpPr>
          <p:nvPr/>
        </p:nvSpPr>
        <p:spPr>
          <a:xfrm>
            <a:off x="733425" y="4352925"/>
            <a:ext cx="180022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摄像头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H.264 视频源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B630673-80F6-4A71-8AB6-BCA04573B62E}"/>
              </a:ext>
            </a:extLst>
          </p:cNvPr>
          <p:cNvSpPr>
            <a:spLocks noGrp="1"/>
          </p:cNvSpPr>
          <p:nvPr/>
        </p:nvSpPr>
        <p:spPr>
          <a:xfrm>
            <a:off x="3524250" y="4076700"/>
            <a:ext cx="2286000" cy="10858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9AA10D5-494D-4BF5-BDFD-CC2205529F51}"/>
              </a:ext>
            </a:extLst>
          </p:cNvPr>
          <p:cNvSpPr>
            <a:spLocks noGrp="1"/>
          </p:cNvSpPr>
          <p:nvPr/>
        </p:nvSpPr>
        <p:spPr>
          <a:xfrm>
            <a:off x="3524250" y="4076700"/>
            <a:ext cx="2286000" cy="1085850"/>
          </a:xfrm>
          <a:prstGeom prst="rect">
            <a:avLst/>
          </a:prstGeom>
          <a:noFill/>
          <a:ln w="13335">
            <a:solidFill>
              <a:srgbClr val="F5C8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A490739-A24A-40F4-B290-F51B2E0B65F9}"/>
              </a:ext>
            </a:extLst>
          </p:cNvPr>
          <p:cNvSpPr>
            <a:spLocks noGrp="1"/>
          </p:cNvSpPr>
          <p:nvPr/>
        </p:nvSpPr>
        <p:spPr>
          <a:xfrm>
            <a:off x="3524250" y="4076700"/>
            <a:ext cx="228600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2FE8E3E-24EC-42E6-B55E-DE9ECB0B5508}"/>
              </a:ext>
            </a:extLst>
          </p:cNvPr>
          <p:cNvSpPr>
            <a:spLocks noGrp="1"/>
          </p:cNvSpPr>
          <p:nvPr/>
        </p:nvSpPr>
        <p:spPr>
          <a:xfrm>
            <a:off x="3638550" y="4200525"/>
            <a:ext cx="20574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Atlas 200I DK A2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Ascend 310B4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本地推理 / 事件筛选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9CD88E6-23DF-40D6-A61F-BED6DF16C262}"/>
              </a:ext>
            </a:extLst>
          </p:cNvPr>
          <p:cNvSpPr>
            <a:spLocks noGrp="1"/>
          </p:cNvSpPr>
          <p:nvPr/>
        </p:nvSpPr>
        <p:spPr>
          <a:xfrm>
            <a:off x="6667500" y="4133850"/>
            <a:ext cx="2047875" cy="9715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1521318-BB95-4863-B12D-61F95F5A803E}"/>
              </a:ext>
            </a:extLst>
          </p:cNvPr>
          <p:cNvSpPr>
            <a:spLocks noGrp="1"/>
          </p:cNvSpPr>
          <p:nvPr/>
        </p:nvSpPr>
        <p:spPr>
          <a:xfrm>
            <a:off x="6667500" y="4133850"/>
            <a:ext cx="2047875" cy="9715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A99DB46-B4DF-43E5-958C-7C9FAB77AD7C}"/>
              </a:ext>
            </a:extLst>
          </p:cNvPr>
          <p:cNvSpPr>
            <a:spLocks noGrp="1"/>
          </p:cNvSpPr>
          <p:nvPr/>
        </p:nvSpPr>
        <p:spPr>
          <a:xfrm>
            <a:off x="6667500" y="4133850"/>
            <a:ext cx="204787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85301E0-1A55-4D85-8D7A-A0DA494D3F48}"/>
              </a:ext>
            </a:extLst>
          </p:cNvPr>
          <p:cNvSpPr>
            <a:spLocks noGrp="1"/>
          </p:cNvSpPr>
          <p:nvPr/>
        </p:nvSpPr>
        <p:spPr>
          <a:xfrm>
            <a:off x="6781800" y="4257675"/>
            <a:ext cx="1819275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Mosquitto 2.x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MQTT / TLS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QoS 1 · 设备 ACL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E40022A-F3AF-4AC7-BB05-C8E176AF2FF5}"/>
              </a:ext>
            </a:extLst>
          </p:cNvPr>
          <p:cNvSpPr>
            <a:spLocks noGrp="1"/>
          </p:cNvSpPr>
          <p:nvPr/>
        </p:nvSpPr>
        <p:spPr>
          <a:xfrm>
            <a:off x="9534525" y="4229100"/>
            <a:ext cx="2028825" cy="7810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38179C-EACD-466E-8CFF-D61641D11D89}"/>
              </a:ext>
            </a:extLst>
          </p:cNvPr>
          <p:cNvSpPr>
            <a:spLocks noGrp="1"/>
          </p:cNvSpPr>
          <p:nvPr/>
        </p:nvSpPr>
        <p:spPr>
          <a:xfrm>
            <a:off x="9534525" y="4229100"/>
            <a:ext cx="2028825" cy="781050"/>
          </a:xfrm>
          <a:prstGeom prst="rect">
            <a:avLst/>
          </a:prstGeom>
          <a:noFill/>
          <a:ln w="13335">
            <a:solidFill>
              <a:srgbClr val="F5C8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696EDE8-D063-4316-B3C6-D0AAFB454B3F}"/>
              </a:ext>
            </a:extLst>
          </p:cNvPr>
          <p:cNvSpPr>
            <a:spLocks noGrp="1"/>
          </p:cNvSpPr>
          <p:nvPr/>
        </p:nvSpPr>
        <p:spPr>
          <a:xfrm>
            <a:off x="9534525" y="4229100"/>
            <a:ext cx="2028825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7096D2F-A501-43FC-9B2B-7FA7D98504B9}"/>
              </a:ext>
            </a:extLst>
          </p:cNvPr>
          <p:cNvSpPr>
            <a:spLocks noGrp="1"/>
          </p:cNvSpPr>
          <p:nvPr/>
        </p:nvSpPr>
        <p:spPr>
          <a:xfrm>
            <a:off x="9648825" y="4352925"/>
            <a:ext cx="180022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浏览器推送服务</a:t>
            </a:r>
          </a:p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出站 HTTPS</a:t>
            </a: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F857FDA-21A3-47E1-BE5B-3488CA4A460C}"/>
              </a:ext>
            </a:extLst>
          </p:cNvPr>
          <p:cNvCxnSpPr>
            <a:stCxn id="33" idx="3"/>
            <a:endCxn id="37" idx="1"/>
          </p:cNvCxnSpPr>
          <p:nvPr/>
        </p:nvCxnSpPr>
        <p:spPr>
          <a:xfrm>
            <a:off x="2647950" y="4619625"/>
            <a:ext cx="87630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433D50F9-115A-43E7-B490-2EEE299BF25E}"/>
              </a:ext>
            </a:extLst>
          </p:cNvPr>
          <p:cNvCxnSpPr>
            <a:stCxn id="37" idx="3"/>
            <a:endCxn id="41" idx="1"/>
          </p:cNvCxnSpPr>
          <p:nvPr/>
        </p:nvCxnSpPr>
        <p:spPr>
          <a:xfrm>
            <a:off x="5810250" y="4619625"/>
            <a:ext cx="85725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1F46B7CB-4A6A-4B41-BBB5-488EBD7AE901}"/>
              </a:ext>
            </a:extLst>
          </p:cNvPr>
          <p:cNvCxnSpPr>
            <a:stCxn id="41" idx="0"/>
            <a:endCxn id="18" idx="2"/>
          </p:cNvCxnSpPr>
          <p:nvPr/>
        </p:nvCxnSpPr>
        <p:spPr>
          <a:xfrm flipH="1" flipV="1">
            <a:off x="7572375" y="3524250"/>
            <a:ext cx="119063" cy="6096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D2BEC71A-3532-4F32-89EA-23C54D7FA315}"/>
              </a:ext>
            </a:extLst>
          </p:cNvPr>
          <p:cNvCxnSpPr>
            <a:stCxn id="18" idx="2"/>
            <a:endCxn id="45" idx="0"/>
          </p:cNvCxnSpPr>
          <p:nvPr/>
        </p:nvCxnSpPr>
        <p:spPr>
          <a:xfrm>
            <a:off x="7572375" y="3524250"/>
            <a:ext cx="2976563" cy="704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5C86B"/>
            </a:solidFill>
            <a:prstDash val="solid"/>
            <a:tailEnd type="triangle" w="med" len="med"/>
          </a:ln>
        </p:spPr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73DAB864-95D4-43F6-B987-8A9CEB65A455}"/>
              </a:ext>
            </a:extLst>
          </p:cNvPr>
          <p:cNvSpPr>
            <a:spLocks noGrp="1"/>
          </p:cNvSpPr>
          <p:nvPr/>
        </p:nvSpPr>
        <p:spPr>
          <a:xfrm>
            <a:off x="2886075" y="4314825"/>
            <a:ext cx="5905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RTSP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B28FC1A-38CA-463F-87B9-F38AE9F22022}"/>
              </a:ext>
            </a:extLst>
          </p:cNvPr>
          <p:cNvSpPr>
            <a:spLocks noGrp="1"/>
          </p:cNvSpPr>
          <p:nvPr/>
        </p:nvSpPr>
        <p:spPr>
          <a:xfrm>
            <a:off x="5876925" y="4314825"/>
            <a:ext cx="809625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MQTT/TLS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A2A72C2-7890-4968-B26A-1D201A1D7C81}"/>
              </a:ext>
            </a:extLst>
          </p:cNvPr>
          <p:cNvSpPr>
            <a:spLocks noGrp="1"/>
          </p:cNvSpPr>
          <p:nvPr/>
        </p:nvSpPr>
        <p:spPr>
          <a:xfrm>
            <a:off x="619125" y="5676900"/>
            <a:ext cx="2028825" cy="5524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0BFEC3A-2463-4369-A629-F1DFF69F8EDB}"/>
              </a:ext>
            </a:extLst>
          </p:cNvPr>
          <p:cNvSpPr>
            <a:spLocks noGrp="1"/>
          </p:cNvSpPr>
          <p:nvPr/>
        </p:nvSpPr>
        <p:spPr>
          <a:xfrm>
            <a:off x="619125" y="5676900"/>
            <a:ext cx="2028825" cy="5524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31999FE-00C9-4900-8063-8C739E585446}"/>
              </a:ext>
            </a:extLst>
          </p:cNvPr>
          <p:cNvSpPr>
            <a:spLocks noGrp="1"/>
          </p:cNvSpPr>
          <p:nvPr/>
        </p:nvSpPr>
        <p:spPr>
          <a:xfrm>
            <a:off x="619125" y="5676900"/>
            <a:ext cx="2028825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BC6E8A1-EFB3-451D-8D3B-04C19C85035C}"/>
              </a:ext>
            </a:extLst>
          </p:cNvPr>
          <p:cNvSpPr>
            <a:spLocks noGrp="1"/>
          </p:cNvSpPr>
          <p:nvPr/>
        </p:nvSpPr>
        <p:spPr>
          <a:xfrm>
            <a:off x="733425" y="5800725"/>
            <a:ext cx="18002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桌面监控端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DE31C95-1FD4-40FE-BBA0-F9D882AF9021}"/>
              </a:ext>
            </a:extLst>
          </p:cNvPr>
          <p:cNvSpPr>
            <a:spLocks noGrp="1"/>
          </p:cNvSpPr>
          <p:nvPr/>
        </p:nvSpPr>
        <p:spPr>
          <a:xfrm>
            <a:off x="3524250" y="5676900"/>
            <a:ext cx="3238500" cy="5524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DD9D6B0-9FAD-41D0-A33F-E54850BABC60}"/>
              </a:ext>
            </a:extLst>
          </p:cNvPr>
          <p:cNvSpPr>
            <a:spLocks noGrp="1"/>
          </p:cNvSpPr>
          <p:nvPr/>
        </p:nvSpPr>
        <p:spPr>
          <a:xfrm>
            <a:off x="3524250" y="5676900"/>
            <a:ext cx="3238500" cy="5524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D1DEAF6-EB38-4E4B-AD8D-1488D4CE93F6}"/>
              </a:ext>
            </a:extLst>
          </p:cNvPr>
          <p:cNvSpPr>
            <a:spLocks noGrp="1"/>
          </p:cNvSpPr>
          <p:nvPr/>
        </p:nvSpPr>
        <p:spPr>
          <a:xfrm>
            <a:off x="3524250" y="5676900"/>
            <a:ext cx="3238500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3BDB7768-210A-4F77-A78D-11ADAB786F3E}"/>
              </a:ext>
            </a:extLst>
          </p:cNvPr>
          <p:cNvSpPr>
            <a:spLocks noGrp="1"/>
          </p:cNvSpPr>
          <p:nvPr/>
        </p:nvSpPr>
        <p:spPr>
          <a:xfrm>
            <a:off x="3638550" y="5800725"/>
            <a:ext cx="30099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MediaMTX · media-service</a:t>
            </a: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BC408A2E-1FEE-4E97-9356-56C839E77378}"/>
              </a:ext>
            </a:extLst>
          </p:cNvPr>
          <p:cNvCxnSpPr>
            <a:stCxn id="59" idx="1"/>
            <a:endCxn id="55" idx="3"/>
          </p:cNvCxnSpPr>
          <p:nvPr/>
        </p:nvCxnSpPr>
        <p:spPr>
          <a:xfrm flipH="1">
            <a:off x="2647950" y="5953125"/>
            <a:ext cx="876300" cy="0"/>
          </a:xfrm>
          <a:prstGeom prst="straightConnector1">
            <a:avLst/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cxnSp>
        <p:nvCxnSpPr>
          <p:cNvPr id="64" name="连接符: 肘形 63">
            <a:extLst>
              <a:ext uri="{FF2B5EF4-FFF2-40B4-BE49-F238E27FC236}">
                <a16:creationId xmlns:a16="http://schemas.microsoft.com/office/drawing/2014/main" id="{92255389-7A2D-4476-9407-84A543E9165C}"/>
              </a:ext>
            </a:extLst>
          </p:cNvPr>
          <p:cNvCxnSpPr>
            <a:stCxn id="59" idx="0"/>
            <a:endCxn id="37" idx="2"/>
          </p:cNvCxnSpPr>
          <p:nvPr/>
        </p:nvCxnSpPr>
        <p:spPr>
          <a:xfrm flipH="1" flipV="1">
            <a:off x="4667250" y="5162550"/>
            <a:ext cx="476250" cy="5143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32C9FF"/>
            </a:solidFill>
            <a:prstDash val="solid"/>
            <a:tailEnd type="triangle" w="med" len="med"/>
          </a:ln>
        </p:spPr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E4533BDB-643B-4CA0-AA93-AD077F66ED5E}"/>
              </a:ext>
            </a:extLst>
          </p:cNvPr>
          <p:cNvSpPr>
            <a:spLocks noGrp="1"/>
          </p:cNvSpPr>
          <p:nvPr/>
        </p:nvSpPr>
        <p:spPr>
          <a:xfrm>
            <a:off x="2657475" y="5476875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WebRTC/HLS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D1DE94B9-0DFF-4FF1-A6D8-D0B3D9774DAC}"/>
              </a:ext>
            </a:extLst>
          </p:cNvPr>
          <p:cNvSpPr>
            <a:spLocks noGrp="1"/>
          </p:cNvSpPr>
          <p:nvPr/>
        </p:nvSpPr>
        <p:spPr>
          <a:xfrm>
            <a:off x="5267325" y="5257800"/>
            <a:ext cx="1190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RTSP pull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2DC4109B-4621-4BC6-BD05-A3340B00F452}"/>
              </a:ext>
            </a:extLst>
          </p:cNvPr>
          <p:cNvSpPr>
            <a:spLocks noGrp="1"/>
          </p:cNvSpPr>
          <p:nvPr/>
        </p:nvSpPr>
        <p:spPr>
          <a:xfrm>
            <a:off x="7334250" y="5524500"/>
            <a:ext cx="390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事件流 → 云端处置</a:t>
            </a:r>
          </a:p>
          <a:p>
            <a:pPr>
              <a:def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媒体流 → 园区实时查看</a:t>
            </a:r>
          </a:p>
        </p:txBody>
      </p:sp>
    </p:spTree>
    <p:extLst>
      <p:ext uri="{BB962C8B-B14F-4D97-AF65-F5344CB8AC3E}">
        <p14:creationId xmlns:p14="http://schemas.microsoft.com/office/powerpoint/2010/main" val="1552230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2B8EE7B2-F372-4FBE-B359-E05814FAE1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7B8CEDB8-DEEB-4021-A235-B8FCD8D47C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2607A1-7F10-43F8-8745-2EBB1C40D041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E6719E-8643-45AA-B5ED-6A0900C6EC90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03 / 核心架构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A4E356-D0FD-44EA-A93F-6749400C3D82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网络路径与访问边界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2FD10B-83D2-4493-966C-AA82F6C9CCC7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FCF9C1A-AB09-4393-8FAA-30D17BA1DAE2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用统一入口、园区内网与出站通知，限定各条链路的暴露范围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28F48B7-035E-4353-AD10-5A4943E70CE3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CFAE326-D2FE-4887-A323-048B21B95B0D}"/>
              </a:ext>
            </a:extLst>
          </p:cNvPr>
          <p:cNvGraphicFramePr/>
          <p:nvPr/>
        </p:nvGraphicFramePr>
        <p:xfrm>
          <a:off x="619125" y="2238375"/>
          <a:ext cx="10944225" cy="3857625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8E0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通信路径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>
                      <a:solidFill>
                        <a:srgbClr val="2B81B3"/>
                      </a:solidFill>
                      <a:prstDash val="soli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124B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8E0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协议 / 端口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>
                      <a:solidFill>
                        <a:srgbClr val="2B81B3"/>
                      </a:solidFill>
                      <a:prstDash val="soli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124B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8E0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访问边界与作用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>
                      <a:solidFill>
                        <a:srgbClr val="2B81B3"/>
                      </a:solidFill>
                      <a:prstDash val="soli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124B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PWA / 桌面浏览器 → Nginx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HTTPS 443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浏览器统一入口；会话与摄像头归属鉴权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Nginx → Go 业务服务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内部 HTTP API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同一后端网络；业务服务端口不直接对外开放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Go 业务服务 → PostgreSQL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TCP 5432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私有网络；五服务按 schema / 角色隔离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Atlas → Mosquitto / device-service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MQTT/TLS 8883 · QoS 1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园区内网；独立设备凭据与 Topic ACL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MediaMTX → Atlas 处理后视频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RTSP 554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园区内网；MediaMTX 主动拉取预览流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桌面浏览器 → MediaMTX / Nginx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WebRTC UDP 8189 / HLS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UDP 仅限园区；无法直连时经 HTTPS HLS 回退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push-service → 浏览器推送服务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出站 HTTPS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仅发送通知；无需开放公网入站端口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B2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Atlas → Nginx edge API</a:t>
                      </a:r>
                    </a:p>
                  </a:txBody>
                  <a:tcPr>
                    <a:lnL w="5715">
                      <a:solidFill>
                        <a:srgbClr val="2B81B3"/>
                      </a:solidFill>
                      <a:prstDash val="soli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HTTPS 443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设备激活与截图上传；原始 RTSP 不交给浏览器</a:t>
                      </a:r>
                    </a:p>
                  </a:txBody>
                  <a:tcPr>
                    <a:lnL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2B81B3"/>
                      </a:solidFill>
                      <a:prstDash val="solid"/>
                    </a:lnR>
                    <a:lnT w="5715" cap="flat" cmpd="sng" algn="ctr">
                      <a:solidFill>
                        <a:srgbClr val="2B81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2B81B3"/>
                      </a:solidFill>
                      <a:prstDash val="solid"/>
                    </a:lnB>
                    <a:solidFill>
                      <a:srgbClr val="09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3D9E8EB8-F4C6-4C19-93E2-1353EA7B636D}"/>
              </a:ext>
            </a:extLst>
          </p:cNvPr>
          <p:cNvSpPr>
            <a:spLocks noGrp="1"/>
          </p:cNvSpPr>
          <p:nvPr/>
        </p:nvSpPr>
        <p:spPr>
          <a:xfrm>
            <a:off x="619125" y="61912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实时媒体与事件通知各走其路；数据库和业务服务保持在内部网络。</a:t>
            </a:r>
          </a:p>
        </p:txBody>
      </p:sp>
    </p:spTree>
    <p:extLst>
      <p:ext uri="{BB962C8B-B14F-4D97-AF65-F5344CB8AC3E}">
        <p14:creationId xmlns:p14="http://schemas.microsoft.com/office/powerpoint/2010/main" val="98132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>
            <a:extLst>
              <a:ext uri="{FF2B5EF4-FFF2-40B4-BE49-F238E27FC236}">
                <a16:creationId xmlns:a16="http://schemas.microsoft.com/office/drawing/2014/main" id="{CFB0B2BE-C695-4AC4-82CB-562E2F4499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01E3CB8-D806-47F7-8FBA-4B857E0C98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26166C-13E1-4CBB-916C-ECFF796E569E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05FEF4-C025-4DA2-A74F-59E6A3F6FC3D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04 / 核心亮点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2D1FC6-9DEC-4585-B535-06BC734B8723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多行业扩展的四个支点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F4EEC1-A24D-4E07-A6A3-C011ED3A9C12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B845D0E-17D8-4A82-B4B6-03FBB407D7D1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平台能力和场景算法解耦，先验证一条真实链路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816B27-5204-4980-9830-E0746A2F153F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3932BC-0EA7-48B2-A17A-C8E75F16196F}"/>
              </a:ext>
            </a:extLst>
          </p:cNvPr>
          <p:cNvSpPr>
            <a:spLocks noGrp="1"/>
          </p:cNvSpPr>
          <p:nvPr/>
        </p:nvSpPr>
        <p:spPr>
          <a:xfrm>
            <a:off x="619125" y="2381250"/>
            <a:ext cx="57150" cy="115252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5C413-999E-4F61-AD74-59E490937860}"/>
              </a:ext>
            </a:extLst>
          </p:cNvPr>
          <p:cNvSpPr>
            <a:spLocks noGrp="1"/>
          </p:cNvSpPr>
          <p:nvPr/>
        </p:nvSpPr>
        <p:spPr>
          <a:xfrm>
            <a:off x="857250" y="2362200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边缘识别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EB144B-C8B2-4293-BE0B-96FA85A2C6A6}"/>
              </a:ext>
            </a:extLst>
          </p:cNvPr>
          <p:cNvSpPr>
            <a:spLocks noGrp="1"/>
          </p:cNvSpPr>
          <p:nvPr/>
        </p:nvSpPr>
        <p:spPr>
          <a:xfrm>
            <a:off x="857250" y="3000375"/>
            <a:ext cx="4943475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现场完成模型推理，降低中心端负担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C2040F-A58E-449B-A95D-EBB064062C75}"/>
              </a:ext>
            </a:extLst>
          </p:cNvPr>
          <p:cNvSpPr>
            <a:spLocks noGrp="1"/>
          </p:cNvSpPr>
          <p:nvPr/>
        </p:nvSpPr>
        <p:spPr>
          <a:xfrm>
            <a:off x="6200775" y="2381250"/>
            <a:ext cx="57150" cy="11525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8A3ADD-636F-4089-9DF6-B1814F6F1CA9}"/>
              </a:ext>
            </a:extLst>
          </p:cNvPr>
          <p:cNvSpPr>
            <a:spLocks noGrp="1"/>
          </p:cNvSpPr>
          <p:nvPr/>
        </p:nvSpPr>
        <p:spPr>
          <a:xfrm>
            <a:off x="6438900" y="2362200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规则驱动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6C3991-3C23-4629-944B-42CE23890373}"/>
              </a:ext>
            </a:extLst>
          </p:cNvPr>
          <p:cNvSpPr>
            <a:spLocks noGrp="1"/>
          </p:cNvSpPr>
          <p:nvPr/>
        </p:nvSpPr>
        <p:spPr>
          <a:xfrm>
            <a:off x="6438900" y="3000375"/>
            <a:ext cx="4943475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检测与告警分开配置，按需触发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1B4CA6-0EF8-45CA-8442-91871C20D2DD}"/>
              </a:ext>
            </a:extLst>
          </p:cNvPr>
          <p:cNvSpPr>
            <a:spLocks noGrp="1"/>
          </p:cNvSpPr>
          <p:nvPr/>
        </p:nvSpPr>
        <p:spPr>
          <a:xfrm>
            <a:off x="619125" y="4067175"/>
            <a:ext cx="57150" cy="11525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88FE56-D636-47CB-BC1C-0294E819C57D}"/>
              </a:ext>
            </a:extLst>
          </p:cNvPr>
          <p:cNvSpPr>
            <a:spLocks noGrp="1"/>
          </p:cNvSpPr>
          <p:nvPr/>
        </p:nvSpPr>
        <p:spPr>
          <a:xfrm>
            <a:off x="857250" y="4048125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统一处置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8E1159-5253-4140-9A28-613407000947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4943475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截图、状态与处理记录集中追踪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716B4B-288E-4CCD-B9E6-AF364F6F76FE}"/>
              </a:ext>
            </a:extLst>
          </p:cNvPr>
          <p:cNvSpPr>
            <a:spLocks noGrp="1"/>
          </p:cNvSpPr>
          <p:nvPr/>
        </p:nvSpPr>
        <p:spPr>
          <a:xfrm>
            <a:off x="6200775" y="4067175"/>
            <a:ext cx="57150" cy="11525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18D117-2E52-4272-B0B5-1FF290A3652D}"/>
              </a:ext>
            </a:extLst>
          </p:cNvPr>
          <p:cNvSpPr>
            <a:spLocks noGrp="1"/>
          </p:cNvSpPr>
          <p:nvPr/>
        </p:nvSpPr>
        <p:spPr>
          <a:xfrm>
            <a:off x="6438900" y="4048125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底座复用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8BFBFC-AB3C-41AC-B56F-A6FCD4E81684}"/>
              </a:ext>
            </a:extLst>
          </p:cNvPr>
          <p:cNvSpPr>
            <a:spLocks noGrp="1"/>
          </p:cNvSpPr>
          <p:nvPr/>
        </p:nvSpPr>
        <p:spPr>
          <a:xfrm>
            <a:off x="6438900" y="4686300"/>
            <a:ext cx="4943475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接入、视频、事件和通知能力共享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B72A417-40A1-48D2-925F-F9675FB3643D}"/>
              </a:ext>
            </a:extLst>
          </p:cNvPr>
          <p:cNvSpPr>
            <a:spLocks noGrp="1"/>
          </p:cNvSpPr>
          <p:nvPr/>
        </p:nvSpPr>
        <p:spPr>
          <a:xfrm>
            <a:off x="619125" y="5838825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dirty="0" err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习近平：推动互联网、大数据、人工智能同实体经济深度融合</a:t>
            </a:r>
            <a:r>
              <a:rPr sz="1500" b="1" dirty="0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20065D4-D72F-46BB-A834-056FFDBD42BB}"/>
              </a:ext>
            </a:extLst>
          </p:cNvPr>
          <p:cNvSpPr>
            <a:spLocks noGrp="1"/>
          </p:cNvSpPr>
          <p:nvPr/>
        </p:nvSpPr>
        <p:spPr>
          <a:xfrm>
            <a:off x="619125" y="6143625"/>
            <a:ext cx="108394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项目实践：把算法部署到</a:t>
            </a:r>
            <a:r>
              <a:rPr sz="12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 Atlas </a:t>
            </a:r>
            <a:r>
              <a:rPr sz="1200" b="0" dirty="0" err="1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边缘端，验证现场识别与云端业务协同</a:t>
            </a:r>
            <a:r>
              <a:rPr sz="1200" b="0" dirty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72316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906DC4F6-BA70-4A37-875D-F7021265AF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B4599C9-55F0-4BA4-A2BD-A9B5C7AF25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3DF60E5-90CE-4248-A0BB-B4EA3F585B75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2F3EAD-3E4D-4CA4-8405-AA956B621EBA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05 / 边缘计算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7E5302-75EB-4F4A-8E25-5BC617C43432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Atlas 200I DK A2：模型落在现场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F6F5AE8-84DD-489E-90EB-6543BDDD8E8B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BB9C52-E3E5-4476-A647-A554089FA338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板端已有模型加载与合成视频处理验证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7F4845-1BA5-4C2B-913C-FC076F0BFB97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4A08DF-C4FE-4FE4-B534-B0D0302B8B5A}"/>
              </a:ext>
            </a:extLst>
          </p:cNvPr>
          <p:cNvSpPr>
            <a:spLocks noGrp="1"/>
          </p:cNvSpPr>
          <p:nvPr/>
        </p:nvSpPr>
        <p:spPr>
          <a:xfrm>
            <a:off x="609600" y="2143125"/>
            <a:ext cx="5876925" cy="328612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98DBE41-CEAF-46B8-BAC5-599898FF2F8E}"/>
              </a:ext>
            </a:extLst>
          </p:cNvPr>
          <p:cNvSpPr>
            <a:spLocks noGrp="1"/>
          </p:cNvSpPr>
          <p:nvPr/>
        </p:nvSpPr>
        <p:spPr>
          <a:xfrm>
            <a:off x="609600" y="2143125"/>
            <a:ext cx="5876925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4D44E8DD-6A44-4D22-B210-C919BDADF1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00100" y="2490224"/>
            <a:ext cx="5476875" cy="2420477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207E050-9CA2-41E4-A1ED-C7851C0F9A80}"/>
              </a:ext>
            </a:extLst>
          </p:cNvPr>
          <p:cNvSpPr>
            <a:spLocks noGrp="1"/>
          </p:cNvSpPr>
          <p:nvPr/>
        </p:nvSpPr>
        <p:spPr>
          <a:xfrm>
            <a:off x="800100" y="5114925"/>
            <a:ext cx="5476875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rPr>
              <a:t>现有硬件产品图，非团队部署实拍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70AD7C-88FB-4A5F-9D00-1B68F8B985BE}"/>
              </a:ext>
            </a:extLst>
          </p:cNvPr>
          <p:cNvSpPr>
            <a:spLocks noGrp="1"/>
          </p:cNvSpPr>
          <p:nvPr/>
        </p:nvSpPr>
        <p:spPr>
          <a:xfrm>
            <a:off x="7000875" y="2295525"/>
            <a:ext cx="57150" cy="40005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20C21C9-63A7-4A5D-989E-A58AA47F4073}"/>
              </a:ext>
            </a:extLst>
          </p:cNvPr>
          <p:cNvSpPr>
            <a:spLocks noGrp="1"/>
          </p:cNvSpPr>
          <p:nvPr/>
        </p:nvSpPr>
        <p:spPr>
          <a:xfrm>
            <a:off x="7191375" y="2266950"/>
            <a:ext cx="383857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现场推理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D7FF41-E5C0-4D18-8009-ACCB0C84D648}"/>
              </a:ext>
            </a:extLst>
          </p:cNvPr>
          <p:cNvSpPr>
            <a:spLocks noGrp="1"/>
          </p:cNvSpPr>
          <p:nvPr/>
        </p:nvSpPr>
        <p:spPr>
          <a:xfrm>
            <a:off x="7200900" y="3019425"/>
            <a:ext cx="40957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Ascend 310B4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2CD753F-8E9D-4D13-A80D-F74C1C98B310}"/>
              </a:ext>
            </a:extLst>
          </p:cNvPr>
          <p:cNvSpPr>
            <a:spLocks noGrp="1"/>
          </p:cNvSpPr>
          <p:nvPr/>
        </p:nvSpPr>
        <p:spPr>
          <a:xfrm>
            <a:off x="7200900" y="3629025"/>
            <a:ext cx="4095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YOLO11n / 640 模型流程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073F990-39D1-4FAC-ABA1-744635E406B6}"/>
              </a:ext>
            </a:extLst>
          </p:cNvPr>
          <p:cNvSpPr>
            <a:spLocks noGrp="1"/>
          </p:cNvSpPr>
          <p:nvPr/>
        </p:nvSpPr>
        <p:spPr>
          <a:xfrm>
            <a:off x="7200900" y="4781550"/>
            <a:ext cx="4010025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真实相机 → 浏览器播放链路仍待联调验收。</a:t>
            </a:r>
          </a:p>
        </p:txBody>
      </p:sp>
    </p:spTree>
    <p:extLst>
      <p:ext uri="{BB962C8B-B14F-4D97-AF65-F5344CB8AC3E}">
        <p14:creationId xmlns:p14="http://schemas.microsoft.com/office/powerpoint/2010/main" val="905598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17A1828A-23DE-4EA4-BBBC-031E1B93CD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4AC99D8-D183-4F90-B0FB-4AC68F529E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A3FAD7-96B7-42FD-A948-53C5E15F7EAB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400427E-A119-4087-B678-5BC3200BF441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06 / 场景演示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2C5362-33B1-430B-9EA4-AC6509A0A8C1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教室可见行为：用真实视频说明场景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C63686B-A437-47EF-AE25-8329DF74D8FD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1DC15-1A22-425E-9A74-8275C5189200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15 秒课堂素材；放映时点击视频画面播放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F25FEC-3458-4E14-B8F5-DFDBCEE52158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B0A2CA5-FACB-4412-B738-DEA7AF9732D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4" b="44"/>
          <a:stretch>
            <a:fillRect/>
          </a:stretch>
        </p:blipFill>
        <p:spPr>
          <a:xfrm>
            <a:off x="619125" y="2047875"/>
            <a:ext cx="7219950" cy="4057650"/>
          </a:xfrm>
          <a:prstGeom prst="rect">
            <a:avLst/>
          </a:prstGeom>
        </p:spPr>
      </p:pic>
      <p:pic>
        <p:nvPicPr>
          <p:cNvPr id="19" name="课堂行为演示视频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19125" y="2047875"/>
            <a:ext cx="7219950" cy="405765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2E6E0EF-36D6-4A89-856B-DCB84A2AB78F}"/>
              </a:ext>
            </a:extLst>
          </p:cNvPr>
          <p:cNvSpPr>
            <a:spLocks noGrp="1"/>
          </p:cNvSpPr>
          <p:nvPr/>
        </p:nvSpPr>
        <p:spPr>
          <a:xfrm>
            <a:off x="619125" y="2047875"/>
            <a:ext cx="7219950" cy="40576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056676-858A-408C-8E5E-F5DDCAB342E6}"/>
              </a:ext>
            </a:extLst>
          </p:cNvPr>
          <p:cNvSpPr>
            <a:spLocks noGrp="1"/>
          </p:cNvSpPr>
          <p:nvPr/>
        </p:nvSpPr>
        <p:spPr>
          <a:xfrm>
            <a:off x="619125" y="2047875"/>
            <a:ext cx="7219950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F93BBE1-6431-45F5-9E64-5F32D8FE42E6}"/>
              </a:ext>
            </a:extLst>
          </p:cNvPr>
          <p:cNvSpPr>
            <a:spLocks noGrp="1"/>
          </p:cNvSpPr>
          <p:nvPr/>
        </p:nvSpPr>
        <p:spPr>
          <a:xfrm>
            <a:off x="8239125" y="2257425"/>
            <a:ext cx="3048000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首发试点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015BC0-2402-45BA-AAA1-E473BB0157D4}"/>
              </a:ext>
            </a:extLst>
          </p:cNvPr>
          <p:cNvSpPr>
            <a:spLocks noGrp="1"/>
          </p:cNvSpPr>
          <p:nvPr/>
        </p:nvSpPr>
        <p:spPr>
          <a:xfrm>
            <a:off x="8239125" y="2943225"/>
            <a:ext cx="3048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举手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ECBD51-BB6A-4B53-92C0-573ABCEC82D3}"/>
              </a:ext>
            </a:extLst>
          </p:cNvPr>
          <p:cNvSpPr>
            <a:spLocks noGrp="1"/>
          </p:cNvSpPr>
          <p:nvPr/>
        </p:nvSpPr>
        <p:spPr>
          <a:xfrm>
            <a:off x="8239125" y="3714750"/>
            <a:ext cx="3048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阅读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D7D686-B5CB-4F72-8D15-B248A948FFF3}"/>
              </a:ext>
            </a:extLst>
          </p:cNvPr>
          <p:cNvSpPr>
            <a:spLocks noGrp="1"/>
          </p:cNvSpPr>
          <p:nvPr/>
        </p:nvSpPr>
        <p:spPr>
          <a:xfrm>
            <a:off x="8239125" y="4486275"/>
            <a:ext cx="3048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书写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BBF50D7-8283-478B-BED0-2BFE8F80231E}"/>
              </a:ext>
            </a:extLst>
          </p:cNvPr>
          <p:cNvSpPr>
            <a:spLocks noGrp="1"/>
          </p:cNvSpPr>
          <p:nvPr/>
        </p:nvSpPr>
        <p:spPr>
          <a:xfrm>
            <a:off x="8239125" y="5324475"/>
            <a:ext cx="2962275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C802DF-3E46-45AE-B87D-C35FAA83798B}"/>
              </a:ext>
            </a:extLst>
          </p:cNvPr>
          <p:cNvSpPr>
            <a:spLocks noGrp="1"/>
          </p:cNvSpPr>
          <p:nvPr/>
        </p:nvSpPr>
        <p:spPr>
          <a:xfrm>
            <a:off x="8239125" y="5553075"/>
            <a:ext cx="30861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真实课堂素材；未叠加模型识别结果</a:t>
            </a:r>
          </a:p>
        </p:txBody>
      </p:sp>
    </p:spTree>
    <p:extLst>
      <p:ext uri="{BB962C8B-B14F-4D97-AF65-F5344CB8AC3E}">
        <p14:creationId xmlns:p14="http://schemas.microsoft.com/office/powerpoint/2010/main" val="127554282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53EC6368-31F9-4CDF-9471-597E1BCE01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27D9BA66-288C-471A-9573-020F5BBE95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6DCE4E-6020-4C2E-8F0E-441A70D6F753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75E9D8-4F08-48C9-9F8C-8D1FE05DDD18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07 / 规则机制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D4B6F6-2B59-4A28-8F1C-49D1848F2D25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检测结果与告警分开管理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93FDB1-A3CA-4B06-B3FF-83CB8CB6EFDA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42C6CD1-1BF4-4AF9-9F60-AAF3CB38CF5E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识别持续运行；告警由业务规则决定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87DE047-9BF4-4CB0-913C-D7E246E46BD2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0D19BD-BFE2-497B-950D-F399C7866347}"/>
              </a:ext>
            </a:extLst>
          </p:cNvPr>
          <p:cNvSpPr>
            <a:spLocks noGrp="1"/>
          </p:cNvSpPr>
          <p:nvPr/>
        </p:nvSpPr>
        <p:spPr>
          <a:xfrm>
            <a:off x="619125" y="2409825"/>
            <a:ext cx="5057775" cy="31432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B75C42C-EF97-43B9-9523-D3DC63AFDFF3}"/>
              </a:ext>
            </a:extLst>
          </p:cNvPr>
          <p:cNvSpPr>
            <a:spLocks noGrp="1"/>
          </p:cNvSpPr>
          <p:nvPr/>
        </p:nvSpPr>
        <p:spPr>
          <a:xfrm>
            <a:off x="619125" y="2409825"/>
            <a:ext cx="5057775" cy="31432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6F9AD48-8EDD-49E9-B071-4500F776722B}"/>
              </a:ext>
            </a:extLst>
          </p:cNvPr>
          <p:cNvSpPr>
            <a:spLocks noGrp="1"/>
          </p:cNvSpPr>
          <p:nvPr/>
        </p:nvSpPr>
        <p:spPr>
          <a:xfrm>
            <a:off x="619125" y="2409825"/>
            <a:ext cx="5057775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254AFF-E9D9-4803-BEFE-2E6D319AEAD1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42672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检测输出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BE10BB-3DB1-4C62-B6B6-C7DF2CD50C99}"/>
              </a:ext>
            </a:extLst>
          </p:cNvPr>
          <p:cNvSpPr>
            <a:spLocks noGrp="1"/>
          </p:cNvSpPr>
          <p:nvPr/>
        </p:nvSpPr>
        <p:spPr>
          <a:xfrm>
            <a:off x="904875" y="3590925"/>
            <a:ext cx="4210050" cy="1647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行为类别</a:t>
            </a:r>
          </a:p>
          <a:p>
            <a: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目标框</a:t>
            </a:r>
          </a:p>
          <a:p>
            <a:pPr>
              <a:def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置信度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029E1C-E68D-4CCC-B6BE-8FF82D0781A1}"/>
              </a:ext>
            </a:extLst>
          </p:cNvPr>
          <p:cNvSpPr>
            <a:spLocks noGrp="1"/>
          </p:cNvSpPr>
          <p:nvPr/>
        </p:nvSpPr>
        <p:spPr>
          <a:xfrm>
            <a:off x="6486525" y="2409825"/>
            <a:ext cx="5057775" cy="3143250"/>
          </a:xfrm>
          <a:prstGeom prst="rect">
            <a:avLst/>
          </a:prstGeom>
          <a:solidFill>
            <a:srgbClr val="0B2C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EA81EC-76D0-4CF9-B93E-7DAFC57A629E}"/>
              </a:ext>
            </a:extLst>
          </p:cNvPr>
          <p:cNvSpPr>
            <a:spLocks noGrp="1"/>
          </p:cNvSpPr>
          <p:nvPr/>
        </p:nvSpPr>
        <p:spPr>
          <a:xfrm>
            <a:off x="6486525" y="2409825"/>
            <a:ext cx="5057775" cy="3143250"/>
          </a:xfrm>
          <a:prstGeom prst="rect">
            <a:avLst/>
          </a:prstGeom>
          <a:noFill/>
          <a:ln w="13335">
            <a:solidFill>
              <a:srgbClr val="F5C8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6B6995-1756-4F47-AE32-24DE39BF0469}"/>
              </a:ext>
            </a:extLst>
          </p:cNvPr>
          <p:cNvSpPr>
            <a:spLocks noGrp="1"/>
          </p:cNvSpPr>
          <p:nvPr/>
        </p:nvSpPr>
        <p:spPr>
          <a:xfrm>
            <a:off x="6486525" y="2409825"/>
            <a:ext cx="5057775" cy="5715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F62066-DAFA-4DDC-BEB7-AD900F236C44}"/>
              </a:ext>
            </a:extLst>
          </p:cNvPr>
          <p:cNvSpPr>
            <a:spLocks noGrp="1"/>
          </p:cNvSpPr>
          <p:nvPr/>
        </p:nvSpPr>
        <p:spPr>
          <a:xfrm>
            <a:off x="6762750" y="2762250"/>
            <a:ext cx="42672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告警规则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E1B7A91-B4B6-47CB-889F-7594E3756167}"/>
              </a:ext>
            </a:extLst>
          </p:cNvPr>
          <p:cNvSpPr>
            <a:spLocks noGrp="1"/>
          </p:cNvSpPr>
          <p:nvPr/>
        </p:nvSpPr>
        <p:spPr>
          <a:xfrm>
            <a:off x="6772275" y="3590925"/>
            <a:ext cx="4210050" cy="1647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开关 / 阈值</a:t>
            </a:r>
          </a:p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持续时间 / 等级</a:t>
            </a:r>
          </a:p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命中后生成事件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C6407AB-57D3-4899-9AE9-9CB8DE47971A}"/>
              </a:ext>
            </a:extLst>
          </p:cNvPr>
          <p:cNvSpPr>
            <a:spLocks noGrp="1"/>
          </p:cNvSpPr>
          <p:nvPr/>
        </p:nvSpPr>
        <p:spPr>
          <a:xfrm>
            <a:off x="628650" y="5800725"/>
            <a:ext cx="108013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课堂告警默认关闭</a:t>
            </a:r>
          </a:p>
        </p:txBody>
      </p:sp>
    </p:spTree>
    <p:extLst>
      <p:ext uri="{BB962C8B-B14F-4D97-AF65-F5344CB8AC3E}">
        <p14:creationId xmlns:p14="http://schemas.microsoft.com/office/powerpoint/2010/main" val="1683294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5074664-2D22-4679-88C1-7DD1EB485B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04C6B2D-9AB8-4AAC-9CB0-1843AE3FF5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743303-95C4-4088-BD60-E0D5C5B7DF70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A200CC-561F-4E59-B414-2AE8C56733FF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08 / 实时监控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29A6053-246C-4B0B-8239-5EC364A223CA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画面、状态与来源同屏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7DE777-394E-4CC3-8F2F-7C5E225A8558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1CDE40-2E5E-42F7-B35C-17493851BB89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桌面端承担实时监控，移动端聚焦通知与事件详情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70C6BDF-2EC5-4BFA-8CD9-D809B8761963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374E28-CD72-42B6-8180-1C0A5479A9A7}"/>
              </a:ext>
            </a:extLst>
          </p:cNvPr>
          <p:cNvSpPr>
            <a:spLocks noGrp="1"/>
          </p:cNvSpPr>
          <p:nvPr/>
        </p:nvSpPr>
        <p:spPr>
          <a:xfrm>
            <a:off x="619125" y="2266950"/>
            <a:ext cx="57150" cy="40005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84E0B3-158F-4AC5-B9B3-44952417B2F6}"/>
              </a:ext>
            </a:extLst>
          </p:cNvPr>
          <p:cNvSpPr>
            <a:spLocks noGrp="1"/>
          </p:cNvSpPr>
          <p:nvPr/>
        </p:nvSpPr>
        <p:spPr>
          <a:xfrm>
            <a:off x="809625" y="2238375"/>
            <a:ext cx="441007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授权摄像头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0F1B90-1231-45AE-84B5-1D28CF802E44}"/>
              </a:ext>
            </a:extLst>
          </p:cNvPr>
          <p:cNvSpPr>
            <a:spLocks noGrp="1"/>
          </p:cNvSpPr>
          <p:nvPr/>
        </p:nvSpPr>
        <p:spPr>
          <a:xfrm>
            <a:off x="819150" y="3038475"/>
            <a:ext cx="4381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设备筛选与状态查看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F6FF45-C1A5-4559-A254-5DA421B3F70D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43815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WebRTC 优先 / HLS 回退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77FFEC-5433-4741-B871-86F2BA676996}"/>
              </a:ext>
            </a:extLst>
          </p:cNvPr>
          <p:cNvSpPr>
            <a:spLocks noGrp="1"/>
          </p:cNvSpPr>
          <p:nvPr/>
        </p:nvSpPr>
        <p:spPr>
          <a:xfrm>
            <a:off x="819150" y="4829175"/>
            <a:ext cx="42481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统一进入事件详情，查看告警截图与处理记录。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2FCF82CF-F434-4538-A62D-07F9E2334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34050" y="2270654"/>
            <a:ext cx="5695950" cy="3164417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80679CFD-8733-46A8-BD06-D52D3FDD37C9}"/>
              </a:ext>
            </a:extLst>
          </p:cNvPr>
          <p:cNvSpPr>
            <a:spLocks noGrp="1"/>
          </p:cNvSpPr>
          <p:nvPr/>
        </p:nvSpPr>
        <p:spPr>
          <a:xfrm>
            <a:off x="5734050" y="2162175"/>
            <a:ext cx="5695950" cy="338137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576EB52-732D-41B9-817E-3EA83B8B772E}"/>
              </a:ext>
            </a:extLst>
          </p:cNvPr>
          <p:cNvSpPr>
            <a:spLocks noGrp="1"/>
          </p:cNvSpPr>
          <p:nvPr/>
        </p:nvSpPr>
        <p:spPr>
          <a:xfrm>
            <a:off x="5734050" y="5676900"/>
            <a:ext cx="57245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FA9C4"/>
                </a:solidFill>
                <a:latin typeface="PingFang SC"/>
                <a:ea typeface="PingFang SC"/>
                <a:cs typeface="PingFang SC"/>
              </a:rPr>
              <a:t>真实系统监控页；当前未连接真实相机视频</a:t>
            </a:r>
          </a:p>
        </p:txBody>
      </p:sp>
    </p:spTree>
    <p:extLst>
      <p:ext uri="{BB962C8B-B14F-4D97-AF65-F5344CB8AC3E}">
        <p14:creationId xmlns:p14="http://schemas.microsoft.com/office/powerpoint/2010/main" val="990091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片 26">
            <a:extLst>
              <a:ext uri="{FF2B5EF4-FFF2-40B4-BE49-F238E27FC236}">
                <a16:creationId xmlns:a16="http://schemas.microsoft.com/office/drawing/2014/main" id="{102BE91D-728E-4BC8-A9E6-E4EB1A09E1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C2C0D37-3DD7-4CF4-88BA-9325076226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180743-1C91-452F-8908-99A8B284CB69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A01E18-B8AC-49F7-BA8F-DE422E732ED6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09 / 事件处置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4F87AA8-A3A5-422C-BF25-449A0E38727B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每次告警，都有证据与处理记录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0C1963-776F-4E38-8A6F-AAB83FD59085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77FA7A-D554-4153-AD9E-35A6E6E63DEF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让异常从发生到结案可追踪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741484-6DF3-4B6E-AFA0-4500A72764B8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3E9A0C-499C-41A4-925E-355DB47BF4D8}"/>
              </a:ext>
            </a:extLst>
          </p:cNvPr>
          <p:cNvSpPr>
            <a:spLocks noGrp="1"/>
          </p:cNvSpPr>
          <p:nvPr/>
        </p:nvSpPr>
        <p:spPr>
          <a:xfrm>
            <a:off x="1162050" y="3200400"/>
            <a:ext cx="9906000" cy="28575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248262-9FEF-4402-A53D-4626EDBFFA88}"/>
              </a:ext>
            </a:extLst>
          </p:cNvPr>
          <p:cNvSpPr>
            <a:spLocks noGrp="1"/>
          </p:cNvSpPr>
          <p:nvPr/>
        </p:nvSpPr>
        <p:spPr>
          <a:xfrm>
            <a:off x="1438275" y="3038475"/>
            <a:ext cx="266700" cy="3619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DCCFFBA-F12B-436A-A8DB-8F0599792044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219075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8ABC8E-585B-47EA-997B-18297FACE03D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22669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规则命中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02D455-9C0C-45BB-A422-FFFB2CE8D621}"/>
              </a:ext>
            </a:extLst>
          </p:cNvPr>
          <p:cNvSpPr>
            <a:spLocks noGrp="1"/>
          </p:cNvSpPr>
          <p:nvPr/>
        </p:nvSpPr>
        <p:spPr>
          <a:xfrm>
            <a:off x="666750" y="4286250"/>
            <a:ext cx="23907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时间、设备、等级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CFCCC3-C673-45E2-932B-B25831F21D2D}"/>
              </a:ext>
            </a:extLst>
          </p:cNvPr>
          <p:cNvSpPr>
            <a:spLocks noGrp="1"/>
          </p:cNvSpPr>
          <p:nvPr/>
        </p:nvSpPr>
        <p:spPr>
          <a:xfrm>
            <a:off x="4276725" y="3038475"/>
            <a:ext cx="266700" cy="3619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0971D4A-02B0-495B-83FF-88E13ED72D13}"/>
              </a:ext>
            </a:extLst>
          </p:cNvPr>
          <p:cNvSpPr>
            <a:spLocks noGrp="1"/>
          </p:cNvSpPr>
          <p:nvPr/>
        </p:nvSpPr>
        <p:spPr>
          <a:xfrm>
            <a:off x="3505200" y="2457450"/>
            <a:ext cx="219075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BDD1961-16E6-4EF8-9B50-827EBFC98F99}"/>
              </a:ext>
            </a:extLst>
          </p:cNvPr>
          <p:cNvSpPr>
            <a:spLocks noGrp="1"/>
          </p:cNvSpPr>
          <p:nvPr/>
        </p:nvSpPr>
        <p:spPr>
          <a:xfrm>
            <a:off x="3505200" y="3619500"/>
            <a:ext cx="22669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留存截图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F5D48C-0FBF-4842-85AD-7D3E0CBCE066}"/>
              </a:ext>
            </a:extLst>
          </p:cNvPr>
          <p:cNvSpPr>
            <a:spLocks noGrp="1"/>
          </p:cNvSpPr>
          <p:nvPr/>
        </p:nvSpPr>
        <p:spPr>
          <a:xfrm>
            <a:off x="3505200" y="4286250"/>
            <a:ext cx="23907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画面证据关联事件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AEFC488-A9FB-4704-ABDC-64BA7F6B5A75}"/>
              </a:ext>
            </a:extLst>
          </p:cNvPr>
          <p:cNvSpPr>
            <a:spLocks noGrp="1"/>
          </p:cNvSpPr>
          <p:nvPr/>
        </p:nvSpPr>
        <p:spPr>
          <a:xfrm>
            <a:off x="7115175" y="3038475"/>
            <a:ext cx="266700" cy="3619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76DA91-9A74-4396-BB7F-E14219422D72}"/>
              </a:ext>
            </a:extLst>
          </p:cNvPr>
          <p:cNvSpPr>
            <a:spLocks noGrp="1"/>
          </p:cNvSpPr>
          <p:nvPr/>
        </p:nvSpPr>
        <p:spPr>
          <a:xfrm>
            <a:off x="6343650" y="2457450"/>
            <a:ext cx="219075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AD49DA-A281-4827-8E1F-57E4E17A3BC8}"/>
              </a:ext>
            </a:extLst>
          </p:cNvPr>
          <p:cNvSpPr>
            <a:spLocks noGrp="1"/>
          </p:cNvSpPr>
          <p:nvPr/>
        </p:nvSpPr>
        <p:spPr>
          <a:xfrm>
            <a:off x="6343650" y="3619500"/>
            <a:ext cx="22669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人员处理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52E3174-3029-4BEE-B335-F42E5DE515E8}"/>
              </a:ext>
            </a:extLst>
          </p:cNvPr>
          <p:cNvSpPr>
            <a:spLocks noGrp="1"/>
          </p:cNvSpPr>
          <p:nvPr/>
        </p:nvSpPr>
        <p:spPr>
          <a:xfrm>
            <a:off x="6343650" y="4286250"/>
            <a:ext cx="23907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解除 / 误报 / 跟进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A1BD661-7F94-40DA-8389-F3EACCC98872}"/>
              </a:ext>
            </a:extLst>
          </p:cNvPr>
          <p:cNvSpPr>
            <a:spLocks noGrp="1"/>
          </p:cNvSpPr>
          <p:nvPr/>
        </p:nvSpPr>
        <p:spPr>
          <a:xfrm>
            <a:off x="9953625" y="3038475"/>
            <a:ext cx="266700" cy="3619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774ED6E-0290-4DA9-971E-1DA65BF581E3}"/>
              </a:ext>
            </a:extLst>
          </p:cNvPr>
          <p:cNvSpPr>
            <a:spLocks noGrp="1"/>
          </p:cNvSpPr>
          <p:nvPr/>
        </p:nvSpPr>
        <p:spPr>
          <a:xfrm>
            <a:off x="9182100" y="2457450"/>
            <a:ext cx="219075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A932D8-2478-48E4-B16C-16DBE27954AB}"/>
              </a:ext>
            </a:extLst>
          </p:cNvPr>
          <p:cNvSpPr>
            <a:spLocks noGrp="1"/>
          </p:cNvSpPr>
          <p:nvPr/>
        </p:nvSpPr>
        <p:spPr>
          <a:xfrm>
            <a:off x="9182100" y="3619500"/>
            <a:ext cx="22669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历史追溯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616BD0D-5676-49BE-A6AA-EAC25DFFD835}"/>
              </a:ext>
            </a:extLst>
          </p:cNvPr>
          <p:cNvSpPr>
            <a:spLocks noGrp="1"/>
          </p:cNvSpPr>
          <p:nvPr/>
        </p:nvSpPr>
        <p:spPr>
          <a:xfrm>
            <a:off x="9182100" y="4286250"/>
            <a:ext cx="23907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状态与时间线保留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DD23C59-E1D8-49DC-B500-21E15832EDB5}"/>
              </a:ext>
            </a:extLst>
          </p:cNvPr>
          <p:cNvSpPr>
            <a:spLocks noGrp="1"/>
          </p:cNvSpPr>
          <p:nvPr/>
        </p:nvSpPr>
        <p:spPr>
          <a:xfrm>
            <a:off x="619125" y="560070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截图上传后保留 24 小时；事件与处理记录继续可查</a:t>
            </a:r>
          </a:p>
        </p:txBody>
      </p:sp>
    </p:spTree>
    <p:extLst>
      <p:ext uri="{BB962C8B-B14F-4D97-AF65-F5344CB8AC3E}">
        <p14:creationId xmlns:p14="http://schemas.microsoft.com/office/powerpoint/2010/main" val="3248385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FF75410C-DCD0-4702-BBB1-49209B0C94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FB318B1-08A2-4B54-8A77-9CB8437946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DB2207D-14A4-4968-AC0B-D7D111E48B05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FB399C-7ED7-4F5A-A34D-6FC3ACC061D1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10 / 移动触达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AF1480-EEDF-4C50-8DEE-4BB7D68B221E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dirty="0"/>
              <a:t>手机端</a:t>
            </a:r>
            <a:r>
              <a:rPr sz="3450" b="1" dirty="0" err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告警，直达事件详情</a:t>
            </a:r>
            <a:endParaRPr sz="3450" b="1" dirty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82FA35-4D43-4289-90F8-DB0485EA4830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F2EFB0-9EF8-42EC-AE85-DDD765570547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让处理人员从通知进入同一条事件记录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BC84E6-73C7-453B-86DE-C6C6665B1A74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8E04DC-3A4E-4CC3-A84A-116CCB5234A5}"/>
              </a:ext>
            </a:extLst>
          </p:cNvPr>
          <p:cNvSpPr>
            <a:spLocks noGrp="1"/>
          </p:cNvSpPr>
          <p:nvPr/>
        </p:nvSpPr>
        <p:spPr>
          <a:xfrm>
            <a:off x="619125" y="2505075"/>
            <a:ext cx="4953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960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endParaRPr sz="9600" b="1" dirty="0">
              <a:solidFill>
                <a:srgbClr val="78E0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172641D-BA00-494A-948E-FB2E399405CB}"/>
              </a:ext>
            </a:extLst>
          </p:cNvPr>
          <p:cNvSpPr>
            <a:spLocks noGrp="1"/>
          </p:cNvSpPr>
          <p:nvPr/>
        </p:nvSpPr>
        <p:spPr>
          <a:xfrm>
            <a:off x="638175" y="4162425"/>
            <a:ext cx="4514850" cy="3810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F6FE58-7886-4375-BF0F-E2518E256D8E}"/>
              </a:ext>
            </a:extLst>
          </p:cNvPr>
          <p:cNvSpPr>
            <a:spLocks noGrp="1"/>
          </p:cNvSpPr>
          <p:nvPr/>
        </p:nvSpPr>
        <p:spPr>
          <a:xfrm>
            <a:off x="6381750" y="2305050"/>
            <a:ext cx="4686300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订阅通知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978D00-8974-433D-8D5D-D50FA279A7B2}"/>
              </a:ext>
            </a:extLst>
          </p:cNvPr>
          <p:cNvSpPr>
            <a:spLocks noGrp="1"/>
          </p:cNvSpPr>
          <p:nvPr/>
        </p:nvSpPr>
        <p:spPr>
          <a:xfrm>
            <a:off x="6381750" y="3333750"/>
            <a:ext cx="4686300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规则命中后推送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FCC420-2DCD-4264-A756-DCD42305ADD9}"/>
              </a:ext>
            </a:extLst>
          </p:cNvPr>
          <p:cNvSpPr>
            <a:spLocks noGrp="1"/>
          </p:cNvSpPr>
          <p:nvPr/>
        </p:nvSpPr>
        <p:spPr>
          <a:xfrm>
            <a:off x="6381750" y="4362450"/>
            <a:ext cx="4686300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鉴权后打开详情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D4F7D3-50E8-4699-98FD-33582D03F927}"/>
              </a:ext>
            </a:extLst>
          </p:cNvPr>
          <p:cNvSpPr>
            <a:spLocks noGrp="1"/>
          </p:cNvSpPr>
          <p:nvPr/>
        </p:nvSpPr>
        <p:spPr>
          <a:xfrm>
            <a:off x="6381750" y="3067050"/>
            <a:ext cx="452437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25CED4E-C362-46F3-94BD-95C103D366A7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524375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C9C3786-EB8F-45BD-A6F0-395A87A834BF}"/>
              </a:ext>
            </a:extLst>
          </p:cNvPr>
          <p:cNvSpPr>
            <a:spLocks noGrp="1"/>
          </p:cNvSpPr>
          <p:nvPr/>
        </p:nvSpPr>
        <p:spPr>
          <a:xfrm>
            <a:off x="619125" y="5572125"/>
            <a:ext cx="107251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00" b="0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dirty="0" err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真实</a:t>
            </a:r>
            <a:r>
              <a:rPr sz="1800" b="0" dirty="0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 Push </a:t>
            </a:r>
            <a:r>
              <a:rPr sz="1800" b="0" dirty="0" err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送达与手机回跳仍待端到端验收</a:t>
            </a:r>
            <a:endParaRPr sz="1800" b="0" dirty="0">
              <a:solidFill>
                <a:srgbClr val="F5C86B"/>
              </a:solidFill>
              <a:latin typeface="PingFang SC"/>
              <a:ea typeface="PingFang SC"/>
              <a:cs typeface="PingFang SC"/>
            </a:endParaRPr>
          </a:p>
        </p:txBody>
      </p:sp>
    </p:spTree>
    <p:extLst>
      <p:ext uri="{BB962C8B-B14F-4D97-AF65-F5344CB8AC3E}">
        <p14:creationId xmlns:p14="http://schemas.microsoft.com/office/powerpoint/2010/main" val="85195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1E909FB4-6FDD-499B-B304-FDD9DFCC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75D3BA03-F828-4B48-9304-AE4F7EFBE2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6EEC863-6688-49FE-A92B-38542F146CF0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06F613-6682-43F9-94B1-7E4D59A2AEDD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11 / 数据分析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104D05-6AD1-4C3B-B580-9947F0870A70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让事件形成可回看的趋势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AD24C1-F083-479B-8181-F6B35B69C7DB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F3855C-EC8A-4161-BA90-FE6741212D9D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统计对象是规则命中事件；此处不展示未经核实的运营数据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528E01-C7A7-470E-BD68-70D2A9ECF9AE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DD8430-8786-4186-975A-E7C9C17CE726}"/>
              </a:ext>
            </a:extLst>
          </p:cNvPr>
          <p:cNvSpPr>
            <a:spLocks noGrp="1"/>
          </p:cNvSpPr>
          <p:nvPr/>
        </p:nvSpPr>
        <p:spPr>
          <a:xfrm>
            <a:off x="619125" y="2295525"/>
            <a:ext cx="10953750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249548-E30D-42BA-804D-4DCFAFCAC5B9}"/>
              </a:ext>
            </a:extLst>
          </p:cNvPr>
          <p:cNvSpPr>
            <a:spLocks noGrp="1"/>
          </p:cNvSpPr>
          <p:nvPr/>
        </p:nvSpPr>
        <p:spPr>
          <a:xfrm>
            <a:off x="638175" y="2495550"/>
            <a:ext cx="28575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趋势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FE3A58-0F3F-4F53-9201-8A92DF6DF28E}"/>
              </a:ext>
            </a:extLst>
          </p:cNvPr>
          <p:cNvSpPr>
            <a:spLocks noGrp="1"/>
          </p:cNvSpPr>
          <p:nvPr/>
        </p:nvSpPr>
        <p:spPr>
          <a:xfrm>
            <a:off x="4057650" y="2600325"/>
            <a:ext cx="70389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今天 / 近 7 天 / 近 30 天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A5A25C5-62FB-4A82-9E7D-97146293AD56}"/>
              </a:ext>
            </a:extLst>
          </p:cNvPr>
          <p:cNvSpPr>
            <a:spLocks noGrp="1"/>
          </p:cNvSpPr>
          <p:nvPr/>
        </p:nvSpPr>
        <p:spPr>
          <a:xfrm>
            <a:off x="619125" y="3571875"/>
            <a:ext cx="109537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3945E1-4B38-4120-A10A-AF7F76A38C7A}"/>
              </a:ext>
            </a:extLst>
          </p:cNvPr>
          <p:cNvSpPr>
            <a:spLocks noGrp="1"/>
          </p:cNvSpPr>
          <p:nvPr/>
        </p:nvSpPr>
        <p:spPr>
          <a:xfrm>
            <a:off x="638175" y="3771900"/>
            <a:ext cx="28575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分布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1B1CB4-B2AD-4A2A-AEED-DEF12A437D5F}"/>
              </a:ext>
            </a:extLst>
          </p:cNvPr>
          <p:cNvSpPr>
            <a:spLocks noGrp="1"/>
          </p:cNvSpPr>
          <p:nvPr/>
        </p:nvSpPr>
        <p:spPr>
          <a:xfrm>
            <a:off x="4057650" y="3876675"/>
            <a:ext cx="70389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等级 / 类型 / 位置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A5B3AA-5A14-4525-ABB9-E339100A5363}"/>
              </a:ext>
            </a:extLst>
          </p:cNvPr>
          <p:cNvSpPr>
            <a:spLocks noGrp="1"/>
          </p:cNvSpPr>
          <p:nvPr/>
        </p:nvSpPr>
        <p:spPr>
          <a:xfrm>
            <a:off x="619125" y="4848225"/>
            <a:ext cx="10953750" cy="2857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2031D9D-B537-4669-BFEB-9F4623AAAB17}"/>
              </a:ext>
            </a:extLst>
          </p:cNvPr>
          <p:cNvSpPr>
            <a:spLocks noGrp="1"/>
          </p:cNvSpPr>
          <p:nvPr/>
        </p:nvSpPr>
        <p:spPr>
          <a:xfrm>
            <a:off x="638175" y="5048250"/>
            <a:ext cx="28575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82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处置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45B5AEF-E95F-49DD-B2E5-0A2271144D06}"/>
              </a:ext>
            </a:extLst>
          </p:cNvPr>
          <p:cNvSpPr>
            <a:spLocks noGrp="1"/>
          </p:cNvSpPr>
          <p:nvPr/>
        </p:nvSpPr>
        <p:spPr>
          <a:xfrm>
            <a:off x="4057650" y="5153025"/>
            <a:ext cx="70389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待跟进 / 已处理 / 误报</a:t>
            </a:r>
          </a:p>
        </p:txBody>
      </p:sp>
    </p:spTree>
    <p:extLst>
      <p:ext uri="{BB962C8B-B14F-4D97-AF65-F5344CB8AC3E}">
        <p14:creationId xmlns:p14="http://schemas.microsoft.com/office/powerpoint/2010/main" val="976116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片 30">
            <a:extLst>
              <a:ext uri="{FF2B5EF4-FFF2-40B4-BE49-F238E27FC236}">
                <a16:creationId xmlns:a16="http://schemas.microsoft.com/office/drawing/2014/main" id="{52C11D98-A87A-407A-80E6-5AC90E173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CDD2C81-7186-4905-AE96-2ACC55826D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3A8DD82-79FF-4D53-9325-1BD3AAF6F412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15B0DB-2E8B-4382-BED3-D12797D5BA6E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12 / CODEARTS 实践 ①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2DA162-A7B6-4323-BCF2-0B4F7CBA346B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CodeArts Agent 驱动模型训练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5DDBCA6-4852-44A8-82C2-0B81AFA028C4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079B94-F552-4026-BBE7-78FA21181EDB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调用项目自定义 Skill，按质量门组织教室行为模型研发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29DEE2-8D3F-499B-B827-743E73F99D84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4730F60-3D48-48E9-8B5C-1E48A72170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978" b="30978"/>
          <a:stretch>
            <a:fillRect/>
          </a:stretch>
        </p:blipFill>
        <p:spPr>
          <a:xfrm>
            <a:off x="619125" y="2209800"/>
            <a:ext cx="6772275" cy="321945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D170F746-0CFD-4FD0-B939-B4EED224E68D}"/>
              </a:ext>
            </a:extLst>
          </p:cNvPr>
          <p:cNvSpPr>
            <a:spLocks noGrp="1"/>
          </p:cNvSpPr>
          <p:nvPr/>
        </p:nvSpPr>
        <p:spPr>
          <a:xfrm>
            <a:off x="619125" y="2209800"/>
            <a:ext cx="6772275" cy="32194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FB250F8-CBF2-461C-A8F5-1FCC65D1C19F}"/>
              </a:ext>
            </a:extLst>
          </p:cNvPr>
          <p:cNvSpPr>
            <a:spLocks noGrp="1"/>
          </p:cNvSpPr>
          <p:nvPr/>
        </p:nvSpPr>
        <p:spPr>
          <a:xfrm>
            <a:off x="800100" y="2362200"/>
            <a:ext cx="54864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CodeArts Agent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B4EF14A-257D-4011-81E3-5444D38ADC85}"/>
              </a:ext>
            </a:extLst>
          </p:cNvPr>
          <p:cNvSpPr>
            <a:spLocks noGrp="1"/>
          </p:cNvSpPr>
          <p:nvPr/>
        </p:nvSpPr>
        <p:spPr>
          <a:xfrm>
            <a:off x="7686675" y="2266950"/>
            <a:ext cx="36766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调用 Skill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6DCCA3-8651-41DA-BD27-2B7BACBBDEDF}"/>
              </a:ext>
            </a:extLst>
          </p:cNvPr>
          <p:cNvSpPr>
            <a:spLocks noGrp="1"/>
          </p:cNvSpPr>
          <p:nvPr/>
        </p:nvSpPr>
        <p:spPr>
          <a:xfrm>
            <a:off x="7686675" y="2733675"/>
            <a:ext cx="370522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$yunshao-classroom-model-rnd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432D74-B57F-4382-B6C9-B57B7694C648}"/>
              </a:ext>
            </a:extLst>
          </p:cNvPr>
          <p:cNvSpPr>
            <a:spLocks noGrp="1"/>
          </p:cNvSpPr>
          <p:nvPr/>
        </p:nvSpPr>
        <p:spPr>
          <a:xfrm>
            <a:off x="7686675" y="3286125"/>
            <a:ext cx="3686175" cy="28575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ECB81-E757-4437-931C-B720F6C465D5}"/>
              </a:ext>
            </a:extLst>
          </p:cNvPr>
          <p:cNvSpPr>
            <a:spLocks noGrp="1"/>
          </p:cNvSpPr>
          <p:nvPr/>
        </p:nvSpPr>
        <p:spPr>
          <a:xfrm>
            <a:off x="7686675" y="3429000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FBA6CA-E7D9-45BF-A6CC-CC16BD348B0F}"/>
              </a:ext>
            </a:extLst>
          </p:cNvPr>
          <p:cNvSpPr>
            <a:spLocks noGrp="1"/>
          </p:cNvSpPr>
          <p:nvPr/>
        </p:nvSpPr>
        <p:spPr>
          <a:xfrm>
            <a:off x="8162925" y="3429000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固定数据版本与类别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35A989-A415-4D67-8965-1C9656963A86}"/>
              </a:ext>
            </a:extLst>
          </p:cNvPr>
          <p:cNvSpPr>
            <a:spLocks noGrp="1"/>
          </p:cNvSpPr>
          <p:nvPr/>
        </p:nvSpPr>
        <p:spPr>
          <a:xfrm>
            <a:off x="7686675" y="3762375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C28BBBD-F1C1-451C-8E9C-74FA193B99BD}"/>
              </a:ext>
            </a:extLst>
          </p:cNvPr>
          <p:cNvSpPr>
            <a:spLocks noGrp="1"/>
          </p:cNvSpPr>
          <p:nvPr/>
        </p:nvSpPr>
        <p:spPr>
          <a:xfrm>
            <a:off x="8162925" y="3762375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训练、验证 YOLO 模型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E10A5F2-60DF-440E-A528-5D297255743D}"/>
              </a:ext>
            </a:extLst>
          </p:cNvPr>
          <p:cNvSpPr>
            <a:spLocks noGrp="1"/>
          </p:cNvSpPr>
          <p:nvPr/>
        </p:nvSpPr>
        <p:spPr>
          <a:xfrm>
            <a:off x="7686675" y="4095750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AD62DF-92AE-4917-92E7-5986FCD8181F}"/>
              </a:ext>
            </a:extLst>
          </p:cNvPr>
          <p:cNvSpPr>
            <a:spLocks noGrp="1"/>
          </p:cNvSpPr>
          <p:nvPr/>
        </p:nvSpPr>
        <p:spPr>
          <a:xfrm>
            <a:off x="8162925" y="4095750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导出并核验 ONNX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7985C16-3E94-4062-88D4-D75CD990190D}"/>
              </a:ext>
            </a:extLst>
          </p:cNvPr>
          <p:cNvSpPr>
            <a:spLocks noGrp="1"/>
          </p:cNvSpPr>
          <p:nvPr/>
        </p:nvSpPr>
        <p:spPr>
          <a:xfrm>
            <a:off x="7686675" y="4429125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DBC490C-9B3C-4E70-88FC-275F707550D0}"/>
              </a:ext>
            </a:extLst>
          </p:cNvPr>
          <p:cNvSpPr>
            <a:spLocks noGrp="1"/>
          </p:cNvSpPr>
          <p:nvPr/>
        </p:nvSpPr>
        <p:spPr>
          <a:xfrm>
            <a:off x="8162925" y="4429125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Atlas ATC 转换 OM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A45E0FC-727F-4F8A-BDB6-F5EB0EE0580B}"/>
              </a:ext>
            </a:extLst>
          </p:cNvPr>
          <p:cNvSpPr>
            <a:spLocks noGrp="1"/>
          </p:cNvSpPr>
          <p:nvPr/>
        </p:nvSpPr>
        <p:spPr>
          <a:xfrm>
            <a:off x="7686675" y="4762500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27C837-8684-41C8-B559-C799D6E99F9C}"/>
              </a:ext>
            </a:extLst>
          </p:cNvPr>
          <p:cNvSpPr>
            <a:spLocks noGrp="1"/>
          </p:cNvSpPr>
          <p:nvPr/>
        </p:nvSpPr>
        <p:spPr>
          <a:xfrm>
            <a:off x="8162925" y="4762500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板端精度 / 性能 / 内存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2B6DE7-03FB-4916-A6B1-4F3634955362}"/>
              </a:ext>
            </a:extLst>
          </p:cNvPr>
          <p:cNvSpPr>
            <a:spLocks noGrp="1"/>
          </p:cNvSpPr>
          <p:nvPr/>
        </p:nvSpPr>
        <p:spPr>
          <a:xfrm>
            <a:off x="7686675" y="5095875"/>
            <a:ext cx="466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30E4613-5A0C-48A7-9256-9D7B3FC37436}"/>
              </a:ext>
            </a:extLst>
          </p:cNvPr>
          <p:cNvSpPr>
            <a:spLocks noGrp="1"/>
          </p:cNvSpPr>
          <p:nvPr/>
        </p:nvSpPr>
        <p:spPr>
          <a:xfrm>
            <a:off x="8162925" y="5095875"/>
            <a:ext cx="32289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H.264 演示与证据归档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DC11169-4D74-42EE-8418-9C4DA56090F5}"/>
              </a:ext>
            </a:extLst>
          </p:cNvPr>
          <p:cNvSpPr>
            <a:spLocks noGrp="1"/>
          </p:cNvSpPr>
          <p:nvPr/>
        </p:nvSpPr>
        <p:spPr>
          <a:xfrm>
            <a:off x="619125" y="5495925"/>
            <a:ext cx="7429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rPr>
              <a:t>教室行为场景素材；用于说明模型任务，不是 CodeArts 操作截图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DB6A435-71AC-47D3-BA11-E274C4A49947}"/>
              </a:ext>
            </a:extLst>
          </p:cNvPr>
          <p:cNvSpPr>
            <a:spLocks noGrp="1"/>
          </p:cNvSpPr>
          <p:nvPr/>
        </p:nvSpPr>
        <p:spPr>
          <a:xfrm>
            <a:off x="619125" y="5800725"/>
            <a:ext cx="1080135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F7483EC-C66C-47EA-BFB4-6FC45DB0CCD7}"/>
              </a:ext>
            </a:extLst>
          </p:cNvPr>
          <p:cNvSpPr>
            <a:spLocks noGrp="1"/>
          </p:cNvSpPr>
          <p:nvPr/>
        </p:nvSpPr>
        <p:spPr>
          <a:xfrm>
            <a:off x="619125" y="5915025"/>
            <a:ext cx="108108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仓库证据：Skill 定义 · classroom_behavior_training.json · 板端评估报告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8416F1C-C4D4-45A1-BFF8-D9CB5401C249}"/>
              </a:ext>
            </a:extLst>
          </p:cNvPr>
          <p:cNvSpPr>
            <a:spLocks noGrp="1"/>
          </p:cNvSpPr>
          <p:nvPr/>
        </p:nvSpPr>
        <p:spPr>
          <a:xfrm>
            <a:off x="619125" y="6219825"/>
            <a:ext cx="10525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训练 JSON 记录为 YOLO11m / 15 epoch；与 Skill 的 YOLO11n 标准配置属于不同实验。</a:t>
            </a:r>
          </a:p>
        </p:txBody>
      </p:sp>
    </p:spTree>
    <p:extLst>
      <p:ext uri="{BB962C8B-B14F-4D97-AF65-F5344CB8AC3E}">
        <p14:creationId xmlns:p14="http://schemas.microsoft.com/office/powerpoint/2010/main" val="10022287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5411579A-0473-49CA-83AD-6B142D54A0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13CC4E9-DF8C-4C36-8868-44AF3BF0E1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47B19F-C167-4CD0-8BA2-4AC931D1C8C9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09ACFF-3A1C-41E2-9447-3775EECD1C03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13 / CODEARTS 实践 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E145F4-3D63-42EF-B6AB-4DFC30BF3B32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CodeArts Agent 驱动 Spec 工作流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D36F6E-4969-4155-A379-E1952165EEA5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EBA69E-C59E-4949-9B75-2710FF079A73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用自定义 Skill 将任务输入转成可追踪的规格与验收记录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C2D408-BFF2-4A90-9D5F-38C6AA107E92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1B92A9-C5F4-4C3F-AB5E-027C362E4362}"/>
              </a:ext>
            </a:extLst>
          </p:cNvPr>
          <p:cNvSpPr>
            <a:spLocks noGrp="1"/>
          </p:cNvSpPr>
          <p:nvPr/>
        </p:nvSpPr>
        <p:spPr>
          <a:xfrm>
            <a:off x="619125" y="2181225"/>
            <a:ext cx="465772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CodeArts Agent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C9E782-1007-4D5B-A7AA-A268EC443006}"/>
              </a:ext>
            </a:extLst>
          </p:cNvPr>
          <p:cNvSpPr>
            <a:spLocks noGrp="1"/>
          </p:cNvSpPr>
          <p:nvPr/>
        </p:nvSpPr>
        <p:spPr>
          <a:xfrm>
            <a:off x="619125" y="2686050"/>
            <a:ext cx="4676775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调用 $project-spec-workflow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C3B9390-2E5E-4D3E-88A0-EBE7437C7C86}"/>
              </a:ext>
            </a:extLst>
          </p:cNvPr>
          <p:cNvSpPr>
            <a:spLocks noGrp="1"/>
          </p:cNvSpPr>
          <p:nvPr/>
        </p:nvSpPr>
        <p:spPr>
          <a:xfrm>
            <a:off x="619125" y="3267075"/>
            <a:ext cx="4000500" cy="28575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DF6663-B39B-459B-82CB-0D014246B6C5}"/>
              </a:ext>
            </a:extLst>
          </p:cNvPr>
          <p:cNvSpPr>
            <a:spLocks noGrp="1"/>
          </p:cNvSpPr>
          <p:nvPr/>
        </p:nvSpPr>
        <p:spPr>
          <a:xfrm>
            <a:off x="619125" y="3457575"/>
            <a:ext cx="4667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2EE6EB5-0A2A-463C-A4C7-9DAF95EAB8DE}"/>
              </a:ext>
            </a:extLst>
          </p:cNvPr>
          <p:cNvSpPr>
            <a:spLocks noGrp="1"/>
          </p:cNvSpPr>
          <p:nvPr/>
        </p:nvSpPr>
        <p:spPr>
          <a:xfrm>
            <a:off x="1095375" y="3457575"/>
            <a:ext cx="39147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读取 PRD / SPEC / 代码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8EBA10-CCCA-41B7-B668-4D73A9A11B43}"/>
              </a:ext>
            </a:extLst>
          </p:cNvPr>
          <p:cNvSpPr>
            <a:spLocks noGrp="1"/>
          </p:cNvSpPr>
          <p:nvPr/>
        </p:nvSpPr>
        <p:spPr>
          <a:xfrm>
            <a:off x="619125" y="3848100"/>
            <a:ext cx="4667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D239771-1B24-402C-91A7-0AE855DDBFF4}"/>
              </a:ext>
            </a:extLst>
          </p:cNvPr>
          <p:cNvSpPr>
            <a:spLocks noGrp="1"/>
          </p:cNvSpPr>
          <p:nvPr/>
        </p:nvSpPr>
        <p:spPr>
          <a:xfrm>
            <a:off x="1095375" y="3848100"/>
            <a:ext cx="39147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按风险选择工作路径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8A35E4-C05E-41C5-9B9A-CE1335A82B94}"/>
              </a:ext>
            </a:extLst>
          </p:cNvPr>
          <p:cNvSpPr>
            <a:spLocks noGrp="1"/>
          </p:cNvSpPr>
          <p:nvPr/>
        </p:nvSpPr>
        <p:spPr>
          <a:xfrm>
            <a:off x="619125" y="4238625"/>
            <a:ext cx="4667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0DF6CA-E63F-4C9E-A323-0018F26CB43A}"/>
              </a:ext>
            </a:extLst>
          </p:cNvPr>
          <p:cNvSpPr>
            <a:spLocks noGrp="1"/>
          </p:cNvSpPr>
          <p:nvPr/>
        </p:nvSpPr>
        <p:spPr>
          <a:xfrm>
            <a:off x="1095375" y="4238625"/>
            <a:ext cx="39147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维护四份规格文档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34E279-DDCD-4FF6-B2A1-7315D061B77A}"/>
              </a:ext>
            </a:extLst>
          </p:cNvPr>
          <p:cNvSpPr>
            <a:spLocks noGrp="1"/>
          </p:cNvSpPr>
          <p:nvPr/>
        </p:nvSpPr>
        <p:spPr>
          <a:xfrm>
            <a:off x="619125" y="4629150"/>
            <a:ext cx="4667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CB410F-8E87-4104-B209-4350725169C9}"/>
              </a:ext>
            </a:extLst>
          </p:cNvPr>
          <p:cNvSpPr>
            <a:spLocks noGrp="1"/>
          </p:cNvSpPr>
          <p:nvPr/>
        </p:nvSpPr>
        <p:spPr>
          <a:xfrm>
            <a:off x="1095375" y="4629150"/>
            <a:ext cx="39147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链接 REQ → AC → 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FED8128-48F7-46D4-9D93-F9E3F1214EF5}"/>
              </a:ext>
            </a:extLst>
          </p:cNvPr>
          <p:cNvSpPr>
            <a:spLocks noGrp="1"/>
          </p:cNvSpPr>
          <p:nvPr/>
        </p:nvSpPr>
        <p:spPr>
          <a:xfrm>
            <a:off x="619125" y="5019675"/>
            <a:ext cx="4667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1DC82A8-4F38-4A1D-94EC-41B2CE9461FF}"/>
              </a:ext>
            </a:extLst>
          </p:cNvPr>
          <p:cNvSpPr>
            <a:spLocks noGrp="1"/>
          </p:cNvSpPr>
          <p:nvPr/>
        </p:nvSpPr>
        <p:spPr>
          <a:xfrm>
            <a:off x="1095375" y="5019675"/>
            <a:ext cx="39147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运行结构校验并记录证据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0730C46-F9E4-4010-93CD-BF0A1AA97A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28" b="3628"/>
          <a:stretch>
            <a:fillRect/>
          </a:stretch>
        </p:blipFill>
        <p:spPr>
          <a:xfrm>
            <a:off x="5172075" y="2209800"/>
            <a:ext cx="6248400" cy="3219450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976C64F3-0816-434F-9E43-B423DFDEDE05}"/>
              </a:ext>
            </a:extLst>
          </p:cNvPr>
          <p:cNvSpPr>
            <a:spLocks noGrp="1"/>
          </p:cNvSpPr>
          <p:nvPr/>
        </p:nvSpPr>
        <p:spPr>
          <a:xfrm>
            <a:off x="5172075" y="2209800"/>
            <a:ext cx="6248400" cy="3219450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04087E4-1BC6-4377-B067-98BEF4A4CB5F}"/>
              </a:ext>
            </a:extLst>
          </p:cNvPr>
          <p:cNvSpPr>
            <a:spLocks noGrp="1"/>
          </p:cNvSpPr>
          <p:nvPr/>
        </p:nvSpPr>
        <p:spPr>
          <a:xfrm>
            <a:off x="5172075" y="5495925"/>
            <a:ext cx="6248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7FA9C4"/>
                </a:solidFill>
                <a:latin typeface="PingFang SC"/>
                <a:ea typeface="PingFang SC"/>
                <a:cs typeface="PingFang SC"/>
              </a:rPr>
              <a:t>项目运行中的设备与规则页面；作为开发产物展示，不是 CodeArts 操作截图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B7DE148-A373-4AE3-B3FD-EB487F85D71D}"/>
              </a:ext>
            </a:extLst>
          </p:cNvPr>
          <p:cNvSpPr>
            <a:spLocks noGrp="1"/>
          </p:cNvSpPr>
          <p:nvPr/>
        </p:nvSpPr>
        <p:spPr>
          <a:xfrm>
            <a:off x="619125" y="5800725"/>
            <a:ext cx="1080135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A862C13-048B-41DE-BB4F-D08CDABB3B67}"/>
              </a:ext>
            </a:extLst>
          </p:cNvPr>
          <p:cNvSpPr>
            <a:spLocks noGrp="1"/>
          </p:cNvSpPr>
          <p:nvPr/>
        </p:nvSpPr>
        <p:spPr>
          <a:xfrm>
            <a:off x="619125" y="5915025"/>
            <a:ext cx="108108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仓库证据：prompt.txt · proposal / spec / design / tasks · T-01 至 T-03 已完成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7E49E3B-616E-46D0-B218-72297E677017}"/>
              </a:ext>
            </a:extLst>
          </p:cNvPr>
          <p:cNvSpPr>
            <a:spLocks noGrp="1"/>
          </p:cNvSpPr>
          <p:nvPr/>
        </p:nvSpPr>
        <p:spPr>
          <a:xfrm>
            <a:off x="619125" y="6219825"/>
            <a:ext cx="10525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验收记录覆盖 AC-01.1—AC-04.2；结构校验不替代代码与实机验收。</a:t>
            </a:r>
          </a:p>
        </p:txBody>
      </p:sp>
    </p:spTree>
    <p:extLst>
      <p:ext uri="{BB962C8B-B14F-4D97-AF65-F5344CB8AC3E}">
        <p14:creationId xmlns:p14="http://schemas.microsoft.com/office/powerpoint/2010/main" val="1432795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CDC6E778-8EDE-456C-AC1D-F8AB56B8E4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B5AA651-6DCD-420B-A550-3EFB6E9E30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E84E7C-FA1A-4625-BA43-6A2107CA53C1}"/>
              </a:ext>
            </a:extLst>
          </p:cNvPr>
          <p:cNvSpPr>
            <a:spLocks noGrp="1"/>
          </p:cNvSpPr>
          <p:nvPr/>
        </p:nvSpPr>
        <p:spPr>
          <a:xfrm>
            <a:off x="600075" y="514350"/>
            <a:ext cx="361950" cy="28575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06BA6F-5DD8-48A0-841F-BD40AD800ADA}"/>
              </a:ext>
            </a:extLst>
          </p:cNvPr>
          <p:cNvSpPr>
            <a:spLocks noGrp="1"/>
          </p:cNvSpPr>
          <p:nvPr/>
        </p:nvSpPr>
        <p:spPr>
          <a:xfrm>
            <a:off x="1085850" y="381000"/>
            <a:ext cx="6762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14 / 阶段判断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4EC359-DAE9-4C34-AAC5-109359067CED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44225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已完成基础验证，继续补齐真实链路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3656AD-11BD-4F3E-B7D5-33A7CA79EE07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0972800" cy="19050"/>
          </a:xfrm>
          <a:prstGeom prst="rect">
            <a:avLst/>
          </a:prstGeom>
          <a:solidFill>
            <a:srgbClr val="2B81B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9F7A8F-016E-4520-AA4B-9F3F03ADBE05}"/>
              </a:ext>
            </a:extLst>
          </p:cNvPr>
          <p:cNvSpPr>
            <a:spLocks noGrp="1"/>
          </p:cNvSpPr>
          <p:nvPr/>
        </p:nvSpPr>
        <p:spPr>
          <a:xfrm>
            <a:off x="619125" y="1800225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建议对外表述：首发试点，部分链路已验证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ACBD79-0142-4D97-AA86-EC2DE23A1637}"/>
              </a:ext>
            </a:extLst>
          </p:cNvPr>
          <p:cNvSpPr>
            <a:spLocks noGrp="1"/>
          </p:cNvSpPr>
          <p:nvPr/>
        </p:nvSpPr>
        <p:spPr>
          <a:xfrm>
            <a:off x="11010900" y="6267450"/>
            <a:ext cx="552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9472D9-8A90-4683-B8EC-B12B67D42E88}"/>
              </a:ext>
            </a:extLst>
          </p:cNvPr>
          <p:cNvSpPr>
            <a:spLocks noGrp="1"/>
          </p:cNvSpPr>
          <p:nvPr/>
        </p:nvSpPr>
        <p:spPr>
          <a:xfrm>
            <a:off x="619125" y="2390775"/>
            <a:ext cx="5048250" cy="2962275"/>
          </a:xfrm>
          <a:prstGeom prst="rect">
            <a:avLst/>
          </a:prstGeom>
          <a:noFill/>
          <a:ln w="13335">
            <a:solidFill>
              <a:srgbClr val="32C9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3A1292-64F1-49A1-BEF9-DF1ABD8DF2F1}"/>
              </a:ext>
            </a:extLst>
          </p:cNvPr>
          <p:cNvSpPr>
            <a:spLocks noGrp="1"/>
          </p:cNvSpPr>
          <p:nvPr/>
        </p:nvSpPr>
        <p:spPr>
          <a:xfrm>
            <a:off x="619125" y="2390775"/>
            <a:ext cx="5048250" cy="57150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35D26A7-7317-45E0-8E96-AB219F050E93}"/>
              </a:ext>
            </a:extLst>
          </p:cNvPr>
          <p:cNvSpPr>
            <a:spLocks noGrp="1"/>
          </p:cNvSpPr>
          <p:nvPr/>
        </p:nvSpPr>
        <p:spPr>
          <a:xfrm>
            <a:off x="866775" y="2695575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已有基础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3234D2-52C1-4ED8-B4D2-0E71E00718E8}"/>
              </a:ext>
            </a:extLst>
          </p:cNvPr>
          <p:cNvSpPr>
            <a:spLocks noGrp="1"/>
          </p:cNvSpPr>
          <p:nvPr/>
        </p:nvSpPr>
        <p:spPr>
          <a:xfrm>
            <a:off x="866775" y="3581400"/>
            <a:ext cx="443865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Web / PWA 页面与模拟数据联调</a:t>
            </a:r>
          </a:p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账号、事件、统计等服务流程</a:t>
            </a:r>
          </a:p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Atlas 模型加载与合成视频处理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DCA4B0-38E1-4A52-8CD8-1D3BE9D79B06}"/>
              </a:ext>
            </a:extLst>
          </p:cNvPr>
          <p:cNvSpPr>
            <a:spLocks noGrp="1"/>
          </p:cNvSpPr>
          <p:nvPr/>
        </p:nvSpPr>
        <p:spPr>
          <a:xfrm>
            <a:off x="6457950" y="2390775"/>
            <a:ext cx="5048250" cy="2962275"/>
          </a:xfrm>
          <a:prstGeom prst="rect">
            <a:avLst/>
          </a:prstGeom>
          <a:noFill/>
          <a:ln w="13335">
            <a:solidFill>
              <a:srgbClr val="F5C8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005C916-32D5-4144-9BBF-4341D85E4B46}"/>
              </a:ext>
            </a:extLst>
          </p:cNvPr>
          <p:cNvSpPr>
            <a:spLocks noGrp="1"/>
          </p:cNvSpPr>
          <p:nvPr/>
        </p:nvSpPr>
        <p:spPr>
          <a:xfrm>
            <a:off x="6457950" y="2390775"/>
            <a:ext cx="5048250" cy="5715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91A50E-5451-4A44-AF3E-87DF74150F57}"/>
              </a:ext>
            </a:extLst>
          </p:cNvPr>
          <p:cNvSpPr>
            <a:spLocks noGrp="1"/>
          </p:cNvSpPr>
          <p:nvPr/>
        </p:nvSpPr>
        <p:spPr>
          <a:xfrm>
            <a:off x="6705600" y="2695575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待补验收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DF5CCB2-902C-48D6-9E0B-A6C5FD179D02}"/>
              </a:ext>
            </a:extLst>
          </p:cNvPr>
          <p:cNvSpPr>
            <a:spLocks noGrp="1"/>
          </p:cNvSpPr>
          <p:nvPr/>
        </p:nvSpPr>
        <p:spPr>
          <a:xfrm>
            <a:off x="6705600" y="3581400"/>
            <a:ext cx="4429125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真实相机至浏览器播放</a:t>
            </a:r>
          </a:p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规则事件至系统通知</a:t>
            </a:r>
          </a:p>
          <a:p>
            <a:pPr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持续稳定性与容量压测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D9C4B1-27A9-478E-9262-744EAE22C13B}"/>
              </a:ext>
            </a:extLst>
          </p:cNvPr>
          <p:cNvSpPr>
            <a:spLocks noGrp="1"/>
          </p:cNvSpPr>
          <p:nvPr/>
        </p:nvSpPr>
        <p:spPr>
          <a:xfrm>
            <a:off x="619125" y="5734050"/>
            <a:ext cx="108775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真实设备与推送链路验收，是从试点走向复制的关键一步</a:t>
            </a:r>
          </a:p>
        </p:txBody>
      </p:sp>
    </p:spTree>
    <p:extLst>
      <p:ext uri="{BB962C8B-B14F-4D97-AF65-F5344CB8AC3E}">
        <p14:creationId xmlns:p14="http://schemas.microsoft.com/office/powerpoint/2010/main" val="47223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9A0DA34D-FB9C-4027-B64A-87BA439D6E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3EEB96D8-3223-4856-B784-AB27B4F088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32C9F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C95923-C12B-4F6A-995E-C0FA8D9BF526}"/>
              </a:ext>
            </a:extLst>
          </p:cNvPr>
          <p:cNvSpPr>
            <a:spLocks noGrp="1"/>
          </p:cNvSpPr>
          <p:nvPr/>
        </p:nvSpPr>
        <p:spPr>
          <a:xfrm>
            <a:off x="752475" y="857250"/>
            <a:ext cx="76200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YUNSHAO  /  NEXT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8B792B-8CC7-44CD-878F-FFEAAAB76C00}"/>
              </a:ext>
            </a:extLst>
          </p:cNvPr>
          <p:cNvSpPr>
            <a:spLocks noGrp="1"/>
          </p:cNvSpPr>
          <p:nvPr/>
        </p:nvSpPr>
        <p:spPr>
          <a:xfrm>
            <a:off x="752475" y="1428750"/>
            <a:ext cx="1647825" cy="38100"/>
          </a:xfrm>
          <a:prstGeom prst="rect">
            <a:avLst/>
          </a:prstGeom>
          <a:solidFill>
            <a:srgbClr val="F5C86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B7C747-5753-4AB6-BD68-2532C583B6DA}"/>
              </a:ext>
            </a:extLst>
          </p:cNvPr>
          <p:cNvSpPr>
            <a:spLocks noGrp="1"/>
          </p:cNvSpPr>
          <p:nvPr/>
        </p:nvSpPr>
        <p:spPr>
          <a:xfrm>
            <a:off x="733425" y="2038350"/>
            <a:ext cx="1078230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defRPr>
            </a:pPr>
            <a:r>
              <a:rPr sz="4725" b="1">
                <a:solidFill>
                  <a:srgbClr val="F5C86B"/>
                </a:solidFill>
                <a:latin typeface="PingFang SC"/>
                <a:ea typeface="PingFang SC"/>
                <a:cs typeface="PingFang SC"/>
              </a:rPr>
              <a:t>让一条真实链路跑通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3EBD7E-948A-4ADB-A2DD-8A7C2D100AFC}"/>
              </a:ext>
            </a:extLst>
          </p:cNvPr>
          <p:cNvSpPr>
            <a:spLocks noGrp="1"/>
          </p:cNvSpPr>
          <p:nvPr/>
        </p:nvSpPr>
        <p:spPr>
          <a:xfrm>
            <a:off x="733425" y="3143250"/>
            <a:ext cx="1078230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再让能力跨行业复制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37DA9A2-964E-465B-9634-359B18FC0F8F}"/>
              </a:ext>
            </a:extLst>
          </p:cNvPr>
          <p:cNvSpPr>
            <a:spLocks noGrp="1"/>
          </p:cNvSpPr>
          <p:nvPr/>
        </p:nvSpPr>
        <p:spPr>
          <a:xfrm>
            <a:off x="762000" y="4724400"/>
            <a:ext cx="104775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C5DCEC"/>
                </a:solidFill>
                <a:latin typeface="PingFang SC"/>
                <a:ea typeface="PingFang SC"/>
                <a:cs typeface="PingFang SC"/>
              </a:rPr>
              <a:t>近期：真实视频接入 / 规则事件到通知 / 手机端回跳与处置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CAD4F1-F6A9-463D-97F8-4659E9036A0F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lvl9pPr>
          </a:lstStyle>
          <a:p>
            <a:pPr>
              <a:def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78E0FF"/>
                </a:solidFill>
                <a:latin typeface="PingFang SC"/>
                <a:ea typeface="PingFang SC"/>
                <a:cs typeface="PingFang SC"/>
              </a:rPr>
              <a:t>后续：扩展场景算法与平台接入能力</a:t>
            </a:r>
          </a:p>
        </p:txBody>
      </p:sp>
    </p:spTree>
    <p:extLst>
      <p:ext uri="{BB962C8B-B14F-4D97-AF65-F5344CB8AC3E}">
        <p14:creationId xmlns:p14="http://schemas.microsoft.com/office/powerpoint/2010/main" val="58325079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1249</Words>
  <Application>Microsoft Office PowerPoint</Application>
  <DocSecurity>0</DocSecurity>
  <PresentationFormat>宽屏</PresentationFormat>
  <Paragraphs>298</Paragraphs>
  <Slides>19</Slides>
  <Notes>19</Notes>
  <HiddenSlides>0</HiddenSlides>
  <MMClips>1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PingFang SC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EEE901</cp:lastModifiedBy>
  <cp:revision>5</cp:revision>
  <dcterms:created xsi:type="dcterms:W3CDTF">2026-10-22T17:51:53Z</dcterms:created>
  <dcterms:modified xsi:type="dcterms:W3CDTF">2026-10-23T03:20:40Z</dcterms:modified>
</cp:coreProperties>
</file>