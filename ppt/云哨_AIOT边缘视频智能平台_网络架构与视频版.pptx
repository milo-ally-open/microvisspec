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Default Extension="mp4" ContentType="video/mp4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Default Extension="jpg" ContentType="image/jpeg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9d9107d54ea463a" /><Relationship Type="http://schemas.openxmlformats.org/officeDocument/2006/relationships/extended-properties" Target="/docProps/app.xml" Id="R266a04b0c3554ccc" /><Relationship Type="http://schemas.openxmlformats.org/officeDocument/2006/relationships/officeDocument" Target="/ppt/presentation.xml" Id="R1ac727f68986431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faee5929994099"/>
  </p:sldMasterIdLst>
  <p:notesMasterIdLst>
    <p:notesMasterId xmlns:r="http://schemas.openxmlformats.org/officeDocument/2006/relationships" r:id="Rd9acc96261554f3f"/>
  </p:notesMasterIdLst>
  <p:sldIdLst>
    <p:sldId xmlns:r="http://schemas.openxmlformats.org/officeDocument/2006/relationships" id="256" r:id="R4a89be96ad544e80"/>
    <p:sldId xmlns:r="http://schemas.openxmlformats.org/officeDocument/2006/relationships" id="257" r:id="Rd0c6220ab22b452a"/>
    <p:sldId xmlns:r="http://schemas.openxmlformats.org/officeDocument/2006/relationships" id="258" r:id="Refc1e4ce1ee6436b"/>
    <p:sldId xmlns:r="http://schemas.openxmlformats.org/officeDocument/2006/relationships" id="259" r:id="R1e6ed16b5e50457b"/>
    <p:sldId xmlns:r="http://schemas.openxmlformats.org/officeDocument/2006/relationships" id="260" r:id="R4f2a7d83816d4cfc"/>
    <p:sldId xmlns:ns1="http://schemas.openxmlformats.org/officeDocument/2006/relationships" id="273" ns1:id="RNetworkTopology"/>
    <p:sldId xmlns:ns1="http://schemas.openxmlformats.org/officeDocument/2006/relationships" id="274" ns1:id="RNetworkBoundary"/>
    <p:sldId xmlns:r="http://schemas.openxmlformats.org/officeDocument/2006/relationships" id="261" r:id="R7ee71f7068374da3"/>
    <p:sldId xmlns:r="http://schemas.openxmlformats.org/officeDocument/2006/relationships" id="262" r:id="Rab83f7c546994ff4"/>
    <p:sldId xmlns:r="http://schemas.openxmlformats.org/officeDocument/2006/relationships" id="263" r:id="R02530ed4a5a54de3"/>
    <p:sldId xmlns:r="http://schemas.openxmlformats.org/officeDocument/2006/relationships" id="264" r:id="R51fc1f642f504d13"/>
    <p:sldId xmlns:r="http://schemas.openxmlformats.org/officeDocument/2006/relationships" id="265" r:id="R7f715dd759654cbd"/>
    <p:sldId xmlns:r="http://schemas.openxmlformats.org/officeDocument/2006/relationships" id="266" r:id="Rc6d6392538ec4d0c"/>
    <p:sldId xmlns:r="http://schemas.openxmlformats.org/officeDocument/2006/relationships" id="267" r:id="R4d314046df0f4fe5"/>
    <p:sldId xmlns:r="http://schemas.openxmlformats.org/officeDocument/2006/relationships" id="268" r:id="R6214393fa4314b38"/>
    <p:sldId xmlns:r="http://schemas.openxmlformats.org/officeDocument/2006/relationships" id="269" r:id="Rf24bba3db054405f"/>
    <p:sldId xmlns:r="http://schemas.openxmlformats.org/officeDocument/2006/relationships" id="270" r:id="R9b2da97d33be4004"/>
    <p:sldId xmlns:r="http://schemas.openxmlformats.org/officeDocument/2006/relationships" id="271" r:id="Rdb043bb258844587"/>
    <p:sldId xmlns:r="http://schemas.openxmlformats.org/officeDocument/2006/relationships" id="272" r:id="Rf548beb299184da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a21bb01827974c50"/><Relationship Type="http://schemas.openxmlformats.org/officeDocument/2006/relationships/slideMaster" Target="/ppt/slideMasters/slideMaster1.xml" Id="R1efaee5929994099"/><Relationship Type="http://schemas.openxmlformats.org/officeDocument/2006/relationships/notesMaster" Target="/ppt/notesMasters/notesMaster1.xml" Id="Rd9acc96261554f3f"/><Relationship Type="http://schemas.openxmlformats.org/officeDocument/2006/relationships/presProps" Target="/ppt/presProps.xml" Id="Rc108dbd4c1d34d58"/><Relationship Type="http://schemas.openxmlformats.org/officeDocument/2006/relationships/tableStyles" Target="/ppt/tableStyles.xml" Id="Rdeb17026ce344526"/><Relationship Type="http://schemas.openxmlformats.org/officeDocument/2006/relationships/slide" Target="/ppt/slides/slide1.xml" Id="R4a89be96ad544e80"/><Relationship Type="http://schemas.openxmlformats.org/officeDocument/2006/relationships/slide" Target="/ppt/slides/slide2.xml" Id="Rd0c6220ab22b452a"/><Relationship Type="http://schemas.openxmlformats.org/officeDocument/2006/relationships/slide" Target="/ppt/slides/slide3.xml" Id="Refc1e4ce1ee6436b"/><Relationship Type="http://schemas.openxmlformats.org/officeDocument/2006/relationships/slide" Target="/ppt/slides/slide4.xml" Id="R1e6ed16b5e50457b"/><Relationship Type="http://schemas.openxmlformats.org/officeDocument/2006/relationships/slide" Target="/ppt/slides/slide5.xml" Id="R4f2a7d83816d4cfc"/><Relationship Type="http://schemas.openxmlformats.org/officeDocument/2006/relationships/slide" Target="/ppt/slides/slide6.xml" Id="R7ee71f7068374da3"/><Relationship Type="http://schemas.openxmlformats.org/officeDocument/2006/relationships/slide" Target="/ppt/slides/slide7.xml" Id="Rab83f7c546994ff4"/><Relationship Type="http://schemas.openxmlformats.org/officeDocument/2006/relationships/slide" Target="/ppt/slides/slide8.xml" Id="R02530ed4a5a54de3"/><Relationship Type="http://schemas.openxmlformats.org/officeDocument/2006/relationships/slide" Target="/ppt/slides/slide9.xml" Id="R51fc1f642f504d13"/><Relationship Type="http://schemas.openxmlformats.org/officeDocument/2006/relationships/slide" Target="/ppt/slides/slide10.xml" Id="R7f715dd759654cbd"/><Relationship Type="http://schemas.openxmlformats.org/officeDocument/2006/relationships/slide" Target="/ppt/slides/slide11.xml" Id="Rc6d6392538ec4d0c"/><Relationship Type="http://schemas.openxmlformats.org/officeDocument/2006/relationships/slide" Target="/ppt/slides/slide12.xml" Id="R4d314046df0f4fe5"/><Relationship Type="http://schemas.openxmlformats.org/officeDocument/2006/relationships/slide" Target="/ppt/slides/slide13.xml" Id="R6214393fa4314b38"/><Relationship Type="http://schemas.openxmlformats.org/officeDocument/2006/relationships/slide" Target="/ppt/slides/slide14.xml" Id="Rf24bba3db054405f"/><Relationship Type="http://schemas.openxmlformats.org/officeDocument/2006/relationships/slide" Target="/ppt/slides/slide15.xml" Id="R9b2da97d33be4004"/><Relationship Type="http://schemas.openxmlformats.org/officeDocument/2006/relationships/slide" Target="/ppt/slides/slide16.xml" Id="Rdb043bb258844587"/><Relationship Type="http://schemas.openxmlformats.org/officeDocument/2006/relationships/slide" Target="/ppt/slides/slide17.xml" Id="Rf548beb299184da4"/><Relationship Id="RNetworkTopology" Type="http://schemas.openxmlformats.org/officeDocument/2006/relationships/slide" Target="/ppt/slides/slide18.xml"/><Relationship Id="RNetworkBoundary" Type="http://schemas.openxmlformats.org/officeDocument/2006/relationships/slide" Target="/ppt/slides/slide19.xml"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eec83c9a7d84dc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c4bebd1345e4f67" /><Relationship Type="http://schemas.openxmlformats.org/officeDocument/2006/relationships/notesMaster" Target="/ppt/notesMasters/notesMaster1.xml" Id="R964a689028d0453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4a8d818d4364bc4" /><Relationship Type="http://schemas.openxmlformats.org/officeDocument/2006/relationships/notesMaster" Target="/ppt/notesMasters/notesMaster1.xml" Id="R0a06b44ba33b4b7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7dd551f92d6492c" /><Relationship Type="http://schemas.openxmlformats.org/officeDocument/2006/relationships/notesMaster" Target="/ppt/notesMasters/notesMaster1.xml" Id="Rc3a7f7f8fb214dd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a4a48751aae45de" /><Relationship Type="http://schemas.openxmlformats.org/officeDocument/2006/relationships/notesMaster" Target="/ppt/notesMasters/notesMaster1.xml" Id="Ra7a2fea4e0ae4d4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466281c49354ba0" /><Relationship Type="http://schemas.openxmlformats.org/officeDocument/2006/relationships/notesMaster" Target="/ppt/notesMasters/notesMaster1.xml" Id="Rd9828d050d94405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42145b5f7f24d76" /><Relationship Type="http://schemas.openxmlformats.org/officeDocument/2006/relationships/notesMaster" Target="/ppt/notesMasters/notesMaster1.xml" Id="R4b00a89cbbb245b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b9b2657725245eb" /><Relationship Type="http://schemas.openxmlformats.org/officeDocument/2006/relationships/notesMaster" Target="/ppt/notesMasters/notesMaster1.xml" Id="Rf1959d48dde243b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ec50790323a4519" /><Relationship Type="http://schemas.openxmlformats.org/officeDocument/2006/relationships/notesMaster" Target="/ppt/notesMasters/notesMaster1.xml" Id="Rbabca4aa3e614ca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d30240050894729" /><Relationship Type="http://schemas.openxmlformats.org/officeDocument/2006/relationships/notesMaster" Target="/ppt/notesMasters/notesMaster1.xml" Id="R121f80f94555493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41330f2a3ef4f91" /><Relationship Type="http://schemas.openxmlformats.org/officeDocument/2006/relationships/notesMaster" Target="/ppt/notesMasters/notesMaster1.xml" Id="R3fe0a85c317145f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fa3b9e206814c8c" /><Relationship Type="http://schemas.openxmlformats.org/officeDocument/2006/relationships/notesMaster" Target="/ppt/notesMasters/notesMaster1.xml" Id="R155df9a50ec74c9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d4c7fd950bc4569" /><Relationship Type="http://schemas.openxmlformats.org/officeDocument/2006/relationships/notesMaster" Target="/ppt/notesMasters/notesMaster1.xml" Id="R308903327ff54e3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2826f9d2c1a4e0b" /><Relationship Type="http://schemas.openxmlformats.org/officeDocument/2006/relationships/notesMaster" Target="/ppt/notesMasters/notesMaster1.xml" Id="Rad9be4b9a4c04e4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4e46f5bf9e34507" /><Relationship Type="http://schemas.openxmlformats.org/officeDocument/2006/relationships/notesMaster" Target="/ppt/notesMasters/notesMaster1.xml" Id="R84b3ff4af63644a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7bf7b4d3a304c88" /><Relationship Type="http://schemas.openxmlformats.org/officeDocument/2006/relationships/notesMaster" Target="/ppt/notesMasters/notesMaster1.xml" Id="R52ff9ff90aca47a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8f5b20fa9234410" /><Relationship Type="http://schemas.openxmlformats.org/officeDocument/2006/relationships/notesMaster" Target="/ppt/notesMasters/notesMaster1.xml" Id="R1e6f3957e9ab4ab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3b0aff168af4c8b" /><Relationship Type="http://schemas.openxmlformats.org/officeDocument/2006/relationships/notesMaster" Target="/ppt/notesMasters/notesMaster1.xml" Id="Rd7bd7b4b9d0b4bb6" /></Relationships>
</file>

<file path=ppt/notesSlides/_rels/notesSlide18.xml.rels><?xml version='1.0' encoding='UTF-8' standalone='yes'?>
<Relationships xmlns="http://schemas.openxmlformats.org/package/2006/relationships"><Relationship Type="http://schemas.openxmlformats.org/officeDocument/2006/relationships/slide" Target="/ppt/slides/slide18.xml" Id="Rd3be012749424226"/><Relationship Type="http://schemas.openxmlformats.org/officeDocument/2006/relationships/notesMaster" Target="/ppt/notesMasters/notesMaster1.xml" Id="Rf7d0084bfe6645e6"/></Relationships>
</file>

<file path=ppt/notesSlides/_rels/notesSlide19.xml.rels><?xml version='1.0' encoding='UTF-8' standalone='yes'?>
<Relationships xmlns="http://schemas.openxmlformats.org/package/2006/relationships"><Relationship Type="http://schemas.openxmlformats.org/officeDocument/2006/relationships/slide" Target="/ppt/slides/slide19.xml" Id="Ra6c57d23152844f0"/><Relationship Type="http://schemas.openxmlformats.org/officeDocument/2006/relationships/notesMaster" Target="/ppt/notesMasters/notesMaster1.xml" Id="R4819ce812f87451b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/Users/jiangdongting/Yunshao-project/Yunshao/README.md</a:t>
            </a:r>
          </a:p>
          <a:p xmlns:a="http://schemas.openxmlformats.org/drawingml/2006/main">
            <a:r>
              <a:t>/Users/jiangdongting/Yunshao-project/Yunshao/project/docs/Analysis/PRD.md</a:t>
            </a:r>
          </a:p>
          <a:p xmlns:a="http://schemas.openxmlformats.org/drawingml/2006/main">
            <a:r>
              <a:t>说明：封面使用用户提供的参考演示文稿的通用科技背景。</a:t>
            </a:r>
          </a:p>
          <a:p xmlns:a="http://schemas.openxmlformats.org/drawingml/2006/main">
            <a:r>
              <a:t>视觉参考：用户提供的《2_最终修改版(1)(1).pptx》通用蓝色科技背景。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/Users/jiangdongting/Yunshao-project/Yunshao/README.md</a:t>
            </a:r>
          </a:p>
          <a:p xmlns:a="http://schemas.openxmlformats.org/drawingml/2006/main">
            <a:r>
              <a:t>/Users/jiangdongting/Yunshao-project/Yunshao/project/docs/Analysis/PRD.md</a:t>
            </a:r>
          </a:p>
          <a:p xmlns:a="http://schemas.openxmlformats.org/drawingml/2006/main">
            <a:r>
              <a:t>视觉参考：用户提供的《2_最终修改版(1)(1).pptx》通用蓝色科技背景。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/Users/jiangdongting/Yunshao-project/Yunshao/ppt/assets/slides/overview.png</a:t>
            </a:r>
          </a:p>
          <a:p xmlns:a="http://schemas.openxmlformats.org/drawingml/2006/main">
            <a:r>
              <a:t>/Users/jiangdongting/Yunshao-project/Yunshao/ppt/SCREENSHOTS.md</a:t>
            </a:r>
          </a:p>
          <a:p xmlns:a="http://schemas.openxmlformats.org/drawingml/2006/main">
            <a:r>
              <a:t>/Users/jiangdongting/Yunshao-project/Yunshao/project/docs/Analysis/PRD.md</a:t>
            </a:r>
          </a:p>
          <a:p xmlns:a="http://schemas.openxmlformats.org/drawingml/2006/main">
            <a:r>
              <a:t>说明：截图来自项目运行中的系统，模拟数据已标注。</a:t>
            </a:r>
          </a:p>
          <a:p xmlns:a="http://schemas.openxmlformats.org/drawingml/2006/main">
            <a:r>
              <a:t>视觉参考：用户提供的《2_最终修改版(1)(1).pptx》通用蓝色科技背景。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/Users/jiangdongting/Yunshao-project/Yunshao/project/docs/Analysis/PRD.md</a:t>
            </a:r>
          </a:p>
          <a:p xmlns:a="http://schemas.openxmlformats.org/drawingml/2006/main">
            <a:r>
              <a:t>/Users/jiangdongting/Yunshao-project/Yunshao/project/docs/Analysis/SPEC.md</a:t>
            </a:r>
          </a:p>
          <a:p xmlns:a="http://schemas.openxmlformats.org/drawingml/2006/main">
            <a:r>
              <a:t>说明：本页描述目标业务闭环，不宣称全部真实链路已经验收。</a:t>
            </a:r>
          </a:p>
          <a:p xmlns:a="http://schemas.openxmlformats.org/drawingml/2006/main">
            <a:r>
              <a:t>视觉参考：用户提供的《2_最终修改版(1)(1).pptx》通用蓝色科技背景。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/Users/jiangdongting/Yunshao-project/Yunshao/readme/assets/system-network-current.svg</a:t>
            </a:r>
          </a:p>
          <a:p xmlns:a="http://schemas.openxmlformats.org/drawingml/2006/main">
            <a:r>
              <a:t>/Users/jiangdongting/Yunshao-project/Yunshao/readme/assets/system-network-current.drawio</a:t>
            </a:r>
          </a:p>
          <a:p xmlns:a="http://schemas.openxmlformats.org/drawingml/2006/main">
            <a:r>
              <a:t>/Users/jiangdongting/Yunshao-project/Yunshao/project/docs/Design/STRUCTURE.md</a:t>
            </a:r>
          </a:p>
          <a:p xmlns:a="http://schemas.openxmlformats.org/drawingml/2006/main">
            <a:r>
              <a:t>说明：依据实际单园区网络图提炼，跨园区公有云图仍为规划。</a:t>
            </a:r>
          </a:p>
          <a:p xmlns:a="http://schemas.openxmlformats.org/drawingml/2006/main">
            <a:r>
              <a:t>视觉参考：用户提供的《2_最终修改版(1)(1).pptx》通用蓝色科技背景。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/Users/jiangdongting/Yunshao-project/Yunshao/project/docs/Analysis/PRD.md</a:t>
            </a:r>
          </a:p>
          <a:p xmlns:a="http://schemas.openxmlformats.org/drawingml/2006/main">
            <a:r>
              <a:t>/Users/jiangdongting/Yunshao-project/Yunshao/project/docs/Design/STRUCTURE.md</a:t>
            </a:r>
          </a:p>
          <a:p xmlns:a="http://schemas.openxmlformats.org/drawingml/2006/main">
            <a:r>
              <a:t>说明：讲话出处：https://www.cac.gov.cn/2026-05/15/c_1780587100779588.htm</a:t>
            </a:r>
          </a:p>
          <a:p xmlns:a="http://schemas.openxmlformats.org/drawingml/2006/main">
            <a:r>
              <a:t>视觉参考：用户提供的《2_最终修改版(1)(1).pptx》通用蓝色科技背景。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/Users/jiangdongting/Yunshao-project/Yunshao/project/docs/Specification/atlas_edge_runtime/tasks.md</a:t>
            </a:r>
          </a:p>
          <a:p xmlns:a="http://schemas.openxmlformats.org/drawingml/2006/main">
            <a:r>
              <a:t>/Users/jiangdongting/Yunshao-project/Yunshao/project/docs/Analysis/SPEC.md</a:t>
            </a:r>
          </a:p>
          <a:p xmlns:a="http://schemas.openxmlformats.org/drawingml/2006/main">
            <a:r>
              <a:t>说明：硬件图来自项目资料；不表示团队部署实拍。</a:t>
            </a:r>
          </a:p>
          <a:p xmlns:a="http://schemas.openxmlformats.org/drawingml/2006/main">
            <a:r>
              <a:t>视觉参考：用户提供的《2_最终修改版(1)(1).pptx》通用蓝色科技背景。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/Users/jiangdongting/Yunshao-project/Yunshao/video/classroom_behavior.mp4</a:t>
            </a:r>
          </a:p>
          <a:p xmlns:a="http://schemas.openxmlformats.org/drawingml/2006/main">
            <a:r>
              <a:t>/Users/jiangdongting/Yunshao-project/Yunshao/project/docs/Analysis/PRD.md</a:t>
            </a:r>
          </a:p>
          <a:p xmlns:a="http://schemas.openxmlformats.org/drawingml/2006/main">
            <a:r>
              <a:t>/Users/jiangdongting/Yunshao-project/Yunshao/project/docs/Specification/atlas_edge_runtime/tasks.md</a:t>
            </a:r>
          </a:p>
          <a:p xmlns:a="http://schemas.openxmlformats.org/drawingml/2006/main">
            <a:r>
              <a:t>说明：嵌入的真实课堂视频是场景素材，未展示模型推理或告警验收结果。</a:t>
            </a:r>
          </a:p>
          <a:p xmlns:a="http://schemas.openxmlformats.org/drawingml/2006/main">
            <a:r>
              <a:t>视觉参考：用户提供的《2_最终修改版(1)(1).pptx》通用蓝色科技背景。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/Users/jiangdongting/Yunshao-project/Yunshao/project/docs/Analysis/PRD.md</a:t>
            </a:r>
          </a:p>
          <a:p xmlns:a="http://schemas.openxmlformats.org/drawingml/2006/main">
            <a:r>
              <a:t>/Users/jiangdongting/Yunshao-project/Yunshao/project/src/clients/web/src/pages/DeviceDetailPage.vue</a:t>
            </a:r>
          </a:p>
          <a:p xmlns:a="http://schemas.openxmlformats.org/drawingml/2006/main">
            <a:r>
              <a:t>说明：只有规则启用且设备侧生效后，符合条件的检测才产生事件。</a:t>
            </a:r>
          </a:p>
          <a:p xmlns:a="http://schemas.openxmlformats.org/drawingml/2006/main">
            <a:r>
              <a:t>视觉参考：用户提供的《2_最终修改版(1)(1).pptx》通用蓝色科技背景。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/Users/jiangdongting/Yunshao-project/Yunshao/ppt/assets/slides/monitor.png</a:t>
            </a:r>
          </a:p>
          <a:p xmlns:a="http://schemas.openxmlformats.org/drawingml/2006/main">
            <a:r>
              <a:t>/Users/jiangdongting/Yunshao-project/Yunshao/ppt/SCREENSHOTS.md</a:t>
            </a:r>
          </a:p>
          <a:p xmlns:a="http://schemas.openxmlformats.org/drawingml/2006/main">
            <a:r>
              <a:t>/Users/jiangdongting/Yunshao-project/Yunshao/project/src/clients/web/src/pages/MonitorPage.vue</a:t>
            </a:r>
          </a:p>
          <a:p xmlns:a="http://schemas.openxmlformats.org/drawingml/2006/main">
            <a:r>
              <a:t>说明：系统截图；当前显示无真实视频状态，不代表媒体链路已验收。</a:t>
            </a:r>
          </a:p>
          <a:p xmlns:a="http://schemas.openxmlformats.org/drawingml/2006/main">
            <a:r>
              <a:t>视觉参考：用户提供的《2_最终修改版(1)(1).pptx》通用蓝色科技背景。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/Users/jiangdongting/Yunshao-project/Yunshao/project/docs/Analysis/PRD.md</a:t>
            </a:r>
          </a:p>
          <a:p xmlns:a="http://schemas.openxmlformats.org/drawingml/2006/main">
            <a:r>
              <a:t>/Users/jiangdongting/Yunshao-project/Yunshao/project/docs/Analysis/SPEC.md</a:t>
            </a:r>
          </a:p>
          <a:p xmlns:a="http://schemas.openxmlformats.org/drawingml/2006/main">
            <a:r>
              <a:t>/Users/jiangdongting/Yunshao-project/Yunshao/project/src/clients/web/src/pages/EventDetailPage.vue</a:t>
            </a:r>
          </a:p>
          <a:p xmlns:a="http://schemas.openxmlformats.org/drawingml/2006/main">
            <a:r>
              <a:t>视觉参考：用户提供的《2_最终修改版(1)(1).pptx》通用蓝色科技背景。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/Users/jiangdongting/Yunshao-project/Yunshao/project/docs/Analysis/PRD.md</a:t>
            </a:r>
          </a:p>
          <a:p xmlns:a="http://schemas.openxmlformats.org/drawingml/2006/main">
            <a:r>
              <a:t>/Users/jiangdongting/Yunshao-project/Yunshao/project/docs/Specification/web_pwa_client/tasks.md</a:t>
            </a:r>
          </a:p>
          <a:p xmlns:a="http://schemas.openxmlformats.org/drawingml/2006/main">
            <a:r>
              <a:t>视觉参考：用户提供的《2_最终修改版(1)(1).pptx》通用蓝色科技背景。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/Users/jiangdongting/Yunshao-project/Yunshao/project/docs/Analysis/PRD.md</a:t>
            </a:r>
          </a:p>
          <a:p xmlns:a="http://schemas.openxmlformats.org/drawingml/2006/main">
            <a:r>
              <a:t>/Users/jiangdongting/Yunshao-project/Yunshao/project/src/clients/web/src/pages/AnalyticsPage.vue</a:t>
            </a:r>
          </a:p>
          <a:p xmlns:a="http://schemas.openxmlformats.org/drawingml/2006/main">
            <a:r>
              <a:t>/Users/jiangdongting/Yunshao-project/Yunshao/project/docs/Specification/platform_deployment/evidence/local_pc_20261020.json</a:t>
            </a:r>
          </a:p>
          <a:p xmlns:a="http://schemas.openxmlformats.org/drawingml/2006/main">
            <a:r>
              <a:t>说明：不使用虚构数据。</a:t>
            </a:r>
          </a:p>
          <a:p xmlns:a="http://schemas.openxmlformats.org/drawingml/2006/main">
            <a:r>
              <a:t>视觉参考：用户提供的《2_最终修改版(1)(1).pptx》通用蓝色科技背景。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来源：AtomGit milo-ally-stu/Yunshao 的 model_codex_single-classroom-cycle 分支，提交 844135f，codearts_proof/skills/yunshao-classroom-model-rnd/SKILL.md；AtomGit jdt_123/Yunshao main 分支的 classroom_behavior_training.json 与 model_val/reports；华为云 CodeArts Agent Skills 官方文档 https://support.huaweicloud.com/intl/en-us/usermanual-codeartsagent/codeartsagent_ug_0024.html。图片由 OpenAI image_gen 生成，说明 CodeArts Agent 按 Skill 组织研发的工作方式，不是实际操作截图。仓库训练记录与 Skill 标准配置不同，不据此声称 Skill 全流程已验收。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来源：AtomGit jdt_123/Yunshao main 分支：codearts_proof/prompts/prompt.txt 的提示词3；codearts_proof/skills/project-spec-workflow/SKILL.md；project/docs/Specification/project_spec_workflow/{proposal,spec,design,tasks}.md；华为云 CodeArts Agent Skills 官方文档 https://support.huaweicloud.com/intl/en-us/usermanual-codeartsagent/codeartsagent_ug_0024.html。tasks.md 中 T-01、T-02、T-03 标为完成，包含 AC-01.1 至 AC-04.2 验收记录。图片由 OpenAI image_gen 生成，仅说明 CodeArts Agent + Skill 的工作方式，不是 CodeArts 操作界面截图。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/Users/jiangdongting/Yunshao-project/Yunshao/project/docs/Specification/platform_deployment/evidence/local_pc_20261020.json</a:t>
            </a:r>
          </a:p>
          <a:p xmlns:a="http://schemas.openxmlformats.org/drawingml/2006/main">
            <a:r>
              <a:t>/Users/jiangdongting/Yunshao-project/Yunshao/project/docs/Specification/atlas_edge_runtime/tasks.md</a:t>
            </a:r>
          </a:p>
          <a:p xmlns:a="http://schemas.openxmlformats.org/drawingml/2006/main">
            <a:r>
              <a:t>/Users/jiangdongting/Yunshao-project/Yunshao/project/docs/Specification/web_pwa_client/tasks.md</a:t>
            </a:r>
          </a:p>
          <a:p xmlns:a="http://schemas.openxmlformats.org/drawingml/2006/main">
            <a:r>
              <a:t>视觉参考：用户提供的《2_最终修改版(1)(1).pptx》通用蓝色科技背景。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/Users/jiangdongting/Yunshao-project/Yunshao/project/docs/Analysis/PRD.md</a:t>
            </a:r>
          </a:p>
          <a:p xmlns:a="http://schemas.openxmlformats.org/drawingml/2006/main">
            <a:r>
              <a:t>/Users/jiangdongting/Yunshao-project/Yunshao/project/docs/Design/STRUCTURE.md</a:t>
            </a:r>
          </a:p>
          <a:p xmlns:a="http://schemas.openxmlformats.org/drawingml/2006/main">
            <a:r>
              <a:t>说明：后续规划不代表已经交付。</a:t>
            </a:r>
          </a:p>
          <a:p xmlns:a="http://schemas.openxmlformats.org/drawingml/2006/main">
            <a:r>
              <a:t>视觉参考：用户提供的《2_最终修改版(1)(1).pptx》通用蓝色科技背景。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/Users/jiangdongting/Yunshao-project/Yunshao/readme/assets/system-network-current.svg</a:t>
            </a:r>
          </a:p>
          <a:p xmlns:a="http://schemas.openxmlformats.org/drawingml/2006/main">
            <a:r>
              <a:t>/Users/jiangdongting/Yunshao-project/Yunshao/readme/assets/system-network-current.drawio</a:t>
            </a:r>
          </a:p>
          <a:p xmlns:a="http://schemas.openxmlformats.org/drawingml/2006/main">
            <a:r>
              <a:t>说明：按用户提供的现状拓扑重新排版。公网部署与跨园区 VPN 为后续规划；本页说明当前单园区链路。</a:t>
            </a:r>
          </a:p>
          <a:p xmlns:a="http://schemas.openxmlformats.org/drawingml/2006/main">
            <a:r>
              <a:t>视觉参考：用户提供的《2_最终修改版(1)(1).pptx》通用蓝色科技背景。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/Users/jiangdongting/Yunshao-project/Yunshao/readme/assets/system-network-current.svg</a:t>
            </a:r>
          </a:p>
          <a:p xmlns:a="http://schemas.openxmlformats.org/drawingml/2006/main">
            <a:r>
              <a:t>/Users/jiangdongting/Yunshao-project/Yunshao/project/docs/Design/STRUCTURE.md</a:t>
            </a:r>
          </a:p>
          <a:p xmlns:a="http://schemas.openxmlformats.org/drawingml/2006/main">
            <a:r>
              <a:t>说明：表格依据用户提供的“网络路径与暴露边界”八条记录整理，保留主要端口与访问限制。</a:t>
            </a:r>
          </a:p>
          <a:p xmlns:a="http://schemas.openxmlformats.org/drawingml/2006/main">
            <a:r>
              <a:t>视觉参考：用户提供的《2_最终修改版(1)(1).pptx》通用蓝色科技背景。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fc018cd39a48c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0b68ca5bb649f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fd0bb408b645c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6c31c1eb3642b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514a5068bc41b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179a29f6cf445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40431B9-654A-43E0-A060-42F7A6A53B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E07297B-CEA1-4798-B8F7-3C84B7576F7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82AD7D7-0216-44BB-A6C6-1E5F863B4D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9574F8E-E1E7-40F1-B20D-9758A566CF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53AA8EE-65C6-49F4-ACE6-9BC1DA6F683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864935E-05BF-4483-B2D0-F61BA5B39B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140D614-C560-44DF-825B-AAE2BD9F53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8B72E98-C487-4456-80BC-C79060CBC38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3B51E5F-3881-4B6F-88EE-F59AFA81DD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80A99DC-A79A-4F8E-AA91-7DD33B433A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a0afb04d0564171" /><Relationship Type="http://schemas.openxmlformats.org/officeDocument/2006/relationships/slideLayout" Target="/ppt/slideLayouts/slideLayout1.xml" Id="R6193b0b96fef4c9c" /><Relationship Type="http://schemas.openxmlformats.org/officeDocument/2006/relationships/slideLayout" Target="/ppt/slideLayouts/slideLayout2.xml" Id="R46ce45956b50450b" /><Relationship Type="http://schemas.openxmlformats.org/officeDocument/2006/relationships/slideLayout" Target="/ppt/slideLayouts/slideLayout3.xml" Id="R91a68104fe4b45f8" /><Relationship Type="http://schemas.openxmlformats.org/officeDocument/2006/relationships/slideLayout" Target="/ppt/slideLayouts/slideLayout4.xml" Id="R4bc341a47c6d43d5" /><Relationship Type="http://schemas.openxmlformats.org/officeDocument/2006/relationships/slideLayout" Target="/ppt/slideLayouts/slideLayout5.xml" Id="Rb8b3463f7414466e" /><Relationship Type="http://schemas.openxmlformats.org/officeDocument/2006/relationships/slideLayout" Target="/ppt/slideLayouts/slideLayout6.xml" Id="Rebddb89cb3824c7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193b0b96fef4c9c"/>
    <p:sldLayoutId xmlns:r="http://schemas.openxmlformats.org/officeDocument/2006/relationships" id="2147483650" r:id="R46ce45956b50450b"/>
    <p:sldLayoutId xmlns:r="http://schemas.openxmlformats.org/officeDocument/2006/relationships" id="2147483651" r:id="R91a68104fe4b45f8"/>
    <p:sldLayoutId xmlns:r="http://schemas.openxmlformats.org/officeDocument/2006/relationships" id="2147483652" r:id="R4bc341a47c6d43d5"/>
    <p:sldLayoutId xmlns:r="http://schemas.openxmlformats.org/officeDocument/2006/relationships" id="2147483653" r:id="Rb8b3463f7414466e"/>
    <p:sldLayoutId xmlns:r="http://schemas.openxmlformats.org/officeDocument/2006/relationships" id="2147483654" r:id="Rebddb89cb3824c7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b437ee673c48fd" /><Relationship Type="http://schemas.openxmlformats.org/officeDocument/2006/relationships/image" Target="/ppt/media/image.png" Id="R19e1a3c391d54837" /><Relationship Type="http://schemas.openxmlformats.org/officeDocument/2006/relationships/notesSlide" Target="/ppt/notesSlides/notesSlide1.xml" Id="Ra2190c1f96a944a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a600642d6b4ec2" /><Relationship Type="http://schemas.openxmlformats.org/officeDocument/2006/relationships/image" Target="/ppt/media/image2.png" Id="R30cfddf63e6f4822" /><Relationship Type="http://schemas.openxmlformats.org/officeDocument/2006/relationships/notesSlide" Target="/ppt/notesSlides/notesSlide2.xml" Id="Rfcfa5f24d93a45d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35cbd73e4645d6" /><Relationship Type="http://schemas.openxmlformats.org/officeDocument/2006/relationships/image" Target="/ppt/media/image3.png" Id="R48d93f93050a46df" /><Relationship Type="http://schemas.openxmlformats.org/officeDocument/2006/relationships/image" Target="/ppt/media/image4.png" Id="R087b603f8ad54c60" /><Relationship Type="http://schemas.openxmlformats.org/officeDocument/2006/relationships/notesSlide" Target="/ppt/notesSlides/notesSlide3.xml" Id="Re422ee42425b4d7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6a712c2e904604" /><Relationship Type="http://schemas.openxmlformats.org/officeDocument/2006/relationships/image" Target="/ppt/media/image5.png" Id="Ra7c8ea42736f462c" /><Relationship Type="http://schemas.openxmlformats.org/officeDocument/2006/relationships/notesSlide" Target="/ppt/notesSlides/notesSlide4.xml" Id="Rc703f9df57634a9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b3b7cc85ff4608" /><Relationship Type="http://schemas.openxmlformats.org/officeDocument/2006/relationships/image" Target="/ppt/media/image6.png" Id="R65d1a7818dfe467f" /><Relationship Type="http://schemas.openxmlformats.org/officeDocument/2006/relationships/notesSlide" Target="/ppt/notesSlides/notesSlide5.xml" Id="Ra370fbf818a744e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8b0768bb0f4d2d" /><Relationship Type="http://schemas.openxmlformats.org/officeDocument/2006/relationships/image" Target="/ppt/media/image7.png" Id="R559bb1c990af4353" /><Relationship Type="http://schemas.openxmlformats.org/officeDocument/2006/relationships/notesSlide" Target="/ppt/notesSlides/notesSlide6.xml" Id="R3691a0a57d4849d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8bc9b49f904ae3" /><Relationship Type="http://schemas.openxmlformats.org/officeDocument/2006/relationships/image" Target="/ppt/media/image8.png" Id="R45ba7618df504e54" /><Relationship Type="http://schemas.openxmlformats.org/officeDocument/2006/relationships/image" Target="/ppt/media/image9.png" Id="R5c2ce8af3d294088" /><Relationship Type="http://schemas.openxmlformats.org/officeDocument/2006/relationships/notesSlide" Target="/ppt/notesSlides/notesSlide7.xml" Id="R18874b7fb2014a09" /></Relationships>
</file>

<file path=ppt/slides/_rels/slide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04bca00e97db402a"/><Relationship Type="http://schemas.openxmlformats.org/officeDocument/2006/relationships/image" Target="/ppt/media/image10.png" Id="Re8679f0bc7f04e68"/><Relationship Type="http://schemas.openxmlformats.org/officeDocument/2006/relationships/image" Target="/ppt/media/image11.png" Id="R02fd2d5819b04e47"/><Relationship Type="http://schemas.openxmlformats.org/officeDocument/2006/relationships/notesSlide" Target="/ppt/notesSlides/notesSlide8.xml" Id="R0c43f4e4b78d4416"/><Relationship Id="R1023VideoLink" Type="http://schemas.openxmlformats.org/officeDocument/2006/relationships/video" Target="../media/classroom_behavior_1023.mp4"/><Relationship Id="R1023VideoMedia" Type="http://schemas.microsoft.com/office/2007/relationships/media" Target="../media/classroom_behavior_1023.mp4"/><Relationship Id="R1023VideoPoster" Type="http://schemas.openxmlformats.org/officeDocument/2006/relationships/image" Target="../media/classroom_behavior_1023.jpg"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170434bcb44ec9" /><Relationship Type="http://schemas.openxmlformats.org/officeDocument/2006/relationships/image" Target="/ppt/media/image12.png" Id="R568ee8ac15044985" /><Relationship Type="http://schemas.openxmlformats.org/officeDocument/2006/relationships/notesSlide" Target="/ppt/notesSlides/notesSlide9.xml" Id="R1585d90a5bf64ef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df3fa0119e47cb" /><Relationship Type="http://schemas.openxmlformats.org/officeDocument/2006/relationships/image" Target="/ppt/media/image13.png" Id="R174350ca359e44c1" /><Relationship Type="http://schemas.openxmlformats.org/officeDocument/2006/relationships/image" Target="/ppt/media/image14.png" Id="Rd269cee6013045fc" /><Relationship Type="http://schemas.openxmlformats.org/officeDocument/2006/relationships/notesSlide" Target="/ppt/notesSlides/notesSlide10.xml" Id="R584d3b48d642425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f39f1b3402489a" /><Relationship Type="http://schemas.openxmlformats.org/officeDocument/2006/relationships/image" Target="/ppt/media/image15.png" Id="R845236b2fcdd4e72" /><Relationship Type="http://schemas.openxmlformats.org/officeDocument/2006/relationships/notesSlide" Target="/ppt/notesSlides/notesSlide11.xml" Id="Rb0a855e65d7f439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0f3eaaa6dd41cc" /><Relationship Type="http://schemas.openxmlformats.org/officeDocument/2006/relationships/image" Target="/ppt/media/image16.png" Id="R885dbb1cc40f4f63" /><Relationship Type="http://schemas.openxmlformats.org/officeDocument/2006/relationships/notesSlide" Target="/ppt/notesSlides/notesSlide12.xml" Id="R58e2aeb165364cc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572c8e7228487d" /><Relationship Type="http://schemas.openxmlformats.org/officeDocument/2006/relationships/image" Target="/ppt/media/image17.png" Id="Rb3cc69ecb55b47cf" /><Relationship Type="http://schemas.openxmlformats.org/officeDocument/2006/relationships/notesSlide" Target="/ppt/notesSlides/notesSlide13.xml" Id="R712a3fbde372497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32b9e5358b4ba0" /><Relationship Type="http://schemas.openxmlformats.org/officeDocument/2006/relationships/image" Target="/ppt/media/image18.png" Id="R5a366d4a64c1437d" /><Relationship Type="http://schemas.openxmlformats.org/officeDocument/2006/relationships/image" Target="/ppt/media/image19.png" Id="Rb229929f9ebe4415" /><Relationship Type="http://schemas.openxmlformats.org/officeDocument/2006/relationships/notesSlide" Target="/ppt/notesSlides/notesSlide14.xml" Id="Rd564e6a393de417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1658e6d60945d0" /><Relationship Type="http://schemas.openxmlformats.org/officeDocument/2006/relationships/image" Target="/ppt/media/image20.png" Id="Rd68ef80a39964fab" /><Relationship Type="http://schemas.openxmlformats.org/officeDocument/2006/relationships/image" Target="/ppt/media/image21.png" Id="Rfa19c64be3614f93" /><Relationship Type="http://schemas.openxmlformats.org/officeDocument/2006/relationships/notesSlide" Target="/ppt/notesSlides/notesSlide15.xml" Id="Rc58f5736220042b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2a439bffa74126" /><Relationship Type="http://schemas.openxmlformats.org/officeDocument/2006/relationships/image" Target="/ppt/media/image22.png" Id="R22d2d09990cd45e1" /><Relationship Type="http://schemas.openxmlformats.org/officeDocument/2006/relationships/notesSlide" Target="/ppt/notesSlides/notesSlide16.xml" Id="R4c2bb028d8f6443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97496847914ab1" /><Relationship Type="http://schemas.openxmlformats.org/officeDocument/2006/relationships/image" Target="/ppt/media/image23.png" Id="R9f6fe92789fa44b3" /><Relationship Type="http://schemas.openxmlformats.org/officeDocument/2006/relationships/notesSlide" Target="/ppt/notesSlides/notesSlide17.xml" Id="R73a650ef9d514b29" /></Relationships>
</file>

<file path=ppt/slides/_rels/slide1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3d44ff3daaab43dd"/><Relationship Type="http://schemas.openxmlformats.org/officeDocument/2006/relationships/image" Target="/ppt/media/yunshao-network-topology.png" Id="R7dea1ee9b83e4b31"/><Relationship Type="http://schemas.openxmlformats.org/officeDocument/2006/relationships/notesSlide" Target="/ppt/notesSlides/notesSlide18.xml" Id="Rd5dadc634e764d1f"/></Relationships>
</file>

<file path=ppt/slides/_rels/slide1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c8e390688ca0443a"/><Relationship Type="http://schemas.openxmlformats.org/officeDocument/2006/relationships/image" Target="/ppt/media/yunshao-network-boundaries.png" Id="R2f0bad197d884956"/><Relationship Type="http://schemas.openxmlformats.org/officeDocument/2006/relationships/notesSlide" Target="/ppt/notesSlides/notesSlide19.xml" Id="R21a7d78ce93341f0"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4E4D10-EF80-4168-8F5A-9C8FE4280E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e1a3c391d5483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70F85F-AC2D-4D2C-BD38-FB665F6F8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C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FAE64B-E7A4-4CFE-9357-8E4B5EFF3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5350"/>
            <a:ext cx="704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YUNSHAO  /  AIoT EDGE VISION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B5390C-4DC7-4477-AE76-AB6C1121F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09700"/>
            <a:ext cx="1666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6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4B1B22-5D3B-4C13-B179-6E992D9A1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7429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61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61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61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61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61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61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61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61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61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61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61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6150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云  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23C8CA-9E8E-4D2E-AC10-E69AB8AB5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100012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5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5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5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5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5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5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5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5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5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5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5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面向多行业的 AIoT</a:t>
            </a:r>
          </a:p>
          <a:p xmlns:a="http://schemas.openxmlformats.org/drawingml/2006/main">
            <a:pPr>
              <a:defRPr sz="35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5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边缘视频智能平台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EA9E44-0EB6-43D1-A275-027D6DE13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14950"/>
            <a:ext cx="1019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产品定位  ·  平台能力  ·  试点验证  ·  CodeArts 开发过程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B3A525-D330-4B78-9E54-59469E113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2484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2026.10</a:t>
            </a:r>
          </a:p>
        </p:txBody>
      </p:sp>
    </p:spTree>
    <p:extLst>
      <p:ext uri="{BB962C8B-B14F-4D97-AF65-F5344CB8AC3E}">
        <p14:creationId xmlns:p14="http://schemas.microsoft.com/office/powerpoint/2010/main" val="166985685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AD3932-13E7-42C6-99DC-4C7BE6F07D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cfddf63e6f482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1C29C0-D9CD-4D2E-8CC7-F9F0300D3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C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5C78B2-EEA3-4FE1-9970-9B298D242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"/>
            <a:ext cx="3810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5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5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5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5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5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5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5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5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5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CONTENTS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3F8C6F-25F5-43E9-A043-CABCC7E86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23950"/>
            <a:ext cx="28956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5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5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5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5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5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5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5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5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5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5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5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54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目录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002348-1A09-4098-9AB9-6E195ED8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333625"/>
            <a:ext cx="1600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6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8DDC3F-4551-4247-B4A8-AF929BCD0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162050"/>
            <a:ext cx="85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6630BA-099A-4FF6-B25B-D4E3D5B7D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1266825"/>
            <a:ext cx="26955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产品定位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BB20C7-D264-4692-B681-40395EE76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00250"/>
            <a:ext cx="3095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1B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C5ADCE-541A-4827-A61E-3C6482AD5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162050"/>
            <a:ext cx="85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B882A3-7960-4DD6-8049-E2B383261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1266825"/>
            <a:ext cx="26955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核心架构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0E0512-57F0-4507-99FC-F3BF96D74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000250"/>
            <a:ext cx="3095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1B3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2FB75D-4EB8-4A2B-A8CD-70BB39202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24150"/>
            <a:ext cx="85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962BD1-557D-4BB6-911B-6BE7667EF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828925"/>
            <a:ext cx="26955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场景演示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4B56AD-9EBC-4F84-8460-C6A3F6B92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62350"/>
            <a:ext cx="3095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1B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85C440-AD73-4615-AFAE-BE360249D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24150"/>
            <a:ext cx="85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4FA59D-A5C6-42AF-B70A-CA8A0BCCD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828925"/>
            <a:ext cx="26955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运营闭环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2793ED-E1CD-4763-8AC9-3B2BD02F9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562350"/>
            <a:ext cx="3095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1B3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0A6438-214D-4B1E-95F0-935F21BA0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286250"/>
            <a:ext cx="85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5E4C78-DCAF-420D-985C-EFE14373F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4391025"/>
            <a:ext cx="26955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CodeArts 实践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C9232C-ACCC-443B-ACF0-3654ECA97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124450"/>
            <a:ext cx="3095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1B3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E98045-9E57-48F2-859B-05C182115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286250"/>
            <a:ext cx="85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2A25BC-1329-4E4F-B973-50956A2DC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4391025"/>
            <a:ext cx="26955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阶段判断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132737-C2BB-4561-9963-264AF6D1C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124450"/>
            <a:ext cx="3095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1B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EE874C-9216-46FA-BA29-35B2830DD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150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从首发教室试点，走向可复用的多行业平台</a:t>
            </a:r>
          </a:p>
        </p:txBody>
      </p:sp>
    </p:spTree>
    <p:extLst>
      <p:ext uri="{BB962C8B-B14F-4D97-AF65-F5344CB8AC3E}">
        <p14:creationId xmlns:p14="http://schemas.microsoft.com/office/powerpoint/2010/main" val="130073454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75D834-CEBF-4B84-809F-F99D2C1361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d93f93050a46df"/>
          <a:srcRect xmlns:a="http://schemas.openxmlformats.org/drawingml/2006/main" l="6" t="0" r="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6056FC-05D2-4221-9D1B-54471C6DC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C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EA4DCE-66EE-4C75-850E-3D1616C94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143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6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D20A65-771C-4724-AD19-046B91945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1000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YUNSHAO  /  01 / 产品定位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FE42DF-2815-41AA-BFAE-E03344685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9442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一套平台，连接多种现场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D72EAA-62DB-42EE-A147-F5FE1B2D7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1B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36FE03-DB9F-4B3F-81AB-8D5FB140E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022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云哨定位：面向多行业的 AIoT 边缘视频智能平台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DBC51B-2E5E-4FEC-973E-85BC51F04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2674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6B6C53-8689-443D-86B1-2854DD0ED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764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6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653528-3E01-4AB6-AAFE-7F0D5C4A2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47900"/>
            <a:ext cx="442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底座复用，算法按场景扩展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A0F78B-AAFD-4970-A3B1-24D401423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38475"/>
            <a:ext cx="43815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接入 · 视频 · 规则 · 事件 · 通知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BEE0E9-3B23-4F63-B96E-C1F14B21C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10075"/>
            <a:ext cx="443865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9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9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9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9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9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9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9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9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9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以教室行为检测为首发试点，复用统一平台能力扩展园区、仓储等场景。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52A434-77EE-4DE0-A039-0D58E144180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7b603f8ad54c60"/>
          <a:stretch xmlns:a="http://schemas.openxmlformats.org/drawingml/2006/main"/>
        </p:blipFill>
        <p:spPr>
          <a:xfrm xmlns:a="http://schemas.openxmlformats.org/drawingml/2006/main">
            <a:off x="5638800" y="2106083"/>
            <a:ext cx="5791200" cy="3217333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5FE303-8ED7-4763-AC43-3E34A9ADB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085975"/>
            <a:ext cx="5791200" cy="3257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32C9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8B0786-1F8B-44AA-AEB9-DC2EA57A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5505450"/>
            <a:ext cx="58007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7FA9C4"/>
                </a:solidFill>
                <a:latin typeface="PingFang SC"/>
                <a:ea typeface="PingFang SC"/>
                <a:cs typeface="PingFang SC"/>
              </a:rPr>
              <a:t>真实系统页面；设备与事件为模拟数据</a:t>
            </a:r>
          </a:p>
        </p:txBody>
      </p:sp>
    </p:spTree>
    <p:extLst>
      <p:ext uri="{BB962C8B-B14F-4D97-AF65-F5344CB8AC3E}">
        <p14:creationId xmlns:p14="http://schemas.microsoft.com/office/powerpoint/2010/main" val="189070047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E5F66B-737B-4289-A042-02D283C5260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c8ea42736f462c"/>
          <a:srcRect xmlns:a="http://schemas.openxmlformats.org/drawingml/2006/main" l="6" t="0" r="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072F5C-153A-4312-8763-F9E176A7A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C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1B4D6B-E49A-40AE-BF34-0054CC890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143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6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B970A0-104A-4DB2-B0CB-873F3E431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1000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YUNSHAO  /  02 / 业务闭环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28522E-03D4-4BEE-81A9-ED7AD3DF5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9442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从画面到处置，形成可追踪闭环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3099E5-6B74-42DF-9C1A-0F9ADE918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1B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233E98-0FC2-4DD2-9187-3D061A52C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022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首发规格覆盖完整链路；实际端到端能力以真实设备验收为准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4AFAA2-657D-4D05-AA50-16712E3CB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2674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5CA39D-28C7-490D-8269-E2C6CA95F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19350"/>
            <a:ext cx="252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C9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EF2779-17D0-4534-A2EE-30778E311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09850"/>
            <a:ext cx="1066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497615-2DD1-4D3A-BAA4-8FEAB18BD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67100"/>
            <a:ext cx="2571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视频接入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62B8E2-30EF-4BEA-AFA9-FA2BC7EA7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43400"/>
            <a:ext cx="24479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摄像头画面与设备状态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420693-5E4B-4ACB-8842-CC42440C2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876550"/>
            <a:ext cx="190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1B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6F79B7-600F-44C9-B023-624AD174B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419350"/>
            <a:ext cx="252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C9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9CF3D2-66DD-4191-9AF0-0250BE19D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609850"/>
            <a:ext cx="1066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8F85FB-ED88-462C-9C54-DF5FD2B46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467100"/>
            <a:ext cx="2571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边缘识别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083D3A-2621-48FC-954E-760CB599A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343400"/>
            <a:ext cx="24479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模型输出目标与行为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A72C01-2D47-4A74-A46E-53BF6F8DF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876550"/>
            <a:ext cx="190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1B3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FAF921-3544-4A12-90E1-20DCC9309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419350"/>
            <a:ext cx="252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6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E636D3-798B-4840-AAB3-34263E442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609850"/>
            <a:ext cx="1066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306758-51EC-405B-AFFF-74CAE0CEC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467100"/>
            <a:ext cx="2571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规则告警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D647AA-D4A8-4D8D-8A63-B5E8672F8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343400"/>
            <a:ext cx="24479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命中规则才产生事件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FD2585-9CF9-44BF-9FF9-BEAB5301B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876550"/>
            <a:ext cx="190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1B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3EC487-5199-42C3-BD66-7535181E1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419350"/>
            <a:ext cx="252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C9F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756DAC-5071-49F6-B985-015D940B6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609850"/>
            <a:ext cx="1066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5CE20C-91E3-4F64-9FCA-51A96E95C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467100"/>
            <a:ext cx="2571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协同处置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7CA2B4-E6F0-4426-A546-B098ACB25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343400"/>
            <a:ext cx="24479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Web / PWA 查看与处理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70FC21-CB02-4A23-B984-ABC995535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76900"/>
            <a:ext cx="108489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1B3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89A364-B9F1-4ABF-B53D-90620B0BB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48350"/>
            <a:ext cx="10620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0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0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0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0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0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0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0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0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0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边缘实时处理    /    事件证据沉淀    /    人员处理记录</a:t>
            </a:r>
          </a:p>
        </p:txBody>
      </p:sp>
    </p:spTree>
    <p:extLst>
      <p:ext uri="{BB962C8B-B14F-4D97-AF65-F5344CB8AC3E}">
        <p14:creationId xmlns:p14="http://schemas.microsoft.com/office/powerpoint/2010/main" val="137875913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8468451-433B-4ACE-8126-FCF77D5C2F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d1a7818dfe467f"/>
          <a:srcRect xmlns:a="http://schemas.openxmlformats.org/drawingml/2006/main" l="6" t="0" r="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B24F3C-9710-4399-8194-D52B937A5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C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B4C8CB-8F7E-48B2-BE6C-FF8EFA7C5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143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6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78310D-8714-411C-B8C3-BD3E3D30A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1000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YUNSHAO  /  03 / 核心架构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6475C6-744D-4F49-BE40-542C84CD8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9442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边缘负责识别，平台负责协同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474024-A364-43D8-B79B-31C092E52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1B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BE7C4F-9867-41B8-BEE7-13503E93D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022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当前首发为单园区部署；跨园区公有云拓扑仍属规划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4ED12D-B7C1-4998-9269-A5A7A2A29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2674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A24881-997E-4CE8-989B-7D819CDFF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57450"/>
            <a:ext cx="2352675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32C9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82F143-3289-4592-A02B-30F67743A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57450"/>
            <a:ext cx="23526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C9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021BB9-7111-451A-9594-AA1C9B78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657475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BFC00D-6B1D-4B8B-B706-C6D7731AA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124200"/>
            <a:ext cx="2047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摄像头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0CB339-72B7-4D1B-B4D6-51C9B0D9F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733800"/>
            <a:ext cx="204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H.264 / RTSP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A71BCC-095A-4A34-8C6B-7184B6BCC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05150"/>
            <a:ext cx="38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40D045-78F8-437B-A477-BD840CF29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457450"/>
            <a:ext cx="2352675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F5C86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A3BAEA-B93A-4897-9393-3F0C760A1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457450"/>
            <a:ext cx="23526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6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6FD9C9-B8D8-4365-9DB5-8E11508D5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657475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A1D2D2-E5C0-4F55-B104-025E76132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24200"/>
            <a:ext cx="2047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Atlas 边缘端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893AEA-8F47-41AA-968D-4E250FAFC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733800"/>
            <a:ext cx="204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本地推理 / 事件筛选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6587DA-0D02-4377-BC49-433C769D8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105150"/>
            <a:ext cx="38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362F15-55D9-4718-B393-44A5D4BB1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457450"/>
            <a:ext cx="2352675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32C9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86FBC7-A248-4EC1-83AC-E487C0289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457450"/>
            <a:ext cx="23526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C9FF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77AD24-8B91-49C2-8E63-957BCE253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657475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7810B9-1FED-4065-8916-CE202D5D8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124200"/>
            <a:ext cx="2047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园区平台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1C8A36-DB95-4ABB-8BE1-BCBAF44C0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733800"/>
            <a:ext cx="204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媒体 / 设备 / 事件 / Push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91E969-8049-4E37-ADDA-58F40A9AA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105150"/>
            <a:ext cx="38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3DB915-410B-4A4C-8B86-EBA6BE23A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457450"/>
            <a:ext cx="2352675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32C9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560B8D-E360-442D-A48E-A73B2E8CF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457450"/>
            <a:ext cx="23526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C9FF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0A8A4F-5B25-44AB-BF82-0C2B3F662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657475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568963-B89B-4557-ADFB-3E8BC42D2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124200"/>
            <a:ext cx="2047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Web / PWA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1FDCA1-DA72-4813-BD4C-FA4B366E3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733800"/>
            <a:ext cx="204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实时查看 / 追溯处置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C84F420-350B-470D-B5C9-2E8B78E5E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57750"/>
            <a:ext cx="10810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RTSP 摄像头 → Atlas 推理 → MQTT/TLS 事件上报 → 云端业务服务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31A70E2-1660-485F-A93D-A63040A7B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34000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5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5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5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5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5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5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5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5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5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MediaMTX 管理 RTSP / WebRTC / HLS；浏览器经 Nginx HTTPS 443 访问，数据库仅内部 TCP 5432。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1293BF8-3C40-4DA5-8856-3AD51FB2B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10275"/>
            <a:ext cx="10810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7FA9C4"/>
                </a:solidFill>
                <a:latin typeface="PingFang SC"/>
                <a:ea typeface="PingFang SC"/>
                <a:cs typeface="PingFang SC"/>
              </a:rPr>
              <a:t>当前单园区网络拓扑详图与 draw.io 源文件保留在项目 readme/assets。</a:t>
            </a:r>
          </a:p>
        </p:txBody>
      </p:sp>
    </p:spTree>
    <p:extLst>
      <p:ext uri="{BB962C8B-B14F-4D97-AF65-F5344CB8AC3E}">
        <p14:creationId xmlns:p14="http://schemas.microsoft.com/office/powerpoint/2010/main" val="67408744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B0B2BE-C695-4AC4-82CB-562E2F4499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9bb1c990af4353"/>
          <a:srcRect xmlns:a="http://schemas.openxmlformats.org/drawingml/2006/main" l="6" t="0" r="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1E3CB8-D806-47F7-8FBA-4B857E0C9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C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26166C-13E1-4CBB-916C-ECFF796E5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143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6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05FEF4-C025-4DA2-A74F-59E6A3F6F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1000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YUNSHAO  /  04 / 核心亮点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2D1FC6-9DEC-4585-B535-06BC734B8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9442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多行业扩展的四个支点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F4EEC1-A24D-4E07-A6A3-C011ED3A9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1B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845D0E-17D8-4A82-B4B6-03FBB407D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022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平台能力和场景算法解耦，先验证一条真实链路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816B27-5204-4980-9830-E0746A2F1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2674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3932BC-0EA7-48B2-A17A-C8E75F161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81250"/>
            <a:ext cx="5715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6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A5C413-999E-4F61-AD74-59E490937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622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边缘识别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EB144B-C8B2-4293-BE0B-96FA85A2C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49434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现场完成模型推理，降低中心端负担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C2040F-A58E-449B-A95D-EBB064062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381250"/>
            <a:ext cx="5715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C9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8A3ADD-636F-4089-9DF6-B1814F6F1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622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规则驱动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6C3991-3C23-4629-944B-42CE23890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00375"/>
            <a:ext cx="49434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检测与告警分开配置，按需触发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1B4CA6-0EF8-45CA-8442-91871C20D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67175"/>
            <a:ext cx="5715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C9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88FE56-D636-47CB-BC1C-0294E819C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48125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统一处置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8E1159-5253-4140-9A28-613407000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86300"/>
            <a:ext cx="49434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截图、状态与处理记录集中追踪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716B4B-288E-4CCD-B9E6-AF364F6F7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067175"/>
            <a:ext cx="5715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C9F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18D117-2E52-4272-B0B5-1FF290A36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48125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底座复用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8BFBFC-AB3C-41AC-B56F-A6FCD4E81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686300"/>
            <a:ext cx="49434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接入、视频、事件和通知能力共享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72A417-40A1-48D2-925F-F9675FB36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38825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50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50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50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50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50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50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50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50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50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习近平：推动互联网、大数据、人工智能同实体经济深度融合。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0065D4-D72F-46BB-A834-056FFDBD4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43625"/>
            <a:ext cx="10839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项目实践：把算法部署到 Atlas 边缘端，验证现场识别与云端业务协同。</a:t>
            </a:r>
          </a:p>
        </p:txBody>
      </p:sp>
    </p:spTree>
    <p:extLst>
      <p:ext uri="{BB962C8B-B14F-4D97-AF65-F5344CB8AC3E}">
        <p14:creationId xmlns:p14="http://schemas.microsoft.com/office/powerpoint/2010/main" val="187231671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6DC4F6-BA70-4A37-875D-F7021265AF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ba7618df504e54"/>
          <a:srcRect xmlns:a="http://schemas.openxmlformats.org/drawingml/2006/main" l="6" t="0" r="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4599C9-55F0-4BA4-A2BD-A9B5C7AF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C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DF60E5-90CE-4248-A0BB-B4EA3F585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143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6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2F3EAD-3E4D-4CA4-8405-AA956B621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1000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YUNSHAO  /  05 / 边缘计算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7E5302-75EB-4F4A-8E25-5BC617C43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9442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Atlas 200I DK A2：模型落在现场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6F5AE8-84DD-489E-90EB-6543BDDD8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1B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BB9C52-E3E5-4476-A647-A554089FA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022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板端已有模型加载与合成视频处理验证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7F4845-1BA5-4C2B-913C-FC076F0BF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2674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4A08DF-C4FE-4FE4-B534-B0D0302B8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58769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32C9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8DBE41-CEAF-46B8-BAC5-599898FF2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58769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C9FF"/>
          </a:solidFill>
          <a:ln xmlns:a="http://schemas.openxmlformats.org/drawingml/2006/main" w="0">
            <a:noFill/>
          </a:ln>
        </p:spPr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44E8DD-6A44-4D22-B210-C919BDADF1E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2ce8af3d294088"/>
          <a:stretch xmlns:a="http://schemas.openxmlformats.org/drawingml/2006/main"/>
        </p:blipFill>
        <p:spPr>
          <a:xfrm xmlns:a="http://schemas.openxmlformats.org/drawingml/2006/main">
            <a:off x="800100" y="2490224"/>
            <a:ext cx="5476875" cy="2420477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07E050-9CA2-41E4-A1ED-C7851C0F9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14925"/>
            <a:ext cx="5476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7FA9C4"/>
                </a:solidFill>
                <a:latin typeface="PingFang SC"/>
                <a:ea typeface="PingFang SC"/>
                <a:cs typeface="PingFang SC"/>
              </a:rPr>
              <a:t>现有硬件产品图，非团队部署实拍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70AD7C-88FB-4A5F-9D00-1B68F8B98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29552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6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0C21C9-63A7-4A5D-989E-A58AA47F4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266950"/>
            <a:ext cx="38385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现场推理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D7FF41-E5C0-4D18-8009-ACCB0C84D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019425"/>
            <a:ext cx="4095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Ascend 310B4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CD753F-8E9D-4D13-A80D-F74C1C98B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629025"/>
            <a:ext cx="4095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YOLO11n / 640 模型流程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73F990-39D1-4FAC-ABA1-744635E40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781550"/>
            <a:ext cx="40100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真实相机 → 浏览器播放链路仍待联调验收。</a:t>
            </a:r>
          </a:p>
        </p:txBody>
      </p:sp>
    </p:spTree>
    <p:extLst>
      <p:ext uri="{BB962C8B-B14F-4D97-AF65-F5344CB8AC3E}">
        <p14:creationId xmlns:p14="http://schemas.microsoft.com/office/powerpoint/2010/main" val="90559894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A1828A-23DE-4EA4-BBBC-031E1B93CD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679f0bc7f04e68"/>
          <a:srcRect xmlns:a="http://schemas.openxmlformats.org/drawingml/2006/main" l="6" t="0" r="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AC99D8-D183-4F90-B0FB-4AC68F529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C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A3FAD7-96B7-42FD-A948-53C5E15F7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143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6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00427E-A119-4087-B678-5BC3200BF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1000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YUNSHAO  /  06 / 场景演示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2C5362-33B1-430B-9EA4-AC6509A0A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9442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教室可见行为：用真实视频说明场景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63686B-A437-47EF-AE25-8329DF74D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1B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81DC15-1A22-425E-9A74-8275C5189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022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15 秒课堂素材；放映时点击视频画面播放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F25FEC-3458-4E14-B8F5-DFDBCEE52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2674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0A2CA5-FACB-4412-B738-DEA7AF9732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fd2d5819b04e47"/>
          <a:srcRect xmlns:a="http://schemas.openxmlformats.org/drawingml/2006/main" l="0" t="44" r="0" b="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047875"/>
            <a:ext cx="7219950" cy="4057650"/>
          </a:xfrm>
          <a:prstGeom xmlns:a="http://schemas.openxmlformats.org/drawingml/2006/main" prst="rect">
            <a:avLst/>
          </a:prstGeom>
        </p:spPr>
      </p:pic>
      <p:pic xmlns:a="http://schemas.openxmlformats.org/drawingml/2006/main" xmlns:r="http://schemas.openxmlformats.org/officeDocument/2006/relationships">
        <p:nvPicPr>
          <p:cNvPr id="19" name="课堂行为演示视频">
            <a:hlinkClick action="ppaction://media"/>
          </p:cNvPr>
          <p:cNvPicPr>
            <a:picLocks noChangeAspect="1"/>
          </p:cNvPicPr>
          <p:nvPr>
            <a:videoFile r:link="R1023VideoLink"/>
            <p:extLst>
              <p:ext uri="{DAA4B4D4-6D71-4841-9C94-3DE7FCFB9230}">
                <p14:media xmlns:p14="http://schemas.microsoft.com/office/powerpoint/2010/main" r:embed="R1023VideoMedia"/>
              </p:ext>
            </p:extLst>
          </p:nvPr>
        </p:nvPicPr>
        <p:blipFill>
          <a:blip r:embed="R1023VideoPoster"/>
          <a:stretch>
            <a:fillRect/>
          </a:stretch>
        </p:blipFill>
        <p:spPr>
          <a:xfrm>
            <a:off x="619125" y="2047875"/>
            <a:ext cx="7219950" cy="4057650"/>
          </a:xfrm>
          <a:prstGeom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E6E0EF-36D6-4A89-856B-DCB84A2AB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47875"/>
            <a:ext cx="7219950" cy="405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32C9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056676-858A-408C-8E5E-F5DDCAB34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47875"/>
            <a:ext cx="7219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C9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93BBE1-6431-45F5-9E64-5F32D8FE4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257425"/>
            <a:ext cx="3048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9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9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9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9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9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9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9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9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9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首发试点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015BC0-2402-45BA-AAA1-E473BB015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943225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举手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ECBD51-BB6A-4B53-92C0-573ABCEC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714750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阅读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D7D686-B5CB-4F72-8D15-B248A948F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486275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书写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BF50D7-8283-478B-BED0-2BFE8F802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324475"/>
            <a:ext cx="29622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6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C802DF-3E46-45AE-B87D-C35FAA837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553075"/>
            <a:ext cx="3086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真实课堂素材；未叠加模型识别结果</a:t>
            </a:r>
          </a:p>
        </p:txBody>
      </p:sp>
    </p:spTree>
    <p:extLst>
      <p:ext uri="{BB962C8B-B14F-4D97-AF65-F5344CB8AC3E}">
        <p14:creationId xmlns:p14="http://schemas.microsoft.com/office/powerpoint/2010/main" val="1275542828"/>
      </p:ext>
    </p:extLst>
  </p:cSld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9"/>
                </p:tgtEl>
              </p:cMediaNode>
            </p:video>
          </p:childTnLst>
        </p:cTn>
      </p:par>
    </p:tnLst>
  </p:timing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EC6368-31F9-4CDF-9471-597E1BCE01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8ee8ac15044985"/>
          <a:srcRect xmlns:a="http://schemas.openxmlformats.org/drawingml/2006/main" l="6" t="0" r="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D9BA66-288C-471A-9573-020F5BBE9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C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6DCE4E-6020-4C2E-8F0E-441A70D6F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143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6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75E9D8-4F08-48C9-9F8C-8D1FE05DD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1000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YUNSHAO  /  07 / 规则机制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D4B6F6-2B59-4A28-8F1C-49D1848F2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9442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检测结果与告警分开管理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93FDB1-A3CA-4B06-B3FF-83CB8CB6E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1B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2C6CD1-1BF4-4AF9-9F60-AAF3CB38C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022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识别持续运行；告警由业务规则决定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7DE047-9BF4-4CB0-913C-D7E246E46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2674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0D19BD-BFE2-497B-950D-F399C7866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09825"/>
            <a:ext cx="50577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C4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75C42C-EF97-43B9-9523-D3DC63AFD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09825"/>
            <a:ext cx="50577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32C9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F9AD48-8EDD-49E9-B071-4500F7767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09825"/>
            <a:ext cx="50577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C9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254AFF-E9D9-4803-BEFE-2E6D319A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62250"/>
            <a:ext cx="42672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5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5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5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5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5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5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5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5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5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5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3525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检测输出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BE10BB-3DB1-4C62-B6B6-C7DF2CD50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590925"/>
            <a:ext cx="421005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行为类别</a:t>
            </a:r>
          </a:p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目标框</a:t>
            </a:r>
          </a:p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置信度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029E1C-E68D-4CCC-B6BE-8FF82D078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409825"/>
            <a:ext cx="50577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C4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EA81EC-76D0-4CF9-B93E-7DAFC57A6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409825"/>
            <a:ext cx="50577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F5C86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6B6995-1756-4F47-AE32-24DE39BF0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409825"/>
            <a:ext cx="50577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6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F62066-DAFA-4DDC-BEB7-AD900F236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62250"/>
            <a:ext cx="42672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5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5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5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5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5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5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5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5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5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5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352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告警规则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1B7A91-B4B6-47CB-889F-7594E3756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3590925"/>
            <a:ext cx="421005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开关 / 阈值</a:t>
            </a:r>
          </a:p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持续时间 / 等级</a:t>
            </a:r>
          </a:p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命中后生成事件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6407AB-57D3-4899-9AE9-9CB8DE479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00725"/>
            <a:ext cx="108013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0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0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0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0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0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0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0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0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0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课堂告警默认关闭</a:t>
            </a:r>
          </a:p>
        </p:txBody>
      </p:sp>
    </p:spTree>
    <p:extLst>
      <p:ext uri="{BB962C8B-B14F-4D97-AF65-F5344CB8AC3E}">
        <p14:creationId xmlns:p14="http://schemas.microsoft.com/office/powerpoint/2010/main" val="168329452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074664-2D22-4679-88C1-7DD1EB485B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4350ca359e44c1"/>
          <a:srcRect xmlns:a="http://schemas.openxmlformats.org/drawingml/2006/main" l="6" t="0" r="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4C6B2D-9AB8-4AAC-9CB0-1843AE3FF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C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743303-95C4-4088-BD60-E0D5C5B7D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143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6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A200CC-561F-4E59-B414-2AE8C5673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1000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YUNSHAO  /  08 / 实时监控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9A6053-246C-4B0B-8239-5EC364A22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9442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画面、状态与来源同屏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7DE777-394E-4CC3-8F2F-7C5E225A8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1B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1CDE40-2E5E-42F7-B35C-17493851B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022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桌面端承担实时监控，移动端聚焦通知与事件详情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0C6BDF-2EC5-4BFA-8CD9-D809B8761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2674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374E28-CD72-42B6-8180-1C0A5479A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66950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6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84E0B3-158F-4AC5-B9B3-44952417B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38375"/>
            <a:ext cx="44100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授权摄像头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0F1B90-1231-45AE-84B5-1D28CF802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38475"/>
            <a:ext cx="438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设备筛选与状态查看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F6FF45-C1A5-4559-A254-5DA421B3F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33800"/>
            <a:ext cx="438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WebRTC 优先 / HLS 回退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77FFEC-5433-4741-B871-86F2BA676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29175"/>
            <a:ext cx="42481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统一进入事件详情，查看告警截图与处理记录。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CF82CF-F434-4538-A62D-07F9E23347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69cee6013045fc"/>
          <a:stretch xmlns:a="http://schemas.openxmlformats.org/drawingml/2006/main"/>
        </p:blipFill>
        <p:spPr>
          <a:xfrm xmlns:a="http://schemas.openxmlformats.org/drawingml/2006/main">
            <a:off x="5734050" y="2270654"/>
            <a:ext cx="5695950" cy="3164417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679CFD-8733-46A8-BD06-D52D3FDD3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162175"/>
            <a:ext cx="569595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32C9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76EB52-732D-41B9-817E-3EA83B8B7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5676900"/>
            <a:ext cx="57245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7FA9C4"/>
                </a:solidFill>
                <a:latin typeface="PingFang SC"/>
                <a:ea typeface="PingFang SC"/>
                <a:cs typeface="PingFang SC"/>
              </a:rPr>
              <a:t>真实系统监控页；当前未连接真实相机视频</a:t>
            </a:r>
          </a:p>
        </p:txBody>
      </p:sp>
    </p:spTree>
    <p:extLst>
      <p:ext uri="{BB962C8B-B14F-4D97-AF65-F5344CB8AC3E}">
        <p14:creationId xmlns:p14="http://schemas.microsoft.com/office/powerpoint/2010/main" val="99009155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2BE91D-728E-4BC8-A9E6-E4EB1A09E1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5236b2fcdd4e72"/>
          <a:srcRect xmlns:a="http://schemas.openxmlformats.org/drawingml/2006/main" l="6" t="0" r="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2C0D37-3DD7-4CF4-88BA-932507622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C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180743-1C91-452F-8908-99A8B284C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143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6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A01E18-B8AC-49F7-BA8F-DE422E732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1000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YUNSHAO  /  09 / 事件处置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F87AA8-A3A5-422C-BF25-449A0E387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9442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每次告警，都有证据与处理记录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0C1963-776F-4E38-8A6F-AAB83FD5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1B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77FA7A-D554-4153-AD9E-35A6E6E63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022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让异常从发生到结案可追踪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741484-6DF3-4B6E-AFA0-4500A7276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2674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3E9A0C-499C-41A4-925E-355DB47BF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00400"/>
            <a:ext cx="990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1B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248262-9FEF-4402-A53D-4626EDBFF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038475"/>
            <a:ext cx="266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C9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CCFFBA-F12B-436A-A8DB-8F0599792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8ABC8E-585B-47EA-997B-18297FACE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2266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规则命中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02D455-9C0C-45BB-A422-FFFB2CE8D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0"/>
            <a:ext cx="23907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时间、设备、等级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CFCCC3-C673-45E2-932B-B25831F21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038475"/>
            <a:ext cx="266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C9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971D4A-02B0-495B-83FF-88E13ED7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4574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DD1961-16E6-4EF8-9B50-827EBFC98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619500"/>
            <a:ext cx="2266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留存截图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F5D48C-0FBF-4842-85AD-7D3E0CBCE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286250"/>
            <a:ext cx="23907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画面证据关联事件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EFC488-A9FB-4704-ABDC-64BA7F6B5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038475"/>
            <a:ext cx="266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C9F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76DA91-9A74-4396-BB7F-E14219422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574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AD49DA-A281-4827-8E1F-57E4E17A3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19500"/>
            <a:ext cx="2266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人员处理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2E3174-3029-4BEE-B335-F42E5DE51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86250"/>
            <a:ext cx="23907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解除 / 误报 / 跟进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1BD661-7F94-40DA-8389-F3EACCC98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038475"/>
            <a:ext cx="266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C9FF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74ED6E-0290-4DA9-971E-1DA65BF58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4574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A932D8-2478-48E4-B16C-16DBE2795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619500"/>
            <a:ext cx="2266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历史追溯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16BD0D-5676-49BE-A6AA-EAC25DFFD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286250"/>
            <a:ext cx="23907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状态与时间线保留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D23C59-E1D8-49DC-B500-21E15832E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0070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0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0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0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0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0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0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0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0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0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截图上传后保留 24 小时；事件与处理记录继续可查</a:t>
            </a:r>
          </a:p>
        </p:txBody>
      </p:sp>
    </p:spTree>
    <p:extLst>
      <p:ext uri="{BB962C8B-B14F-4D97-AF65-F5344CB8AC3E}">
        <p14:creationId xmlns:p14="http://schemas.microsoft.com/office/powerpoint/2010/main" val="32483855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75410C-DCD0-4702-BBB1-49209B0C94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5dbb1cc40f4f63"/>
          <a:srcRect xmlns:a="http://schemas.openxmlformats.org/drawingml/2006/main" l="6" t="0" r="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B318B1-08A2-4B54-8A77-9CB843794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C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B2207D-14A4-4968-AC0B-D7D111E48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143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6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FB399C-7ED7-4F5A-A34D-6FC3ACC06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1000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YUNSHAO  /  10 / 移动触达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AF1480-EEDF-4C50-8DEE-4BB7D68B2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9442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PWA 告警，直达事件详情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82FA35-4D43-4289-90F8-DB0485EA4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1B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F2EFB0-9EF8-42EC-AE85-DDD765570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022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让处理人员从通知进入同一条事件记录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BC84E6-73C7-453B-86DE-C6C6665B1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2674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8E04DC-3A4E-4CC3-A84A-116CCB523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05075"/>
            <a:ext cx="4953000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60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960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960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960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960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960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960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960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960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960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960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960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PWA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72641D-BA00-494A-948E-FB2E39940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162425"/>
            <a:ext cx="451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6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F6FE58-7886-4375-BF0F-E2518E256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05050"/>
            <a:ext cx="46863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订阅通知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978D00-8974-433D-8D5D-D50FA279A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33750"/>
            <a:ext cx="46863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规则命中后推送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FCC420-2DCD-4264-A756-DCD42305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62450"/>
            <a:ext cx="46863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鉴权后打开详情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D4F7D3-50E8-4699-98FD-33582D03F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67050"/>
            <a:ext cx="4524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1B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5CED4E-C362-46F3-94BD-95C103D36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95750"/>
            <a:ext cx="4524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1B3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9C3786-EB8F-45BD-A6F0-395A87A83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72125"/>
            <a:ext cx="10725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00" b="0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00" b="0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00" b="0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00" b="0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00" b="0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00" b="0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00" b="0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00" b="0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00" b="0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真实 Push 送达与手机回跳仍待端到端验收</a:t>
            </a:r>
          </a:p>
        </p:txBody>
      </p:sp>
    </p:spTree>
    <p:extLst>
      <p:ext uri="{BB962C8B-B14F-4D97-AF65-F5344CB8AC3E}">
        <p14:creationId xmlns:p14="http://schemas.microsoft.com/office/powerpoint/2010/main" val="8519535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909FB4-6FDD-499B-B304-FDD9DFCCDC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cc69ecb55b47cf"/>
          <a:srcRect xmlns:a="http://schemas.openxmlformats.org/drawingml/2006/main" l="6" t="0" r="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D3BA03-F828-4B48-9304-AE4F7EFBE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C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EEC863-6688-49FE-A92B-38542F146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143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6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06F613-6682-43F9-94B1-7E4D59A2A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1000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YUNSHAO  /  11 / 数据分析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104D05-6AD1-4C3B-B580-9947F0870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9442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让事件形成可回看的趋势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AD24C1-F083-479B-8181-F6B35B69C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1B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F3855C-EC8A-4161-BA90-FE6741212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022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统计对象是规则命中事件；此处不展示未经核实的运营数据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528E01-C7A7-470E-BD68-70D2A9ECF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2674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DD8430-8786-4186-975A-E7C9C17CE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955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C9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249548-E30D-42BA-804D-4DCFAFCAC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495550"/>
            <a:ext cx="285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趋势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FE3A58-0F3F-4F53-9201-8A92DF6DF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600325"/>
            <a:ext cx="70389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今天 / 近 7 天 / 近 30 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5A25C5-62FB-4A82-9E7D-97146293A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7187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6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3945E1-4B38-4120-A10A-AF7F76A38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71900"/>
            <a:ext cx="285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8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8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8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8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8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8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8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8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8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8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8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382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分布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1B1CB4-B2AD-4A2A-AEED-DEF12A437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876675"/>
            <a:ext cx="70389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等级 / 类型 / 位置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A5B3AA-5A14-4525-ABB9-E339100A5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482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C9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031D9D-B537-4669-BFEB-9F4623AAA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048250"/>
            <a:ext cx="285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处置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5B5AEF-E95F-49DD-B2E5-0A2271144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153025"/>
            <a:ext cx="70389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待跟进 / 已处理 / 误报</a:t>
            </a:r>
          </a:p>
        </p:txBody>
      </p:sp>
    </p:spTree>
    <p:extLst>
      <p:ext uri="{BB962C8B-B14F-4D97-AF65-F5344CB8AC3E}">
        <p14:creationId xmlns:p14="http://schemas.microsoft.com/office/powerpoint/2010/main" val="97611656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2C11D98-A87A-407A-80E6-5AC90E1737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366d4a64c1437d"/>
          <a:srcRect xmlns:a="http://schemas.openxmlformats.org/drawingml/2006/main" l="6" t="0" r="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DD2C81-7186-4905-AE96-2ACC55826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C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A8DD82-79FF-4D53-9325-1BD3AAF6F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143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6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15B0DB-2E8B-4382-BED3-D12797D5B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1000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YUNSHAO  /  12 / CODEARTS 实践 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2DA162-A7B6-4323-BCF2-0B4F7CBA3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9442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CodeArts Agent 驱动模型训练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DDBCA6-4852-44A8-82C2-0B81AFA02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1B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079B94-F552-4026-BBE7-78FA21181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022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调用项目自定义 Skill，按质量门组织教室行为模型研发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29DEE2-8D3F-499B-B827-743E73F99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2674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16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730F60-3D48-48E9-8B5C-1E48A72170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29929f9ebe4415"/>
          <a:srcRect xmlns:a="http://schemas.openxmlformats.org/drawingml/2006/main" l="0" t="30978" r="0" b="309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209800"/>
            <a:ext cx="6772275" cy="32194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70F746-0CFD-4FD0-B939-B4EED224E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09800"/>
            <a:ext cx="6772275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32C9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B250F8-CBF2-461C-A8F5-1FCC65D1C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5486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CodeArts Agent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4EF14A-257D-4011-81E3-5444D38AD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266950"/>
            <a:ext cx="3676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调用 Skill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6DCCA3-8651-41DA-BD27-2B7BACBBD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733675"/>
            <a:ext cx="37052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$yunshao-classroom-model-rnd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432D74-B57F-4382-B6C9-B57B7694C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286125"/>
            <a:ext cx="36861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1B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3ECB81-E757-4437-931C-B720F6C46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429000"/>
            <a:ext cx="466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FBA6CA-E7D9-45BF-A6CC-CC16BD348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429000"/>
            <a:ext cx="32289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固定数据版本与类别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35A989-A415-4D67-8965-1C9656963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762375"/>
            <a:ext cx="466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28BBBD-F1C1-451C-8E9C-74FA193B9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762375"/>
            <a:ext cx="32289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训练、验证 YOLO 模型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10A5F2-60DF-440E-A528-5D2972557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4095750"/>
            <a:ext cx="466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AD62DF-92AE-4917-92E7-5986FCD81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095750"/>
            <a:ext cx="32289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导出并核验 ONNX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985C16-3E94-4062-88D4-D75CD9901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4429125"/>
            <a:ext cx="466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BC490C-9B3C-4E70-88FC-275F70755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429125"/>
            <a:ext cx="32289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Atlas ATC 转换 OM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45E0FC-727F-4F8A-BDB6-F5EB0EE05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4762500"/>
            <a:ext cx="466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27C837-8684-41C8-B559-C799D6E99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762500"/>
            <a:ext cx="32289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板端精度 / 性能 / 内存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2B6DE7-03FB-4916-A6B1-4F3634955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5095875"/>
            <a:ext cx="466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0E4613-5A0C-48A7-9256-9D7B3FC37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5095875"/>
            <a:ext cx="32289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H.264 演示与证据归档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C11169-4D74-42EE-8418-9C4DA5609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95925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7FA9C4"/>
                </a:solidFill>
                <a:latin typeface="PingFang SC"/>
                <a:ea typeface="PingFang SC"/>
                <a:cs typeface="PingFang SC"/>
              </a:rPr>
              <a:t>教室行为场景素材；用于说明模型任务，不是 CodeArts 操作截图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B6A435-71AC-47D3-BA11-E274C4A49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00725"/>
            <a:ext cx="10801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1B3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7483EC-C66C-47EA-BFB4-6FC45DB0C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15025"/>
            <a:ext cx="10810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仓库证据：Skill 定义 · classroom_behavior_training.json · 板端评估报告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416F1C-C4D4-45A1-BFF8-D9CB5401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19825"/>
            <a:ext cx="10525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训练 JSON 记录为 YOLO11m / 15 epoch；与 Skill 的 YOLO11n 标准配置属于不同实验。</a:t>
            </a:r>
          </a:p>
        </p:txBody>
      </p:sp>
    </p:spTree>
    <p:extLst>
      <p:ext uri="{BB962C8B-B14F-4D97-AF65-F5344CB8AC3E}">
        <p14:creationId xmlns:p14="http://schemas.microsoft.com/office/powerpoint/2010/main" val="1002228744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11579A-0473-49CA-83AD-6B142D54A0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8ef80a39964fab"/>
          <a:srcRect xmlns:a="http://schemas.openxmlformats.org/drawingml/2006/main" l="6" t="0" r="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3CC4E9-DF8C-4C36-8868-44AF3BF0E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C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47B19F-C167-4CD0-8BA2-4AC931D1C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143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6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09ACFF-3A1C-41E2-9447-3775EECD1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1000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YUNSHAO  /  13 / CODEARTS 实践 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E145F4-3D63-42EF-B6AB-4DFC30BF3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9442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CodeArts Agent 驱动 Spec 工作流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D36F6E-4969-4155-A379-E1952165E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1B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EBA69E-C59E-4949-9B75-2710FF079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022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用自定义 Skill 将任务输入转成可追踪的规格与验收记录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C2D408-BFF2-4A90-9D5F-38C6AA107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2674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17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1B92A9-C5F4-4C3F-AB5E-027C362E4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81225"/>
            <a:ext cx="46577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7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7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7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7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7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7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7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7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7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CodeArts Agent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C9E782-1007-4D5B-A7AA-A268EC443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86050"/>
            <a:ext cx="46767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9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9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9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9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9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9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9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9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9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调用 $project-spec-workflow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3B9390-2E5E-4D3E-88A0-EBE7437C7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67075"/>
            <a:ext cx="400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1B3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DF6663-B39B-459B-82CB-0D014246B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57575"/>
            <a:ext cx="4667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EE6EB5-0A2A-463C-A4C7-9DAF95EAB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457575"/>
            <a:ext cx="39147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读取 PRD / SPEC / 代码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8EBA10-CCCA-41B7-B668-4D73A9A11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48100"/>
            <a:ext cx="4667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239771-1B24-402C-91A7-0AE855DDB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848100"/>
            <a:ext cx="39147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按风险选择工作路径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8A35E4-C05E-41C5-9B9A-CE1335A82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38625"/>
            <a:ext cx="4667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0DF6CA-E63F-4C9E-A323-0018F26CB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238625"/>
            <a:ext cx="39147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维护四份规格文档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34E279-DDCD-4FF6-B2A1-7315D061B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29150"/>
            <a:ext cx="4667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CB410F-8E87-4104-B209-435072516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629150"/>
            <a:ext cx="39147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链接 REQ → AC → 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ED8128-48F7-46D4-9D93-F9E3F1214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19675"/>
            <a:ext cx="4667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DC82A8-4F38-4A1D-94EC-41B2CE946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019675"/>
            <a:ext cx="39147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运行结构校验并记录证据</a:t>
            </a:r>
          </a:p>
        </p:txBody>
      </p:sp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730C46-F9E4-4010-93CD-BF0A1AA97A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19c64be3614f93"/>
          <a:srcRect xmlns:a="http://schemas.openxmlformats.org/drawingml/2006/main" l="0" t="3628" r="0" b="36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72075" y="2209800"/>
            <a:ext cx="6248400" cy="321945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6C64F3-0816-434F-9E43-B423DFDED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209800"/>
            <a:ext cx="624840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32C9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4087E4-1BC6-4377-B067-98BEF4A4C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5495925"/>
            <a:ext cx="6248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7FA9C4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7FA9C4"/>
                </a:solidFill>
                <a:latin typeface="PingFang SC"/>
                <a:ea typeface="PingFang SC"/>
                <a:cs typeface="PingFang SC"/>
              </a:rPr>
              <a:t>项目运行中的设备与规则页面；作为开发产物展示，不是 CodeArts 操作截图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7DE148-A373-4AE3-B3FD-EB487F85D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00725"/>
            <a:ext cx="10801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1B3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862C13-048B-41DE-BB4F-D08CDABB3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15025"/>
            <a:ext cx="10810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仓库证据：prompt.txt · proposal / spec / design / tasks · T-01 至 T-03 已完成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E49E3B-616E-46D0-B218-72297E677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19825"/>
            <a:ext cx="10525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验收记录覆盖 AC-01.1—AC-04.2；结构校验不替代代码与实机验收。</a:t>
            </a:r>
          </a:p>
        </p:txBody>
      </p:sp>
    </p:spTree>
    <p:extLst>
      <p:ext uri="{BB962C8B-B14F-4D97-AF65-F5344CB8AC3E}">
        <p14:creationId xmlns:p14="http://schemas.microsoft.com/office/powerpoint/2010/main" val="1432795049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C6E778-8EDE-456C-AC1D-F8AB56B8E4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d2d09990cd45e1"/>
          <a:srcRect xmlns:a="http://schemas.openxmlformats.org/drawingml/2006/main" l="6" t="0" r="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5AA651-6DCD-420B-A550-3EFB6E9E3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C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E84E7C-FA1A-4625-BA43-6A2107CA5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143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6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06BA6F-5DD8-48A0-841F-BD40AD800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1000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YUNSHAO  /  14 / 阶段判断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4EC359-DAE9-4C34-AAC5-109359067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9442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已完成基础验证，继续补齐真实链路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3656AD-11BD-4F3E-B7D5-33A7CA79E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1B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9F7A8F-016E-4520-AA4B-9F3F03ADB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022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建议对外表述：首发试点，部分链路已验证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ACBD79-0142-4D97-AA86-EC2DE23A1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2674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18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9472D9-8A90-4683-B8EC-B12B67D42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90775"/>
            <a:ext cx="5048250" cy="2962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32C9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3A1292-64F1-49A1-BEF9-DF1ABD8DF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90775"/>
            <a:ext cx="5048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C9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5D26A7-7317-45E0-8E96-AB219F050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695575"/>
            <a:ext cx="447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1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1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1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1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1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1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1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1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1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已有基础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3234D2-52C1-4ED8-B4D2-0E71E0071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581400"/>
            <a:ext cx="44386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Web / PWA 页面与模拟数据联调</a:t>
            </a:r>
          </a:p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账号、事件、统计等服务流程</a:t>
            </a:r>
          </a:p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Atlas 模型加载与合成视频处理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DCA4B0-38E1-4A52-8CD8-1D3BE9D79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90775"/>
            <a:ext cx="5048250" cy="2962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F5C86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05C916-32D5-4144-9BBF-4341D85E4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90775"/>
            <a:ext cx="5048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6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91A50E-5451-4A44-AF3E-87DF74150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95575"/>
            <a:ext cx="447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1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1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1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1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1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1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1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1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1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待补验收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F5CCB2-902C-48D6-9E0B-A6C5FD17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581400"/>
            <a:ext cx="4429125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真实相机至浏览器播放</a:t>
            </a:r>
          </a:p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规则事件至系统通知</a:t>
            </a:r>
          </a:p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持续稳定性与容量压测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D9C4B1-27A9-478E-9262-744EAE22C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34050"/>
            <a:ext cx="108775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真实设备与推送链路验收，是从试点走向复制的关键一步</a:t>
            </a:r>
          </a:p>
        </p:txBody>
      </p:sp>
    </p:spTree>
    <p:extLst>
      <p:ext uri="{BB962C8B-B14F-4D97-AF65-F5344CB8AC3E}">
        <p14:creationId xmlns:p14="http://schemas.microsoft.com/office/powerpoint/2010/main" val="4722361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0DA34D-FB9C-4027-B64A-87BA439D6E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6fe92789fa44b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EB96D8-3223-4856-B784-AB27B4F08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C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C95923-C12B-4F6A-995E-C0FA8D9BF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857250"/>
            <a:ext cx="7620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YUNSHAO  /  NEXT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8B792B-8CC7-44CD-878F-FFEAAAB76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428750"/>
            <a:ext cx="16478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6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B7C747-5753-4AB6-BD68-2532C583B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038350"/>
            <a:ext cx="107823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7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47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47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47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47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47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47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47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47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47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47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472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让一条真实链路跑通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3EBD7E-948A-4ADB-A2DD-8A7C2D100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143250"/>
            <a:ext cx="107823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4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4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4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4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4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4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4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4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4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4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再让能力跨行业复制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7DA9A2-964E-465B-9634-359B18FC0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24400"/>
            <a:ext cx="10477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近期：真实视频接入 / 规则事件到通知 / 手机端回跳与处置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CAD4F1-F6A9-463D-97F8-4659E9036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1047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0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0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0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0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0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0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0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0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0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后续：扩展场景算法与平台接入能力</a:t>
            </a:r>
          </a:p>
        </p:txBody>
      </p:sp>
    </p:spTree>
    <p:extLst>
      <p:ext uri="{BB962C8B-B14F-4D97-AF65-F5344CB8AC3E}">
        <p14:creationId xmlns:p14="http://schemas.microsoft.com/office/powerpoint/2010/main" val="583250790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771C539-F341-46BF-997C-CAB821D26D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ea1ee9b83e4b31"/>
          <a:srcRect xmlns:a="http://schemas.openxmlformats.org/drawingml/2006/main" l="6" t="0" r="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E80C00-50CC-4A0E-939C-EFA5E21AF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C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68754A-BABE-473B-8869-F23FC8DB4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143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6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07A19A-183B-4723-9D15-5E0868C31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1000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YUNSHAO  /  03 / 核心架构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256D27-47D2-48AD-996B-E2CBDE6AF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9442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首发单园区网络拓扑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CE84C3-B704-4BD9-BFBE-FD2F9200C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1B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675E6B-4E58-43E0-9BF3-E470E4622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022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浏览器统一入口 · Atlas 本地推理 · 事件上报与实时媒体分路传输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87403F-5127-452F-B3C5-1F97C981F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2674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120B35-CFCB-4FEC-A464-7A65AD849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00275"/>
            <a:ext cx="5715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浏览器入口与云端业务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1FA635-7540-4852-8157-A8DF9E2B1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28900"/>
            <a:ext cx="20288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C4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4B1784-8098-416B-90DA-9EAA4A8A3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28900"/>
            <a:ext cx="20288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32C9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A32559-8E00-4361-9785-FBAE7BC1A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28900"/>
            <a:ext cx="20288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C9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3EF63F-E94B-42D4-8787-3D56F5FD9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752725"/>
            <a:ext cx="18002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Web / PWA</a:t>
            </a:r>
          </a:p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告警与事件详情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F9F244-49C0-4E04-B476-22C64D316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28900"/>
            <a:ext cx="20288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C4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1F168E-EF45-44D2-ADA6-D062186A7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28900"/>
            <a:ext cx="20288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32C9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DBD8D8-6146-47DC-9BB2-876673101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28900"/>
            <a:ext cx="20288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C9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4B93AE-EC82-412B-B3B4-1802C7B92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752725"/>
            <a:ext cx="18002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Nginx</a:t>
            </a:r>
          </a:p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Web / API / 媒体代理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FFC82E-3200-40C5-932E-20977F826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514600"/>
            <a:ext cx="22860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C4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5B7EF2-0A5E-4FBC-8387-0E7880273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514600"/>
            <a:ext cx="2286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32C9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BCC4D5-1BC6-414D-885A-01A2056FC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514600"/>
            <a:ext cx="228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C9F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2936B5-3BC5-4557-A299-D62D33ECD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638425"/>
            <a:ext cx="2057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Go 业务服务</a:t>
            </a:r>
          </a:p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Auth · Device · Event</a:t>
            </a:r>
          </a:p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Media · Push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799F7D-B2CC-4D1D-8527-6B58EC87E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2628900"/>
            <a:ext cx="20288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C4A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3366DB-A8CD-4E85-8DA5-31FC9D1CA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2628900"/>
            <a:ext cx="20288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32C9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06BF86-C0ED-43D4-A111-91882B807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2628900"/>
            <a:ext cx="20288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C9F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898282-8A81-493D-846D-FEE6E4DB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752725"/>
            <a:ext cx="18002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PostgreSQL</a:t>
            </a:r>
          </a:p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五服务 schema 隔离</a:t>
            </a:r>
          </a:p>
        </p:txBody>
      </p: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9477E7-0997-4808-A03C-C1D6B13430D6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2647950" y="3019425"/>
            <a:ext cx="876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2C9FF"/>
            </a:solidFill>
            <a:prstDash val="solid"/>
            <a:tailEnd type="triangle" w="med" len="med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2C3ADC-2B60-413E-8F84-39F7CF9C8D81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5553075" y="3019425"/>
            <a:ext cx="876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2C9FF"/>
            </a:solidFill>
            <a:prstDash val="solid"/>
            <a:tailEnd type="triangle" w="med" len="med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351590-FFE2-4801-8281-DC9C92D9636D}"/>
              </a:ext>
            </a:extLst>
          </p:cNvPr>
          <p:cNvCxnSpPr>
            <a:stCxn xmlns:a="http://schemas.openxmlformats.org/drawingml/2006/main" id="18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8715375" y="3019425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2C9FF"/>
            </a:solidFill>
            <a:prstDash val="solid"/>
            <a:tailEnd type="triangle" w="med" len="me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BBBC57-CB6A-4964-8ACC-0EF5233D5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800350"/>
            <a:ext cx="819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HTTPS 443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FD9F47-AB74-4D5C-91BD-28132C448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00350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内部 API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E17086-30AC-4A12-9ECE-8B6EDF3B0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800350"/>
            <a:ext cx="619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SQL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69F911B-DC25-4DC6-A9FA-5FBCDFD74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338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园区边缘采集与设备消息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9382C94-A220-419C-ABAC-2AA5ED49C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29100"/>
            <a:ext cx="20288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C4A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352BCE0-DD1C-4869-9A46-18AD376A4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29100"/>
            <a:ext cx="20288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32C9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E941417-A958-434E-8CAE-FFBD61A85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29100"/>
            <a:ext cx="20288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C9FF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A609006-537A-4A66-B976-D8595D862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352925"/>
            <a:ext cx="18002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摄像头</a:t>
            </a:r>
          </a:p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H.264 视频源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B630673-80F6-4A71-8AB6-BCA04573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76700"/>
            <a:ext cx="2286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C4A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9AA10D5-494D-4BF5-BDFD-CC2205529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76700"/>
            <a:ext cx="2286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F5C86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A490739-A24A-40F4-B290-F51B2E0B6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76700"/>
            <a:ext cx="228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6B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2FE8E3E-24EC-42E6-B55E-DE9ECB0B5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200525"/>
            <a:ext cx="2057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Atlas 200I DK A2</a:t>
            </a:r>
          </a:p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Ascend 310B4</a:t>
            </a:r>
          </a:p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本地推理 / 事件筛选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9CD88E6-23DF-40D6-A61F-BED6DF16C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33850"/>
            <a:ext cx="204787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C4A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1521318-BB95-4863-B12D-61F95F5A8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33850"/>
            <a:ext cx="20478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32C9F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A99DB46-B4DF-43E5-958C-7C9FAB77A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33850"/>
            <a:ext cx="2047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C9FF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85301E0-1A55-4D85-8D7A-A0DA494D3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257675"/>
            <a:ext cx="18192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Mosquitto 2.x</a:t>
            </a:r>
          </a:p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MQTT / TLS</a:t>
            </a:r>
          </a:p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QoS 1 · 设备 ACL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E40022A-F3AF-4AC7-BB05-C8E176AF2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4229100"/>
            <a:ext cx="20288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C4A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138179C-EACD-466E-8CFF-D61641D11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4229100"/>
            <a:ext cx="20288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F5C86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696EDE8-D063-4316-B3C6-D0AAFB454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4229100"/>
            <a:ext cx="20288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6B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7096D2F-A501-43FC-9B2B-7FA7D9850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4352925"/>
            <a:ext cx="18002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浏览器推送服务</a:t>
            </a:r>
          </a:p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出站 HTTPS</a:t>
            </a:r>
          </a:p>
        </p:txBody>
      </p:sp>
      <p:cxnSp>
        <p:nvCxn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F857FDA-21A3-47E1-BE5B-3488CA4A460C}"/>
              </a:ext>
            </a:extLst>
          </p:cNvPr>
          <p:cNvCxnSpPr>
            <a:stCxn xmlns:a="http://schemas.openxmlformats.org/drawingml/2006/main" id="33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2647950" y="4619625"/>
            <a:ext cx="876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2C9FF"/>
            </a:solidFill>
            <a:prstDash val="solid"/>
            <a:tailEnd type="triangle" w="med" len="med"/>
          </a:ln>
        </p:spPr>
      </p:cxnSp>
      <p:cxnSp>
        <p:nvCxn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33D50F9-115A-43E7-B490-2EEE299BF25E}"/>
              </a:ext>
            </a:extLst>
          </p:cNvPr>
          <p:cNvCxnSpPr>
            <a:stCxn xmlns:a="http://schemas.openxmlformats.org/drawingml/2006/main" id="37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5810250" y="46196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2C9FF"/>
            </a:solidFill>
            <a:prstDash val="solid"/>
            <a:tailEnd type="triangle" w="med" len="med"/>
          </a:ln>
        </p:spPr>
      </p:cxnSp>
      <p:cxnSp>
        <p:nvCxn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F46B7CB-4A6A-4B41-BBB5-488EBD7AE901}"/>
              </a:ext>
            </a:extLst>
          </p:cNvPr>
          <p:cNvCxnSpPr>
            <a:stCxn xmlns:a="http://schemas.openxmlformats.org/drawingml/2006/main" id="41" idx="0"/>
            <a:endCxn xmlns:a="http://schemas.openxmlformats.org/drawingml/2006/main" id="18" idx="2"/>
          </p:cNvCxnSpPr>
          <p:nvPr/>
        </p:nvCxnSpPr>
        <p:spPr>
          <a:xfrm xmlns:a="http://schemas.openxmlformats.org/drawingml/2006/main" flipH="1" flipV="1">
            <a:off x="7572375" y="3524250"/>
            <a:ext cx="119063" cy="6096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32C9FF"/>
            </a:solidFill>
            <a:prstDash val="solid"/>
            <a:tailEnd type="triangle" w="med" len="med"/>
          </a:ln>
        </p:spPr>
      </p:cxnSp>
      <p:cxnSp>
        <p:nvCxn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2BEC71A-3532-4F32-89EA-23C54D7FA315}"/>
              </a:ext>
            </a:extLst>
          </p:cNvPr>
          <p:cNvCxnSpPr>
            <a:stCxn xmlns:a="http://schemas.openxmlformats.org/drawingml/2006/main" id="18" idx="2"/>
            <a:endCxn xmlns:a="http://schemas.openxmlformats.org/drawingml/2006/main" id="45" idx="0"/>
          </p:cNvCxnSpPr>
          <p:nvPr/>
        </p:nvCxnSpPr>
        <p:spPr>
          <a:xfrm xmlns:a="http://schemas.openxmlformats.org/drawingml/2006/main">
            <a:off x="7572375" y="3524250"/>
            <a:ext cx="2976563" cy="7048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F5C86B"/>
            </a:solidFill>
            <a:prstDash val="solid"/>
            <a:tailEnd type="triangle" w="med" len="med"/>
          </a:ln>
        </p:spPr>
      </p:cxn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3DAB864-95D4-43F6-B987-8A9CEB65A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4314825"/>
            <a:ext cx="590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RTSP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B28FC1A-38CA-463F-87B9-F38AE9F22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4314825"/>
            <a:ext cx="809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MQTT/TLS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A2A72C2-7890-4968-B26A-1D201A1D7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76900"/>
            <a:ext cx="20288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C4A"/>
          </a:solidFill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0BFEC3A-2463-4369-A629-F1DFF69F8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76900"/>
            <a:ext cx="20288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32C9F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31999FE-00C9-4900-8063-8C739E585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76900"/>
            <a:ext cx="20288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C9FF"/>
          </a:solidFill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BC6E8A1-EFB3-451D-8D3B-04C19C850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800725"/>
            <a:ext cx="18002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桌面监控端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DE31C95-1FD4-40FE-BBA0-F9D882AF9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676900"/>
            <a:ext cx="323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C4A"/>
          </a:solidFill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DD9D6B0-9FAD-41D0-A33F-E54850BAB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676900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32C9FF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D1DEAF6-EB38-4E4B-AD8D-1488D4CE9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676900"/>
            <a:ext cx="323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C9FF"/>
          </a:solidFill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BDB7768-210A-4F77-A78D-11ADAB786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800725"/>
            <a:ext cx="3009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MediaMTX · media-service</a:t>
            </a:r>
          </a:p>
        </p:txBody>
      </p:sp>
      <p:cxnSp>
        <p:nvCxn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C408A2E-1FEE-4E97-9356-56C839E77378}"/>
              </a:ext>
            </a:extLst>
          </p:cNvPr>
          <p:cNvCxnSpPr>
            <a:stCxn xmlns:a="http://schemas.openxmlformats.org/drawingml/2006/main" id="59" idx="1"/>
            <a:endCxn xmlns:a="http://schemas.openxmlformats.org/drawingml/2006/main" id="55" idx="3"/>
          </p:cNvCxnSpPr>
          <p:nvPr/>
        </p:nvCxnSpPr>
        <p:spPr>
          <a:xfrm xmlns:a="http://schemas.openxmlformats.org/drawingml/2006/main" flipH="1">
            <a:off x="2647950" y="5953125"/>
            <a:ext cx="876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2C9FF"/>
            </a:solidFill>
            <a:prstDash val="solid"/>
            <a:tailEnd type="triangle" w="med" len="med"/>
          </a:ln>
        </p:spPr>
      </p:cxnSp>
      <p:cxnSp>
        <p:nvCxn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2255389-7A2D-4476-9407-84A543E9165C}"/>
              </a:ext>
            </a:extLst>
          </p:cNvPr>
          <p:cNvCxnSpPr>
            <a:stCxn xmlns:a="http://schemas.openxmlformats.org/drawingml/2006/main" id="59" idx="0"/>
            <a:endCxn xmlns:a="http://schemas.openxmlformats.org/drawingml/2006/main" id="37" idx="2"/>
          </p:cNvCxnSpPr>
          <p:nvPr/>
        </p:nvCxnSpPr>
        <p:spPr>
          <a:xfrm xmlns:a="http://schemas.openxmlformats.org/drawingml/2006/main" flipH="1" flipV="1">
            <a:off x="4667250" y="5162550"/>
            <a:ext cx="476250" cy="5143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32C9FF"/>
            </a:solidFill>
            <a:prstDash val="solid"/>
            <a:tailEnd type="triangle" w="med" len="med"/>
          </a:ln>
        </p:spPr>
      </p:cxn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4533BDB-643B-4CA0-AA93-AD077F66E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5476875"/>
            <a:ext cx="8667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9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9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9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9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9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9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9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9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9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WebRTC/HLS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1DE94B9-0DFF-4FF1-A6D8-D0B3D9774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5257800"/>
            <a:ext cx="1190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RTSP pull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DC4109B-4621-4BC6-BD05-A3340B00F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524500"/>
            <a:ext cx="3905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57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57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57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57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57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57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57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57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57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事件流 → 云端处置</a:t>
            </a:r>
          </a:p>
          <a:p xmlns:a="http://schemas.openxmlformats.org/drawingml/2006/main">
            <a:pPr>
              <a:defRPr sz="157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媒体流 → 园区实时查看</a:t>
            </a:r>
          </a:p>
        </p:txBody>
      </p:sp>
    </p:spTree>
    <p:extLst>
      <p:ext uri="{BB962C8B-B14F-4D97-AF65-F5344CB8AC3E}">
        <p14:creationId xmlns:p14="http://schemas.microsoft.com/office/powerpoint/2010/main" val="1552230831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8EE7B2-F372-4FBE-B359-E05814FAE1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0bad197d884956"/>
          <a:srcRect xmlns:a="http://schemas.openxmlformats.org/drawingml/2006/main" l="6" t="0" r="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8CEDB8-DEEB-4021-A235-B8FCD8D47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C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2607A1-7F10-43F8-8745-2EBB1C40D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143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6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E6719E-8643-45AA-B5ED-6A0900C6E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1000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YUNSHAO  /  03 / 核心架构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A4E356-D0FD-44EA-A93F-6749400C3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9442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网络路径与访问边界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2FD10B-83D2-4493-966C-AA82F6C9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1B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CF9C1A-AB09-4393-8FAA-30D17BA1D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022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用统一入口、园区内网与出站通知，限定各条链路的暴露范围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8F48B7-035E-4353-AD10-5A4943E70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2674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FAE326-D2FE-4887-A323-048B21B95B0D}"/>
              </a:ext>
            </a:extLst>
          </p:cNvPr>
          <p:cNvGraphicFramePr/>
          <p:nvPr/>
        </p:nvGraphicFramePr>
        <p:xfrm>
          <a:off xmlns:a="http://schemas.openxmlformats.org/drawingml/2006/main" x="619125" y="2238375"/>
          <a:ext xmlns:a="http://schemas.openxmlformats.org/drawingml/2006/main" cx="10944225" cy="3857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76600"/>
                <a:gridCol w="2543175"/>
                <a:gridCol w="5124450"/>
              </a:tblGrid>
              <a:tr h="4286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78E0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通信路径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2B81B3"/>
                      </a:solidFill>
                      <a:prstDash val="solid"/>
                    </a:lnL>
                    <a:lnR w="5715">
                      <a:solidFill>
                        <a:srgbClr val="2B81B3"/>
                      </a:solidFill>
                      <a:prstDash val="solid"/>
                    </a:lnR>
                    <a:lnT w="5715">
                      <a:solidFill>
                        <a:srgbClr val="2B81B3"/>
                      </a:solidFill>
                      <a:prstDash val="solid"/>
                    </a:lnT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124B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78E0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协议 / 端口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2B81B3"/>
                      </a:solidFill>
                      <a:prstDash val="solid"/>
                    </a:lnR>
                    <a:lnT w="5715">
                      <a:solidFill>
                        <a:srgbClr val="2B81B3"/>
                      </a:solidFill>
                      <a:prstDash val="solid"/>
                    </a:lnT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124B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78E0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访问边界与作用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2B81B3"/>
                      </a:solidFill>
                      <a:prstDash val="solid"/>
                    </a:lnR>
                    <a:lnT w="5715">
                      <a:solidFill>
                        <a:srgbClr val="2B81B3"/>
                      </a:solidFill>
                      <a:prstDash val="solid"/>
                    </a:lnT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124B70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PWA / 桌面浏览器 → Nginx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2B81B3"/>
                      </a:solidFill>
                      <a:prstDash val="solid"/>
                    </a:lnL>
                    <a:lnR w="5715">
                      <a:solidFill>
                        <a:srgbClr val="2B81B3"/>
                      </a:solidFill>
                      <a:prstDash val="solid"/>
                    </a:lnR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0B2C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HTTPS 443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2B81B3"/>
                      </a:solidFill>
                      <a:prstDash val="solid"/>
                    </a:lnR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0B2C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浏览器统一入口；会话与摄像头归属鉴权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2B81B3"/>
                      </a:solidFill>
                      <a:prstDash val="solid"/>
                    </a:lnR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0B2C4A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Nginx → Go 业务服务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2B81B3"/>
                      </a:solidFill>
                      <a:prstDash val="solid"/>
                    </a:lnL>
                    <a:lnR w="5715">
                      <a:solidFill>
                        <a:srgbClr val="2B81B3"/>
                      </a:solidFill>
                      <a:prstDash val="solid"/>
                    </a:lnR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0923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内部 HTTP API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2B81B3"/>
                      </a:solidFill>
                      <a:prstDash val="solid"/>
                    </a:lnR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0923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同一后端网络；业务服务端口不直接对外开放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2B81B3"/>
                      </a:solidFill>
                      <a:prstDash val="solid"/>
                    </a:lnR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09233D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Go 业务服务 → PostgreSQL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2B81B3"/>
                      </a:solidFill>
                      <a:prstDash val="solid"/>
                    </a:lnL>
                    <a:lnR w="5715">
                      <a:solidFill>
                        <a:srgbClr val="2B81B3"/>
                      </a:solidFill>
                      <a:prstDash val="solid"/>
                    </a:lnR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0B2C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TCP 5432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2B81B3"/>
                      </a:solidFill>
                      <a:prstDash val="solid"/>
                    </a:lnR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0B2C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私有网络；五服务按 schema / 角色隔离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2B81B3"/>
                      </a:solidFill>
                      <a:prstDash val="solid"/>
                    </a:lnR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0B2C4A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Atlas → Mosquitto / device-service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2B81B3"/>
                      </a:solidFill>
                      <a:prstDash val="solid"/>
                    </a:lnL>
                    <a:lnR w="5715">
                      <a:solidFill>
                        <a:srgbClr val="2B81B3"/>
                      </a:solidFill>
                      <a:prstDash val="solid"/>
                    </a:lnR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0923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MQTT/TLS 8883 · QoS 1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2B81B3"/>
                      </a:solidFill>
                      <a:prstDash val="solid"/>
                    </a:lnR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0923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园区内网；独立设备凭据与 Topic ACL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2B81B3"/>
                      </a:solidFill>
                      <a:prstDash val="solid"/>
                    </a:lnR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09233D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MediaMTX → Atlas 处理后视频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2B81B3"/>
                      </a:solidFill>
                      <a:prstDash val="solid"/>
                    </a:lnL>
                    <a:lnR w="5715">
                      <a:solidFill>
                        <a:srgbClr val="2B81B3"/>
                      </a:solidFill>
                      <a:prstDash val="solid"/>
                    </a:lnR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0B2C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RTSP 554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2B81B3"/>
                      </a:solidFill>
                      <a:prstDash val="solid"/>
                    </a:lnR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0B2C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园区内网；MediaMTX 主动拉取预览流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2B81B3"/>
                      </a:solidFill>
                      <a:prstDash val="solid"/>
                    </a:lnR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0B2C4A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桌面浏览器 → MediaMTX / Nginx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2B81B3"/>
                      </a:solidFill>
                      <a:prstDash val="solid"/>
                    </a:lnL>
                    <a:lnR w="5715">
                      <a:solidFill>
                        <a:srgbClr val="2B81B3"/>
                      </a:solidFill>
                      <a:prstDash val="solid"/>
                    </a:lnR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0923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WebRTC UDP 8189 / HLS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2B81B3"/>
                      </a:solidFill>
                      <a:prstDash val="solid"/>
                    </a:lnR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0923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UDP 仅限园区；无法直连时经 HTTPS HLS 回退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2B81B3"/>
                      </a:solidFill>
                      <a:prstDash val="solid"/>
                    </a:lnR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09233D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push-service → 浏览器推送服务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2B81B3"/>
                      </a:solidFill>
                      <a:prstDash val="solid"/>
                    </a:lnL>
                    <a:lnR w="5715">
                      <a:solidFill>
                        <a:srgbClr val="2B81B3"/>
                      </a:solidFill>
                      <a:prstDash val="solid"/>
                    </a:lnR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0B2C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出站 HTTPS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2B81B3"/>
                      </a:solidFill>
                      <a:prstDash val="solid"/>
                    </a:lnR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0B2C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仅发送通知；无需开放公网入站端口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2B81B3"/>
                      </a:solidFill>
                      <a:prstDash val="solid"/>
                    </a:lnR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0B2C4A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Atlas → Nginx edge API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2B81B3"/>
                      </a:solidFill>
                      <a:prstDash val="solid"/>
                    </a:lnL>
                    <a:lnR w="5715">
                      <a:solidFill>
                        <a:srgbClr val="2B81B3"/>
                      </a:solidFill>
                      <a:prstDash val="solid"/>
                    </a:lnR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0923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HTTPS 443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2B81B3"/>
                      </a:solidFill>
                      <a:prstDash val="solid"/>
                    </a:lnR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0923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设备激活与截图上传；原始 RTSP 不交给浏览器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2B81B3"/>
                      </a:solidFill>
                      <a:prstDash val="solid"/>
                    </a:lnR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09233D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9E8EB8-F4C6-4C19-93E2-1353EA7B6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912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实时媒体与事件通知各走其路；数据库和业务服务保持在内部网络。</a:t>
            </a:r>
          </a:p>
        </p:txBody>
      </p:sp>
    </p:spTree>
    <p:extLst>
      <p:ext uri="{BB962C8B-B14F-4D97-AF65-F5344CB8AC3E}">
        <p14:creationId xmlns:p14="http://schemas.microsoft.com/office/powerpoint/2010/main" val="9813251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19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2026-10-22T17:51:53.9190000Z</dcterms:created>
  <dcterms:modified xsi:type="dcterms:W3CDTF">2026-10-22T17:51:53.9190000Z</dcterms:modified>
</coreProperties>
</file>