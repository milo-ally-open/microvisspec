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3" r:id="rId9"/>
    <p:sldId id="274" r:id="rId10"/>
    <p:sldId id="261" r:id="rId11"/>
    <p:sldId id="262" r:id="rId12"/>
    <p:sldId id="301" r:id="rId13"/>
    <p:sldId id="30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303" r:id="rId23"/>
    <p:sldId id="304" r:id="rId24"/>
    <p:sldId id="305" r:id="rId25"/>
    <p:sldId id="271" r:id="rId26"/>
    <p:sldId id="272" r:id="rId2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/Users/jiangdongting/Yunshao-project/Yunshao/README.md</a:t>
            </a:r>
          </a:p>
          <a:p>
            <a:r>
              <a:t>/Users/jiangdongting/Yunshao-project/Yunshao/project/docs/Analysis/PRD.md</a:t>
            </a:r>
          </a:p>
          <a:p>
            <a:r>
              <a:t>说明：封面使用用户提供的参考演示文稿的通用科技背景。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/Users/jiangdongting/Yunshao-project/Yunshao/README.md</a:t>
            </a:r>
          </a:p>
          <a:p>
            <a:r>
              <a:t>/Users/jiangdongting/Yunshao-project/Yunshao/project/docs/Analysis/PRD.md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/Users/jiangdongting/Yunshao-project/Yunshao/ppt/assets/slides/overview.png</a:t>
            </a:r>
          </a:p>
          <a:p>
            <a:r>
              <a:t>/Users/jiangdongting/Yunshao-project/Yunshao/ppt/SCREENSHOTS.md</a:t>
            </a:r>
          </a:p>
          <a:p>
            <a:r>
              <a:t>/Users/jiangdongting/Yunshao-project/Yunshao/project/docs/Analysis/PRD.md</a:t>
            </a:r>
          </a:p>
          <a:p>
            <a:r>
              <a:t>说明：截图来自项目运行中的系统，模拟数据已标注。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/Users/jiangdongting/Yunshao-project/Yunshao/project/docs/Analysis/SPEC.md</a:t>
            </a:r>
          </a:p>
          <a:p>
            <a:r>
              <a:t>说明：本页描述目标业务闭环，不宣称全部真实链路已经验收。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/Users/jiangdongting/Yunshao-project/Yunshao/readme/assets/system-network-current.svg</a:t>
            </a:r>
          </a:p>
          <a:p>
            <a:r>
              <a:t>/Users/jiangdongting/Yunshao-project/Yunshao/readme/assets/system-network-current.drawio</a:t>
            </a:r>
          </a:p>
          <a:p>
            <a:r>
              <a:t>/Users/jiangdongting/Yunshao-project/Yunshao/project/docs/Design/STRUCTURE.md</a:t>
            </a:r>
          </a:p>
          <a:p>
            <a:r>
              <a:t>说明：依据实际单园区网络图提炼，跨园区公有云图仍为规划。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/Users/jiangdongting/Yunshao-project/Yunshao/readme/assets/system-network-current.svg</a:t>
            </a:r>
          </a:p>
          <a:p>
            <a:r>
              <a:t>/Users/jiangdongting/Yunshao-project/Yunshao/readme/assets/system-network-current.drawio</a:t>
            </a:r>
          </a:p>
          <a:p>
            <a:r>
              <a:t>说明：按用户提供的现状拓扑重新排版。公网部署与跨园区 VPN 为后续规划；本页说明当前单园区链路。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/Users/jiangdongting/Yunshao-project/Yunshao/readme/assets/system-network-current.svg</a:t>
            </a:r>
          </a:p>
          <a:p>
            <a:r>
              <a:t>/Users/jiangdongting/Yunshao-project/Yunshao/project/docs/Design/STRUCTURE.md</a:t>
            </a:r>
          </a:p>
          <a:p>
            <a:r>
              <a:t>说明：表格依据用户提供的“网络路径与暴露边界”八条记录整理，保留主要端口与访问限制。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/Users/jiangdongting/Yunshao-project/Yunshao/project/docs/Design/STRUCTURE.md</a:t>
            </a:r>
          </a:p>
          <a:p>
            <a:r>
              <a:t>说明：讲话出处：https://www.cac.gov.cn/2026-05/15/c_1780587100779588.htm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/Users/jiangdongting/Yunshao-project/Yunshao/project/docs/Specification/atlas_edge_runtime/tasks.md</a:t>
            </a:r>
          </a:p>
          <a:p>
            <a:r>
              <a:t>/Users/jiangdongting/Yunshao-project/Yunshao/project/docs/Analysis/SPEC.md</a:t>
            </a:r>
          </a:p>
          <a:p>
            <a:r>
              <a:t>说明：硬件图来自项目资料；不表示团队部署实拍。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/Users/jiangdongting/Yunshao-project/Yunshao/video/classroom_behavior.mp4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/Users/jiangdongting/Yunshao-project/Yunshao/project/docs/Specification/atlas_edge_runtime/tasks.md</a:t>
            </a:r>
          </a:p>
          <a:p>
            <a:r>
              <a:t>说明：嵌入的真实课堂视频是场景素材，未展示模型推理或告警验收结果。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/Users/jiangdongting/Yunshao-project/Yunshao/project/src/clients/web/src/pages/DeviceDetailPage.vue</a:t>
            </a:r>
          </a:p>
          <a:p>
            <a:r>
              <a:t>说明：只有规则启用且设备侧生效后，符合条件的检测才产生事件。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/Users/jiangdongting/Yunshao-project/Yunshao/ppt/assets/slides/monitor.png</a:t>
            </a:r>
          </a:p>
          <a:p>
            <a:r>
              <a:t>/Users/jiangdongting/Yunshao-project/Yunshao/ppt/SCREENSHOTS.md</a:t>
            </a:r>
          </a:p>
          <a:p>
            <a:r>
              <a:t>/Users/jiangdongting/Yunshao-project/Yunshao/project/src/clients/web/src/pages/MonitorPage.vue</a:t>
            </a:r>
          </a:p>
          <a:p>
            <a:r>
              <a:t>说明：系统截图；当前显示无真实视频状态，不代表媒体链路已验收。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/Users/jiangdongting/Yunshao-project/Yunshao/project/docs/Analysis/SPEC.md</a:t>
            </a:r>
          </a:p>
          <a:p>
            <a:r>
              <a:t>/Users/jiangdongting/Yunshao-project/Yunshao/project/src/clients/web/src/pages/EventDetailPage.vue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/Users/jiangdongting/Yunshao-project/Yunshao/project/docs/Specification/web_pwa_client/tasks.md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/Users/jiangdongting/Yunshao-project/Yunshao/project/src/clients/web/src/pages/AnalyticsPage.vue</a:t>
            </a:r>
          </a:p>
          <a:p>
            <a:r>
              <a:t>/Users/jiangdongting/Yunshao-project/Yunshao/project/docs/Specification/platform_deployment/evidence/local_pc_20261020.json</a:t>
            </a:r>
          </a:p>
          <a:p>
            <a:r>
              <a:t>说明：不使用虚构数据。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来源：AtomGit milo-ally-stu/Yunshao 的 model_codex_single-classroom-cycle 分支，提交 844135f，codearts_proof/skills/yunshao-classroom-model-rnd/SKILL.md；AtomGit jdt_123/Yunshao main 分支的 classroom_behavior_training.json 与 model_val/reports；华为云 CodeArts Agent Skills 官方文档 https://support.huaweicloud.com/intl/en-us/usermanual-codeartsagent/codeartsagent_ug_0024.html。图片由 OpenAI image_gen 生成，说明 CodeArts Agent 按 Skill 组织研发的工作方式，不是实际操作截图。仓库训练记录与 Skill 标准配置不同，不据此声称 Skill 全流程已验收。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来源：AtomGit jdt_123/Yunshao main 分支：codearts_proof/prompts/prompt.txt 的提示词3；codearts_proof/skills/project-spec-workflow/SKILL.md；project/docs/Specification/project_spec_workflow/{proposal,spec,design,tasks}.md；华为云 CodeArts Agent Skills 官方文档 https://support.huaweicloud.com/intl/en-us/usermanual-codeartsagent/codeartsagent_ug_0024.html。tasks.md 中 T-01、T-02、T-03 标为完成，包含 AC-01.1 至 AC-04.2 验收记录。图片由 OpenAI image_gen 生成，仅说明 CodeArts Agent + Skill 的工作方式，不是 CodeArts 操作界面截图。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/Users/jiangdongting/Yunshao-project/Yunshao/project/docs/Specification/platform_deployment/evidence/local_pc_20261020.json</a:t>
            </a:r>
          </a:p>
          <a:p>
            <a:r>
              <a:t>/Users/jiangdongting/Yunshao-project/Yunshao/project/docs/Specification/atlas_edge_runtime/tasks.md</a:t>
            </a:r>
          </a:p>
          <a:p>
            <a:r>
              <a:t>/Users/jiangdongting/Yunshao-project/Yunshao/project/docs/Specification/web_pwa_client/tasks.md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</a:t>
            </a:r>
          </a:p>
          <a:p>
            <a:r>
              <a:t>/Users/jiangdongting/Yunshao-project/Yunshao/project/docs/Analysis/PRD.md</a:t>
            </a:r>
          </a:p>
          <a:p>
            <a:r>
              <a:t>/Users/jiangdongting/Yunshao-project/Yunshao/project/docs/Design/STRUCTURE.md</a:t>
            </a:r>
          </a:p>
          <a:p>
            <a:r>
              <a:t>说明：后续规划不代表已经交付。</a:t>
            </a:r>
          </a:p>
          <a:p>
            <a:r>
              <a:t>视觉参考：用户提供的《2_最终修改版(1)(1).pptx》通用蓝色科技背景。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7.jpeg"/><Relationship Id="rId4" Type="http://schemas.microsoft.com/office/2007/relationships/media" Target="../media/media1.mp4"/><Relationship Id="rId3" Type="http://schemas.openxmlformats.org/officeDocument/2006/relationships/video" Target="../media/media1.mp4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1.jpe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2.jpe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3.jpe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8953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AIoT EDGE VISION</a:t>
            </a:r>
            <a:endParaRPr sz="16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409700"/>
            <a:ext cx="166687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19526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  哨</a:t>
            </a:r>
            <a:endParaRPr sz="61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3219450"/>
            <a:ext cx="1000125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面向多行业的 AIoT</a:t>
            </a:r>
            <a:endParaRPr sz="35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边缘视频智能平台</a:t>
            </a:r>
            <a:endParaRPr sz="35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5314950"/>
            <a:ext cx="10191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产品定位  ·  平台能力  ·  试点验证  ·  CodeArts 开发过程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0" y="62484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2026.10</a:t>
            </a:r>
            <a:endParaRPr sz="1350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609600"/>
            <a:ext cx="381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CONTENTS</a:t>
            </a:r>
            <a:endParaRPr sz="157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123950"/>
            <a:ext cx="2895600" cy="923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5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目录</a:t>
            </a:r>
            <a:endParaRPr sz="5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38175" y="2333625"/>
            <a:ext cx="1600200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40055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210175" y="12668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产品定位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40055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96290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72525" y="12668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核心架构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96290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0055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10175" y="28289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场景演示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40055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96290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72525" y="28289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运营闭环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96290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40055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210175" y="43910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CodeArts 实践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96290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0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30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772525" y="43910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阶段判断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96290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7700" y="5715000"/>
            <a:ext cx="10001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从首发教室试点，走向可复用的多行业平台</a:t>
            </a:r>
            <a:endParaRPr sz="21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01 / 产品定位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一套平台，连接多种现场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云哨定位：面向多行业的 AIoT 边缘视频智能平台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27647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0100" y="2247900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底座复用，算法按场景扩展</a:t>
            </a:r>
            <a:endParaRPr sz="23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3038475"/>
            <a:ext cx="438150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5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 · 视频 · 规则 · 事件 · 通知</a:t>
            </a:r>
            <a:endParaRPr sz="25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0100" y="4410075"/>
            <a:ext cx="4438650" cy="1209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以教室行为检测为首发试点，复用统一平台能力扩展园区、仓储等场景。</a:t>
            </a:r>
            <a:endParaRPr sz="19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106083"/>
            <a:ext cx="5791200" cy="3217333"/>
          </a:xfrm>
          <a:prstGeom prst="rect">
            <a:avLst/>
          </a:prstGeom>
        </p:spPr>
      </p:pic>
      <p:sp>
        <p:nvSpPr>
          <p:cNvPr id="14" name="矩形 13"/>
          <p:cNvSpPr>
            <a:spLocks noGrp="1"/>
          </p:cNvSpPr>
          <p:nvPr/>
        </p:nvSpPr>
        <p:spPr>
          <a:xfrm>
            <a:off x="5638800" y="2085975"/>
            <a:ext cx="5791200" cy="32575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38800" y="5505450"/>
            <a:ext cx="580072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真实系统页面；设备与事件为模拟数据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图片 29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02 / 业务闭环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从画面到处置，形成可追踪闭环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首发规格覆盖完整链路；实际端到端能力以真实设备验收为准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视频接入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摄像头画面与设备状态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20992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46710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46710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6710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边缘识别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6710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模型输出目标与行为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57900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15075" y="2419350"/>
            <a:ext cx="252412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31507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1507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规则告警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1507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命中规则才产生事件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0587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16305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16305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6305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9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协同处置</a:t>
            </a:r>
            <a:endParaRPr sz="29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6305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 查看与处理</a:t>
            </a:r>
            <a:endParaRPr sz="18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8650" y="5676900"/>
            <a:ext cx="108489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848350"/>
            <a:ext cx="10620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边缘实时处理    /    事件证据沉淀    /    人员处理记录</a:t>
            </a:r>
            <a:endParaRPr sz="18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03 / 核心架构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边缘负责识别，平台负责协同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当前首发为单园区部署；跨园区公有云拓扑仍属规划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90575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8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90575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摄像头</a:t>
            </a:r>
            <a:endParaRPr sz="19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90575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H.264 / RTSP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28950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34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67100" y="2457450"/>
            <a:ext cx="2352675" cy="1952625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67100" y="2457450"/>
            <a:ext cx="2352675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8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638550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边缘端</a:t>
            </a:r>
            <a:endParaRPr sz="19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638550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本地推理 / 事件筛选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876925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34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15075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15075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86525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8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86525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园区平台</a:t>
            </a:r>
            <a:endParaRPr sz="19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86525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媒体 / 设备 / 事件 / Push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724900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›</a:t>
            </a:r>
            <a:endParaRPr sz="34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63050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163050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334500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8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334500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</a:t>
            </a:r>
            <a:endParaRPr sz="19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334500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实时查看 / 追溯处置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9125" y="485775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RTSP 摄像头 → Atlas 推理 → MQTT/TLS 事件上报 → 云端业务服务</a:t>
            </a:r>
            <a:endParaRPr sz="16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19125" y="5334000"/>
            <a:ext cx="1081087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MediaMTX 管理 RTSP / WebRTC / HLS；浏览器经 Nginx HTTPS 443 访问，数据库仅内部 TCP 5432。</a:t>
            </a:r>
            <a:endParaRPr sz="15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19125" y="6010275"/>
            <a:ext cx="108108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当前单园区网络拓扑详图与 draw.io 源文件保留在项目 readme/assets。</a:t>
            </a:r>
            <a:endParaRPr sz="1200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8" name="图片 6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03 / 核心架构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首发单园区网络拓扑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浏览器统一入口 · Atlas 本地推理 · 事件上报与实时媒体分路传输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200275"/>
            <a:ext cx="5715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浏览器入口与云端业务</a:t>
            </a:r>
            <a:endParaRPr sz="14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33425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告警与事件详情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524250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24250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638550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Nginx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API / 媒体代理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29375" y="2514600"/>
            <a:ext cx="2286000" cy="10096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29375" y="2514600"/>
            <a:ext cx="2286000" cy="10096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29375" y="2514600"/>
            <a:ext cx="228600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43675" y="2638425"/>
            <a:ext cx="20574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Go 业务服务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Auth · Device · Event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 · Push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34525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534525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534525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648825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PostgreSQL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五服务 schema 隔离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26" name="直接箭头连接符 25"/>
          <p:cNvCxnSpPr>
            <a:stCxn id="10" idx="3"/>
            <a:endCxn id="14" idx="1"/>
          </p:cNvCxnSpPr>
          <p:nvPr/>
        </p:nvCxnSpPr>
        <p:spPr>
          <a:xfrm>
            <a:off x="2647950" y="30194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7" name="直接箭头连接符 26"/>
          <p:cNvCxnSpPr>
            <a:stCxn id="14" idx="3"/>
            <a:endCxn id="18" idx="1"/>
          </p:cNvCxnSpPr>
          <p:nvPr/>
        </p:nvCxnSpPr>
        <p:spPr>
          <a:xfrm>
            <a:off x="5553075" y="30194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8" name="直接箭头连接符 27"/>
          <p:cNvCxnSpPr>
            <a:stCxn id="18" idx="3"/>
            <a:endCxn id="22" idx="1"/>
          </p:cNvCxnSpPr>
          <p:nvPr/>
        </p:nvCxnSpPr>
        <p:spPr>
          <a:xfrm>
            <a:off x="8715375" y="3019425"/>
            <a:ext cx="81915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2714625" y="2800350"/>
            <a:ext cx="8191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HTTPS 443</a:t>
            </a:r>
            <a:endParaRPr sz="10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619750" y="2800350"/>
            <a:ext cx="7810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内部 API</a:t>
            </a:r>
            <a:endParaRPr sz="10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67775" y="2800350"/>
            <a:ext cx="6191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SQL</a:t>
            </a:r>
            <a:endParaRPr sz="11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9125" y="37338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园区边缘采集与设备消息</a:t>
            </a:r>
            <a:endParaRPr sz="14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19125" y="42291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19125" y="42291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19125" y="42291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33425" y="43529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摄像头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H.264 视频源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524250" y="4076700"/>
            <a:ext cx="2286000" cy="10858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3524250" y="4076700"/>
            <a:ext cx="2286000" cy="10858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3524250" y="4076700"/>
            <a:ext cx="228600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3638550" y="4200525"/>
            <a:ext cx="2057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200I DK A2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Ascend 310B4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本地推理 / 事件筛选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67500" y="4133850"/>
            <a:ext cx="2047875" cy="9715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667500" y="4133850"/>
            <a:ext cx="2047875" cy="9715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667500" y="4133850"/>
            <a:ext cx="204787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6781800" y="4257675"/>
            <a:ext cx="18192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Mosquitto 2.x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MQTT / TLS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QoS 1 · 设备 ACL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534525" y="42291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534525" y="4229100"/>
            <a:ext cx="2028825" cy="7810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534525" y="4229100"/>
            <a:ext cx="202882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648825" y="43529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浏览器推送服务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出站 HTTPS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49" name="直接箭头连接符 48"/>
          <p:cNvCxnSpPr>
            <a:stCxn id="33" idx="3"/>
            <a:endCxn id="37" idx="1"/>
          </p:cNvCxnSpPr>
          <p:nvPr/>
        </p:nvCxnSpPr>
        <p:spPr>
          <a:xfrm>
            <a:off x="2647950" y="46196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0" name="直接箭头连接符 49"/>
          <p:cNvCxnSpPr>
            <a:stCxn id="37" idx="3"/>
            <a:endCxn id="41" idx="1"/>
          </p:cNvCxnSpPr>
          <p:nvPr/>
        </p:nvCxnSpPr>
        <p:spPr>
          <a:xfrm>
            <a:off x="5810250" y="4619625"/>
            <a:ext cx="85725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1" name="肘形连接符 50"/>
          <p:cNvCxnSpPr>
            <a:stCxn id="41" idx="0"/>
            <a:endCxn id="18" idx="2"/>
          </p:cNvCxnSpPr>
          <p:nvPr/>
        </p:nvCxnSpPr>
        <p:spPr>
          <a:xfrm flipH="1" flipV="1">
            <a:off x="7572375" y="3524250"/>
            <a:ext cx="119063" cy="6096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2" name="肘形连接符 51"/>
          <p:cNvCxnSpPr>
            <a:stCxn id="18" idx="2"/>
            <a:endCxn id="45" idx="0"/>
          </p:cNvCxnSpPr>
          <p:nvPr/>
        </p:nvCxnSpPr>
        <p:spPr>
          <a:xfrm>
            <a:off x="7572375" y="3524250"/>
            <a:ext cx="2976563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F5C86B"/>
            </a:solidFill>
            <a:prstDash val="solid"/>
            <a:tailEnd type="triangle" w="med" len="med"/>
          </a:ln>
        </p:spPr>
      </p:cxnSp>
      <p:sp>
        <p:nvSpPr>
          <p:cNvPr id="53" name="矩形 52"/>
          <p:cNvSpPr>
            <a:spLocks noGrp="1"/>
          </p:cNvSpPr>
          <p:nvPr/>
        </p:nvSpPr>
        <p:spPr>
          <a:xfrm>
            <a:off x="2886075" y="4314825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RTSP</a:t>
            </a:r>
            <a:endParaRPr sz="11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5876925" y="4314825"/>
            <a:ext cx="809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MQTT/TLS</a:t>
            </a:r>
            <a:endParaRPr sz="10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19125" y="5676900"/>
            <a:ext cx="2028825" cy="5524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619125" y="5676900"/>
            <a:ext cx="2028825" cy="552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19125" y="5676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733425" y="5800725"/>
            <a:ext cx="18002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桌面监控端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3524250" y="5676900"/>
            <a:ext cx="3238500" cy="5524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524250" y="5676900"/>
            <a:ext cx="3238500" cy="552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3524250" y="5676900"/>
            <a:ext cx="323850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3638550" y="5800725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MediaMTX · media-service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cxnSp>
        <p:nvCxnSpPr>
          <p:cNvPr id="63" name="直接箭头连接符 62"/>
          <p:cNvCxnSpPr>
            <a:stCxn id="59" idx="1"/>
            <a:endCxn id="55" idx="3"/>
          </p:cNvCxnSpPr>
          <p:nvPr/>
        </p:nvCxnSpPr>
        <p:spPr>
          <a:xfrm flipH="1">
            <a:off x="2647950" y="59531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64" name="肘形连接符 63"/>
          <p:cNvCxnSpPr>
            <a:stCxn id="59" idx="0"/>
            <a:endCxn id="37" idx="2"/>
          </p:cNvCxnSpPr>
          <p:nvPr/>
        </p:nvCxnSpPr>
        <p:spPr>
          <a:xfrm flipH="1" flipV="1">
            <a:off x="4667250" y="5162550"/>
            <a:ext cx="476250" cy="5143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65" name="矩形 64"/>
          <p:cNvSpPr>
            <a:spLocks noGrp="1"/>
          </p:cNvSpPr>
          <p:nvPr/>
        </p:nvSpPr>
        <p:spPr>
          <a:xfrm>
            <a:off x="2657475" y="5476875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WebRTC/HLS</a:t>
            </a:r>
            <a:endParaRPr sz="97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267325" y="5257800"/>
            <a:ext cx="1190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RTSP pull</a:t>
            </a:r>
            <a:endParaRPr sz="11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7334250" y="5524500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事件流 → 云端处置</a:t>
            </a:r>
            <a:endParaRPr sz="157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媒体流 → 园区实时查看</a:t>
            </a:r>
            <a:endParaRPr sz="157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03 / 核心架构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网络路径与访问边界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用统一入口、园区内网与出站通知，限定各条链路的暴露范围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619125" y="2238375"/>
          <a:ext cx="10944225" cy="3857625"/>
        </p:xfrm>
        <a:graphic>
          <a:graphicData uri="http://schemas.openxmlformats.org/drawingml/2006/table">
            <a:tbl>
              <a:tblPr/>
              <a:tblGrid>
                <a:gridCol w="3276600"/>
                <a:gridCol w="2543175"/>
                <a:gridCol w="5124450"/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通信路径</a:t>
                      </a:r>
                      <a:endParaRPr sz="1500" b="1">
                        <a:solidFill>
                          <a:srgbClr val="78E0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协议 / 端口</a:t>
                      </a:r>
                      <a:endParaRPr sz="1500" b="1">
                        <a:solidFill>
                          <a:srgbClr val="78E0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访问边界与作用</a:t>
                      </a:r>
                      <a:endParaRPr sz="1500" b="1">
                        <a:solidFill>
                          <a:srgbClr val="78E0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PWA / 桌面浏览器 → Nginx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HTTPS 443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浏览器统一入口；会话与摄像头归属鉴权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Nginx → Go 业务服务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内部 HTTP API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同一后端网络；业务服务端口不直接对外开放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Go 业务服务 → PostgreSQL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TCP 5432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私有网络；五服务按 schema / 角色隔离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Atlas → Mosquitto / device-service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MQTT/TLS 8883 · QoS 1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园区内网；独立设备凭据与 Topic ACL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MediaMTX → Atlas 处理后视频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RTSP 554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园区内网；MediaMTX 主动拉取预览流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桌面浏览器 → MediaMTX / Nginx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WebRTC UDP 8189 / HLS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UDP 仅限园区；无法直连时经 HTTPS HLS 回退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push-service → 浏览器推送服务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出站 HTTPS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仅发送通知；无需开放公网入站端口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Atlas → Nginx edge API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HTTPS 443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设备激活与截图上传；原始 RTSP 不交给浏览器</a:t>
                      </a:r>
                      <a:endParaRPr sz="1275" b="0">
                        <a:solidFill>
                          <a:srgbClr val="FFFFFF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>
                    <a:lnR w="5715">
                      <a:solidFill>
                        <a:srgbClr val="2B81B3"/>
                      </a:solidFill>
                      <a:prstDash val="solid"/>
                    </a:lnR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</a:tr>
            </a:tbl>
          </a:graphicData>
        </a:graphic>
      </p:graphicFrame>
      <p:sp>
        <p:nvSpPr>
          <p:cNvPr id="10" name="矩形 9"/>
          <p:cNvSpPr>
            <a:spLocks noGrp="1"/>
          </p:cNvSpPr>
          <p:nvPr/>
        </p:nvSpPr>
        <p:spPr>
          <a:xfrm>
            <a:off x="619125" y="61912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实时媒体与事件通知各走其路；数据库和业务服务保持在内部网络。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04 / 核心亮点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多行业扩展的四个支点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平台能力和场景算法解耦，先验证一条真实链路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381250"/>
            <a:ext cx="57150" cy="11525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边缘识别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现场完成模型推理，降低中心端负担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00775" y="2381250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3890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规则驱动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检测与告警分开配置，按需触发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5725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统一处置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5725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截图、状态与处理记录集中追踪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0077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3890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底座复用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3890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接入、视频、事件和通知能力共享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9125" y="5838825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习近平：推动互联网、大数据、人工智能同实体经济深度融合。</a:t>
            </a:r>
            <a:endParaRPr sz="150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19125" y="6143625"/>
            <a:ext cx="10839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项目实践：把算法部署到 Atlas 边缘端，验证现场识别与云端业务协同。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05 / 边缘计算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200I DK A2：模型落在现场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板端已有模型加载与合成视频处理验证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143125"/>
            <a:ext cx="5876925" cy="32861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143125"/>
            <a:ext cx="587692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490224"/>
            <a:ext cx="5476875" cy="2420477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800100" y="5114925"/>
            <a:ext cx="5476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现有硬件产品图，非团队部署实拍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00875" y="229552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191375" y="2266950"/>
            <a:ext cx="38385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现场推理</a:t>
            </a:r>
            <a:endParaRPr sz="23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200900" y="3019425"/>
            <a:ext cx="4095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Ascend 310B4</a:t>
            </a:r>
            <a:endParaRPr sz="23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200900" y="3629025"/>
            <a:ext cx="4095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YOLO11n / 640 模型流程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00900" y="4781550"/>
            <a:ext cx="4010025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真实相机 → 浏览器播放链路仍待联调验收。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05 / 边缘硬件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200I DK A2 开发者套件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面向边缘侧算法验证与应用开发的硬件平台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28650" y="2343150"/>
            <a:ext cx="5210175" cy="2714625"/>
          </a:xfrm>
          <a:prstGeom prst="roundRect">
            <a:avLst>
              <a:gd name="adj" fmla="val 2807"/>
            </a:avLst>
          </a:prstGeom>
          <a:solidFill>
            <a:srgbClr val="E8EDF1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28650" y="2343150"/>
            <a:ext cx="5210175" cy="2714625"/>
          </a:xfrm>
          <a:prstGeom prst="roundRect">
            <a:avLst>
              <a:gd name="adj" fmla="val 2807"/>
            </a:avLst>
          </a:prstGeom>
          <a:noFill/>
          <a:ln w="14288">
            <a:solidFill>
              <a:srgbClr val="77A5BD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2600225"/>
            <a:ext cx="5000625" cy="2210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714375" y="5181600"/>
            <a:ext cx="200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开发者套件</a:t>
            </a:r>
            <a:endParaRPr sz="1200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14375" y="5438775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图片：项目仓库产品素材</a:t>
            </a:r>
            <a:endParaRPr sz="10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86500" y="2362200"/>
            <a:ext cx="1143000" cy="285750"/>
          </a:xfrm>
          <a:prstGeom prst="roundRect">
            <a:avLst>
              <a:gd name="adj" fmla="val 26667"/>
            </a:avLst>
          </a:prstGeom>
          <a:solidFill>
            <a:srgbClr val="F5C86B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24003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615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核心组成</a:t>
            </a:r>
            <a:endParaRPr sz="1050" b="1">
              <a:solidFill>
                <a:srgbClr val="0615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0" y="2790825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200I A2 加速模块</a:t>
            </a:r>
            <a:endParaRPr sz="18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0" y="3171825"/>
            <a:ext cx="50006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 TOPS INT8 · 4 TFLOPS FP16 · 4 GB 内存</a:t>
            </a:r>
            <a:endParaRPr sz="1425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3648075"/>
            <a:ext cx="19050" cy="145732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77000" y="3619500"/>
            <a:ext cx="20478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开发套件尺寸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77000" y="39433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139 × 136 × 46 mm</a:t>
            </a:r>
            <a:endParaRPr sz="1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953500" y="3619500"/>
            <a:ext cx="2095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常用连接能力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0" y="39433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双千兆网口 · USB 3.0 · HDMI</a:t>
            </a:r>
            <a:endParaRPr sz="13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53500" y="426720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M.2 · 40-pin · MIPI CSI / DSI</a:t>
            </a:r>
            <a:endParaRPr sz="135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0" y="4762500"/>
            <a:ext cx="52387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86500" y="4914900"/>
            <a:ext cx="5238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典型功耗 24 W · 12 V 供电 · Ubuntu 22.04</a:t>
            </a:r>
            <a:endParaRPr sz="13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59055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项目落点：在现场完成视频处理与模型推理，再把结果交给园区平台。</a:t>
            </a:r>
            <a:endParaRPr sz="14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05 / 边缘硬件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在云哨中的应用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一台边缘设备把视频变成可追溯事件与可查看画面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19125" y="2714625"/>
            <a:ext cx="2000250" cy="1162050"/>
          </a:xfrm>
          <a:prstGeom prst="roundRect">
            <a:avLst>
              <a:gd name="adj" fmla="val 6557"/>
            </a:avLst>
          </a:prstGeom>
          <a:solidFill>
            <a:srgbClr val="0B2C4A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619125" y="2714625"/>
            <a:ext cx="2000250" cy="1162050"/>
          </a:xfrm>
          <a:prstGeom prst="roundRect">
            <a:avLst>
              <a:gd name="adj" fmla="val 6557"/>
            </a:avLst>
          </a:prstGeom>
          <a:noFill/>
          <a:ln w="14288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714625"/>
            <a:ext cx="2000250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52475" y="2886075"/>
            <a:ext cx="1733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授权摄像头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52475" y="3286125"/>
            <a:ext cx="17335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H.264 视频源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园区 RTSP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190875" y="2714625"/>
            <a:ext cx="2381250" cy="1162050"/>
          </a:xfrm>
          <a:prstGeom prst="roundRect">
            <a:avLst>
              <a:gd name="adj" fmla="val 6557"/>
            </a:avLst>
          </a:prstGeom>
          <a:solidFill>
            <a:srgbClr val="0B2C4A"/>
          </a:solidFill>
          <a:ln w="0">
            <a:noFill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3190875" y="2714625"/>
            <a:ext cx="2381250" cy="1162050"/>
          </a:xfrm>
          <a:prstGeom prst="roundRect">
            <a:avLst>
              <a:gd name="adj" fmla="val 6557"/>
            </a:avLst>
          </a:prstGeom>
          <a:noFill/>
          <a:ln w="14288">
            <a:solidFill>
              <a:srgbClr val="F5C8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190875" y="2714625"/>
            <a:ext cx="2381250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324225" y="2886075"/>
            <a:ext cx="2114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200I DK A2</a:t>
            </a:r>
            <a:endParaRPr sz="15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324225" y="3286125"/>
            <a:ext cx="21145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Ascend 310B4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本地解码 · 推理 · 叠加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191250" y="2714625"/>
            <a:ext cx="2381250" cy="1162050"/>
          </a:xfrm>
          <a:prstGeom prst="roundRect">
            <a:avLst>
              <a:gd name="adj" fmla="val 6557"/>
            </a:avLst>
          </a:prstGeom>
          <a:solidFill>
            <a:srgbClr val="0B2C4A"/>
          </a:solidFill>
          <a:ln w="0">
            <a:noFill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6191250" y="2714625"/>
            <a:ext cx="2381250" cy="1162050"/>
          </a:xfrm>
          <a:prstGeom prst="roundRect">
            <a:avLst>
              <a:gd name="adj" fmla="val 6557"/>
            </a:avLst>
          </a:prstGeom>
          <a:noFill/>
          <a:ln w="14288">
            <a:solidFill>
              <a:srgbClr val="32C9F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2714625"/>
            <a:ext cx="2381250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24600" y="2886075"/>
            <a:ext cx="2114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云端业务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24600" y="3286125"/>
            <a:ext cx="21145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接收事件 · 事件入库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证据与状态管理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096375" y="2714625"/>
            <a:ext cx="2476500" cy="1162050"/>
          </a:xfrm>
          <a:prstGeom prst="roundRect">
            <a:avLst>
              <a:gd name="adj" fmla="val 6557"/>
            </a:avLst>
          </a:prstGeom>
          <a:solidFill>
            <a:srgbClr val="0B2C4A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96375" y="2714625"/>
            <a:ext cx="2476500" cy="1162050"/>
          </a:xfrm>
          <a:prstGeom prst="roundRect">
            <a:avLst>
              <a:gd name="adj" fmla="val 6557"/>
            </a:avLst>
          </a:prstGeom>
          <a:noFill/>
          <a:ln w="14288">
            <a:solidFill>
              <a:srgbClr val="32C9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096375" y="2714625"/>
            <a:ext cx="2476500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229725" y="2886075"/>
            <a:ext cx="2209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监控终端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29725" y="3286125"/>
            <a:ext cx="2209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MediaMTX → Web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WebRTC / HLS</a:t>
            </a:r>
            <a:endParaRPr sz="1275" b="1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619375" y="3276600"/>
            <a:ext cx="342900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0" name="右箭头 29"/>
          <p:cNvSpPr>
            <a:spLocks noGrp="1"/>
          </p:cNvSpPr>
          <p:nvPr/>
        </p:nvSpPr>
        <p:spPr>
          <a:xfrm>
            <a:off x="2924175" y="3219450"/>
            <a:ext cx="171450" cy="171450"/>
          </a:xfrm>
          <a:prstGeom prst="rightArrow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667000" y="3009900"/>
            <a:ext cx="5143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RTSP</a:t>
            </a:r>
            <a:endParaRPr sz="97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572125" y="3276600"/>
            <a:ext cx="3905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3" name="右箭头 32"/>
          <p:cNvSpPr>
            <a:spLocks noGrp="1"/>
          </p:cNvSpPr>
          <p:nvPr/>
        </p:nvSpPr>
        <p:spPr>
          <a:xfrm>
            <a:off x="5924550" y="3219450"/>
            <a:ext cx="171450" cy="171450"/>
          </a:xfrm>
          <a:prstGeom prst="rightArrow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562600" y="3009900"/>
            <a:ext cx="762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MQTT / HTTPS</a:t>
            </a:r>
            <a:endParaRPr sz="97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3276600" y="410527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边缘推理</a:t>
            </a:r>
            <a:endParaRPr sz="12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3276600" y="4429125"/>
            <a:ext cx="20002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YOLO11n / 640</a:t>
            </a:r>
            <a:endParaRPr sz="15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276600" y="476250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输出：举手 · 阅读 · 书写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类别 / 边界框 / 置信度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191250" y="42005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规则命中才生成告警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91250" y="4562475"/>
            <a:ext cx="2476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检测结果先按已启用规则筛选；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普通检测不自动成为事件。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096375" y="4200525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两条输出链路</a:t>
            </a:r>
            <a:endParaRPr sz="14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096375" y="4562475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事件与证据 → 云端处置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处理后视频 → 监控查看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19125" y="5438775"/>
            <a:ext cx="109537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19125" y="5600700"/>
            <a:ext cx="109347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板端已有合成 H.264 验证：短测 75/75 帧；10 分钟持续测试输出 8,997/9,000 帧。</a:t>
            </a:r>
            <a:endParaRPr sz="12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19125" y="5924550"/>
            <a:ext cx="109347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边界：测试源为合成视频，真实摄像头 / RTSP 到浏览器完整链路及行为精度仍待验收。</a:t>
            </a:r>
            <a:endParaRPr sz="11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06 / 场景演示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教室可见行为：用真实视频说明场景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 秒课堂素材；放映时点击视频画面播放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44" b="44"/>
          <a:stretch>
            <a:fillRect/>
          </a:stretch>
        </p:blipFill>
        <p:spPr>
          <a:xfrm>
            <a:off x="619125" y="2047875"/>
            <a:ext cx="7219950" cy="40576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19125" y="2047875"/>
            <a:ext cx="7219950" cy="40576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047875"/>
            <a:ext cx="721995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239125" y="2257425"/>
            <a:ext cx="3048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首发试点</a:t>
            </a:r>
            <a:endParaRPr sz="19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39125" y="2943225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举手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39125" y="3714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阅读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239125" y="4486275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书写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39125" y="5324475"/>
            <a:ext cx="296227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39125" y="5553075"/>
            <a:ext cx="30861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真实课堂素材；未叠加模型识别结果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9" name="课堂行为演示视频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125" y="2047875"/>
            <a:ext cx="7219950" cy="4057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07 / 规则机制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检测结果与告警分开管理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识别持续运行；告警由业务规则决定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409825"/>
            <a:ext cx="5057775" cy="31432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409825"/>
            <a:ext cx="5057775" cy="31432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2409825"/>
            <a:ext cx="5057775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95350" y="2762250"/>
            <a:ext cx="42672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检测输出</a:t>
            </a:r>
            <a:endParaRPr sz="35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04875" y="3590925"/>
            <a:ext cx="4210050" cy="1647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行为类别</a:t>
            </a:r>
            <a:endParaRPr sz="23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目标框</a:t>
            </a:r>
            <a:endParaRPr sz="23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置信度</a:t>
            </a:r>
            <a:endParaRPr sz="23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86525" y="2409825"/>
            <a:ext cx="5057775" cy="31432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86525" y="2409825"/>
            <a:ext cx="5057775" cy="31432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86525" y="2409825"/>
            <a:ext cx="5057775" cy="571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62750" y="2762250"/>
            <a:ext cx="4267200" cy="676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5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告警规则</a:t>
            </a:r>
            <a:endParaRPr sz="35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772275" y="3590925"/>
            <a:ext cx="4210050" cy="1647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开关 / 阈值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持续时间 / 等级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命中后生成事件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8650" y="5800725"/>
            <a:ext cx="108013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课堂告警默认关闭</a:t>
            </a:r>
            <a:endParaRPr sz="20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08 / 实时监控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画面、状态与来源同屏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桌面端承担实时监控，移动端聚焦通知与事件详情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266950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9625" y="2238375"/>
            <a:ext cx="44100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授权摄像头</a:t>
            </a:r>
            <a:endParaRPr sz="23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" y="3038475"/>
            <a:ext cx="4381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设备筛选与状态查看</a:t>
            </a:r>
            <a:endParaRPr sz="21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19150" y="3733800"/>
            <a:ext cx="43815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WebRTC 优先 / HLS 回退</a:t>
            </a:r>
            <a:endParaRPr sz="20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19150" y="4829175"/>
            <a:ext cx="42481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统一进入事件详情，查看告警截图与处理记录。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050" y="2270654"/>
            <a:ext cx="5695950" cy="3164417"/>
          </a:xfrm>
          <a:prstGeom prst="rect">
            <a:avLst/>
          </a:prstGeom>
        </p:spPr>
      </p:pic>
      <p:sp>
        <p:nvSpPr>
          <p:cNvPr id="15" name="矩形 14"/>
          <p:cNvSpPr>
            <a:spLocks noGrp="1"/>
          </p:cNvSpPr>
          <p:nvPr/>
        </p:nvSpPr>
        <p:spPr>
          <a:xfrm>
            <a:off x="5734050" y="2162175"/>
            <a:ext cx="5695950" cy="338137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734050" y="5676900"/>
            <a:ext cx="57245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真实系统监控页；当前未连接真实相机视频</a:t>
            </a:r>
            <a:endParaRPr sz="1275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09 / 事件处置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每次告警，都有证据与处理记录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让异常从发生到结案可追踪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62050" y="3200400"/>
            <a:ext cx="99060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382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67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规则命中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667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时间、设备、等级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2767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5052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052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留存截图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052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画面证据关联事件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1151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436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436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人员处理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436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解除 / 误报 / 跟进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9536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1821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24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821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历史追溯</a:t>
            </a:r>
            <a:endParaRPr sz="24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1821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状态与时间线保留</a:t>
            </a:r>
            <a:endParaRPr sz="17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19125" y="56007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截图上传后保留 24 小时；事件与处理记录继续可查</a:t>
            </a:r>
            <a:endParaRPr sz="1725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10 / 移动触达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PWA 告警，直达事件详情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让处理人员从通知进入同一条事件记录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505075"/>
            <a:ext cx="495300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60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PWA</a:t>
            </a:r>
            <a:endParaRPr sz="960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8175" y="4162425"/>
            <a:ext cx="4514850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30505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订阅通知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381750" y="333375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规则命中后推送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4362450"/>
            <a:ext cx="46863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鉴权后打开详情</a:t>
            </a:r>
            <a:endParaRPr sz="27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3067050"/>
            <a:ext cx="45243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4095750"/>
            <a:ext cx="45243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5572125"/>
            <a:ext cx="107251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0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 Push 送达与手机回跳仍待端到端验收</a:t>
            </a:r>
            <a:endParaRPr sz="1800" b="0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11 / 数据分析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让事件形成可回看的趋势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统计对象是规则命中事件；此处不展示未经核实的运营数据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17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295525"/>
            <a:ext cx="1095375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38175" y="249555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趋势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057650" y="2600325"/>
            <a:ext cx="7038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今天 / 近 7 天 / 近 30 天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3571875"/>
            <a:ext cx="109537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38175" y="377190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分布</a:t>
            </a:r>
            <a:endParaRPr sz="38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057650" y="3876675"/>
            <a:ext cx="7038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等级 / 类型 / 位置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" y="4848225"/>
            <a:ext cx="1095375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8175" y="504825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82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处置</a:t>
            </a:r>
            <a:endParaRPr sz="382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057650" y="5153025"/>
            <a:ext cx="70389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待跟进 / 已处理 / 误报</a:t>
            </a:r>
            <a:endParaRPr sz="217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12 / CODEARTS 实践 ①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CodeArts Agent 驱动模型训练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调用项目自定义 Skill，按质量门组织教室行为模型研发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18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t="30978" b="30978"/>
          <a:stretch>
            <a:fillRect/>
          </a:stretch>
        </p:blipFill>
        <p:spPr>
          <a:xfrm>
            <a:off x="619125" y="2209800"/>
            <a:ext cx="6772275" cy="3219450"/>
          </a:xfrm>
          <a:prstGeom prst="rect">
            <a:avLst/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619125" y="2209800"/>
            <a:ext cx="6772275" cy="3219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2362200"/>
            <a:ext cx="54864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CodeArts Agent</a:t>
            </a:r>
            <a:endParaRPr sz="2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86675" y="2266950"/>
            <a:ext cx="36766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17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 Skill</a:t>
            </a:r>
            <a:endParaRPr sz="217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686675" y="2733675"/>
            <a:ext cx="370522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$yunshao-classroom-model-rnd</a:t>
            </a:r>
            <a:endParaRPr sz="16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86675" y="3286125"/>
            <a:ext cx="3686175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86675" y="342900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62925" y="342900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固定数据版本与类别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86675" y="37623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162925" y="376237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训练、验证 YOLO 模型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86675" y="409575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62925" y="409575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导出并核验 ONNX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86675" y="442912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62925" y="442912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ATC 转换 OM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686675" y="476250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162925" y="476250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板端精度 / 性能 / 内存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86675" y="50958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62925" y="509587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H.264 演示与证据归档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" y="5495925"/>
            <a:ext cx="74295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教室行为场景素材；用于说明模型任务，不是 CodeArts 操作截图</a:t>
            </a:r>
            <a:endParaRPr sz="1200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19125" y="5800725"/>
            <a:ext cx="108013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9125" y="5915025"/>
            <a:ext cx="10810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仓库证据：Skill 定义 · classroom_behavior_training.json · 板端评估报告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19125" y="6219825"/>
            <a:ext cx="10525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训练 JSON 记录为 YOLO11m / 15 epoch；与 Skill 的 YOLO11n 标准配置属于不同实验。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13 / CODEARTS 实践 ②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CodeArts Agent 驱动 Spec 工作流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用自定义 Skill 将任务输入转成可追踪的规格与验收记录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181225"/>
            <a:ext cx="46577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75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CodeArts Agent</a:t>
            </a:r>
            <a:endParaRPr sz="2775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686050"/>
            <a:ext cx="46767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9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 $project-spec-workflow</a:t>
            </a:r>
            <a:endParaRPr sz="19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" y="3267075"/>
            <a:ext cx="40005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19125" y="34575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95375" y="345757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读取 PRD / SPEC / 代码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" y="384810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95375" y="3848100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按风险选择工作路径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9125" y="423862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95375" y="423862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维护四份规格文档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9125" y="462915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95375" y="4629150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链接 REQ → AC → T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" y="50196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95375" y="501967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运行结构校验并记录证据</a:t>
            </a:r>
            <a:endParaRPr sz="15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rcRect t="3628" b="3628"/>
          <a:stretch>
            <a:fillRect/>
          </a:stretch>
        </p:blipFill>
        <p:spPr>
          <a:xfrm>
            <a:off x="5172075" y="2209800"/>
            <a:ext cx="6248400" cy="3219450"/>
          </a:xfrm>
          <a:prstGeom prst="rect">
            <a:avLst/>
          </a:prstGeom>
        </p:spPr>
      </p:pic>
      <p:sp>
        <p:nvSpPr>
          <p:cNvPr id="23" name="矩形 22"/>
          <p:cNvSpPr>
            <a:spLocks noGrp="1"/>
          </p:cNvSpPr>
          <p:nvPr/>
        </p:nvSpPr>
        <p:spPr>
          <a:xfrm>
            <a:off x="5172075" y="2209800"/>
            <a:ext cx="6248400" cy="3219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172075" y="5495925"/>
            <a:ext cx="62484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7FA9C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项目运行中的设备与规则页面；作为开发产物展示，不是 CodeArts 操作截图</a:t>
            </a:r>
            <a:endParaRPr sz="1200" b="0">
              <a:solidFill>
                <a:srgbClr val="7FA9C4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19125" y="5800725"/>
            <a:ext cx="108013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19125" y="5915025"/>
            <a:ext cx="10810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仓库证据：prompt.txt · proposal / spec / design / tasks · T-01 至 T-03 已完成</a:t>
            </a:r>
            <a:endParaRPr sz="14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19125" y="6219825"/>
            <a:ext cx="10525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验收记录覆盖 AC-01.1—AC-04.2；结构校验不替代代码与实机验收。</a:t>
            </a:r>
            <a:endParaRPr sz="120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CODEARTS / 过程证据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调用项目 Skill 与组织研发流程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用户提供的华为云码道 IDE 操作记录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90750"/>
            <a:ext cx="6248400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CODEARTS / 过程证据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需求规格文档生成记录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用户提供的华为云码道 IDE 操作记录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90750"/>
            <a:ext cx="6248400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29"/>
            <a:ext cx="12192000" cy="6857143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CODEARTS / 过程证据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2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 失败重试与继续执行记录</a:t>
            </a:r>
            <a:endParaRPr sz="32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用户提供的华为云码道 IDE 操作记录</a:t>
            </a:r>
            <a:endParaRPr sz="1350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190750"/>
            <a:ext cx="6248400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14 / 阶段判断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4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已完成基础验证，继续补齐真实链路</a:t>
            </a:r>
            <a:endParaRPr sz="34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建议对外表述：首发试点，部分链路已验证</a:t>
            </a:r>
            <a:endParaRPr sz="142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23</a:t>
            </a:r>
            <a:endParaRPr sz="13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" y="2390775"/>
            <a:ext cx="5048250" cy="296227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2390775"/>
            <a:ext cx="504825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66775" y="2695575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已有基础</a:t>
            </a:r>
            <a:endParaRPr sz="31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6775" y="3581400"/>
            <a:ext cx="44386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Web / PWA 页面与模拟数据联调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账号、事件、统计等服务流程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Atlas 模型加载与合成视频处理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57950" y="2390775"/>
            <a:ext cx="5048250" cy="2962275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57950" y="2390775"/>
            <a:ext cx="5048250" cy="571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2695575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150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待补验收</a:t>
            </a:r>
            <a:endParaRPr sz="3150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3581400"/>
            <a:ext cx="4429125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真实相机至浏览器播放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规则事件至系统通知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def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725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持续稳定性与容量压测</a:t>
            </a:r>
            <a:endParaRPr sz="1725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9125" y="5734050"/>
            <a:ext cx="108775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真实设备与推送链路验收，是从试点走向复制的关键一步</a:t>
            </a:r>
            <a:endParaRPr sz="187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52475" y="857250"/>
            <a:ext cx="762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YUNSHAO  /  NEXT</a:t>
            </a:r>
            <a:endParaRPr sz="1650" b="1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52475" y="1428750"/>
            <a:ext cx="164782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425" y="2038350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725" b="1">
                <a:solidFill>
                  <a:srgbClr val="F5C86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让一条真实链路跑通</a:t>
            </a:r>
            <a:endParaRPr sz="4725" b="1">
              <a:solidFill>
                <a:srgbClr val="F5C86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33425" y="3143250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47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再让能力跨行业复制</a:t>
            </a:r>
            <a:endParaRPr sz="47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472440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C5DCE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近期：真实视频接入 / 规则事件到通知 / 手机端回跳与处置</a:t>
            </a:r>
            <a:endParaRPr sz="1875" b="0">
              <a:solidFill>
                <a:srgbClr val="C5DCE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5334000"/>
            <a:ext cx="1047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defPPr>
            <a:lvl1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1pPr>
            <a:lvl2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2pPr>
            <a:lvl3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3pPr>
            <a:lvl4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4pPr>
            <a:lvl5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5pPr>
            <a:lvl6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6pPr>
            <a:lvl7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7pPr>
            <a:lvl8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8pPr>
            <a:lvl9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lvl9pPr>
          </a:lstStyle>
          <a:p>
            <a:pPr>
              <a:def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0">
                <a:solidFill>
                  <a:srgbClr val="78E0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后续：扩展场景算法与平台接入能力</a:t>
            </a:r>
            <a:endParaRPr sz="1875" b="0">
              <a:solidFill>
                <a:srgbClr val="78E0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4535</Words>
  <Application>WPS 演示</Application>
  <PresentationFormat>Converted Presentation</PresentationFormat>
  <Paragraphs>658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Arial</vt:lpstr>
      <vt:lpstr>宋体</vt:lpstr>
      <vt:lpstr>Wingdings</vt:lpstr>
      <vt:lpstr>PingFang SC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⹫⹬⹬</cp:lastModifiedBy>
  <cp:revision>1</cp:revision>
  <dcterms:created xsi:type="dcterms:W3CDTF">2026-10-23T07:15:54Z</dcterms:created>
  <dcterms:modified xsi:type="dcterms:W3CDTF">2026-10-23T07:15:54Z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2453798DC8C6971EAA09DB6A485BF51B_43</vt:lpwstr>
  </property>
  <property fmtid="{D5CDD505-2E9C-101B-9397-08002B2CF9AE}" pid="3" name="KSOProductBuildVer">
    <vt:lpwstr>2052-12.1.28496.28496</vt:lpwstr>
  </property>
</Properties>
</file>