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7BDB65-B1D9-452D-8567-E315F17ABAB0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C5A84A-955A-4F66-BEE8-EEB0EF6A39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5857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 altLang="zh-CN"/>
              <a:t>README.md</a:t>
            </a:r>
            <a:r>
              <a:rPr lang="zh-CN" altLang="en-US"/>
              <a:t>；</a:t>
            </a:r>
            <a:r>
              <a:rPr lang="en-US" altLang="zh-CN"/>
              <a:t>project/docs/Analysis/PRD.md</a:t>
            </a:r>
            <a:r>
              <a:rPr lang="zh-CN" altLang="en-US"/>
              <a:t>；设备图片复用仓库原始资产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5A84A-955A-4F66-BEE8-EEB0EF6A393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3899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 altLang="zh-CN"/>
              <a:t>project/docs/Analysis/PRD.md §1–4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5A84A-955A-4F66-BEE8-EEB0EF6A393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6034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 altLang="zh-CN"/>
              <a:t>project/docs/Design/STRUCTURE.md</a:t>
            </a:r>
            <a:r>
              <a:rPr lang="zh-CN" altLang="en-US"/>
              <a:t>；</a:t>
            </a:r>
            <a:r>
              <a:rPr lang="en-US" altLang="zh-CN"/>
              <a:t>project/src/services/docker-compose.yaml</a:t>
            </a:r>
            <a:r>
              <a:rPr lang="zh-CN" altLang="en-US"/>
              <a:t>；</a:t>
            </a:r>
            <a:r>
              <a:rPr lang="en-US" altLang="zh-CN"/>
              <a:t>readme/assets/multi-scene-monitoring.png </a:t>
            </a:r>
            <a:r>
              <a:rPr lang="zh-CN" altLang="en-US"/>
              <a:t>为仓库展示示意图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5A84A-955A-4F66-BEE8-EEB0EF6A393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82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 altLang="zh-CN"/>
              <a:t>project/src/services/docker-compose.yaml</a:t>
            </a:r>
            <a:r>
              <a:rPr lang="zh-CN" altLang="en-US"/>
              <a:t>；</a:t>
            </a:r>
            <a:r>
              <a:rPr lang="en-US" altLang="zh-CN"/>
              <a:t>project/src/clients/web/src/router/index.ts</a:t>
            </a:r>
            <a:r>
              <a:rPr lang="zh-CN" altLang="en-US"/>
              <a:t>；</a:t>
            </a:r>
            <a:r>
              <a:rPr lang="en-US" altLang="zh-CN"/>
              <a:t>project/preparation/</a:t>
            </a:r>
            <a:r>
              <a:rPr lang="zh-CN" altLang="en-US"/>
              <a:t>；</a:t>
            </a:r>
            <a:r>
              <a:rPr lang="en-US" altLang="zh-CN"/>
              <a:t>project/docs/Analysis/PRD.md</a:t>
            </a:r>
            <a:r>
              <a:rPr lang="zh-CN" altLang="en-US"/>
              <a:t>；页面数含概览、设备列表</a:t>
            </a:r>
            <a:r>
              <a:rPr lang="en-US" altLang="zh-CN"/>
              <a:t>/</a:t>
            </a:r>
            <a:r>
              <a:rPr lang="zh-CN" altLang="en-US"/>
              <a:t>详情、监控、事件列表</a:t>
            </a:r>
            <a:r>
              <a:rPr lang="en-US" altLang="zh-CN"/>
              <a:t>/</a:t>
            </a:r>
            <a:r>
              <a:rPr lang="zh-CN" altLang="en-US"/>
              <a:t>详情、分析、设置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5A84A-955A-4F66-BEE8-EEB0EF6A393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8590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 altLang="zh-CN"/>
              <a:t>project/src/clients/web/src/pages/OverviewPage.vue</a:t>
            </a:r>
            <a:r>
              <a:rPr lang="zh-CN" altLang="en-US"/>
              <a:t>；</a:t>
            </a:r>
            <a:r>
              <a:rPr lang="en-US" altLang="zh-CN"/>
              <a:t>project/docs/Specification/web_pwa_client/evidence/delivery_20261022.json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5A84A-955A-4F66-BEE8-EEB0EF6A393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643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 altLang="zh-CN"/>
              <a:t>project/src/clients/web/src/pages/DeviceDetailPage.vue</a:t>
            </a:r>
            <a:r>
              <a:rPr lang="zh-CN" altLang="en-US"/>
              <a:t>；</a:t>
            </a:r>
            <a:r>
              <a:rPr lang="en-US" altLang="zh-CN"/>
              <a:t>project/docs/Specification/web_pwa_client/evidence/delivery_20261022.json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5A84A-955A-4F66-BEE8-EEB0EF6A393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51562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 altLang="zh-CN"/>
              <a:t>project/docs/Specification/classroom_behavior_detection/tasks.md</a:t>
            </a:r>
            <a:r>
              <a:rPr lang="zh-CN" altLang="en-US"/>
              <a:t>；</a:t>
            </a:r>
            <a:r>
              <a:rPr lang="en-US" altLang="zh-CN"/>
              <a:t>project/preparation/model_classroom_behavior/model_val/reports/release_20261020/atlas_runtime_smoke.json</a:t>
            </a:r>
            <a:r>
              <a:rPr lang="zh-CN" altLang="en-US"/>
              <a:t>；</a:t>
            </a:r>
            <a:r>
              <a:rPr lang="en-US" altLang="zh-CN"/>
              <a:t>atlas_runtime_sustained.json</a:t>
            </a:r>
            <a:r>
              <a:rPr lang="zh-CN" altLang="en-US"/>
              <a:t>；</a:t>
            </a:r>
            <a:r>
              <a:rPr lang="en-US" altLang="zh-CN"/>
              <a:t>readme/assets/classroom-behavior-detection.png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5A84A-955A-4F66-BEE8-EEB0EF6A393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5629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 altLang="zh-CN"/>
              <a:t>project/src/clients/web/src/pages/EventsPage.vue</a:t>
            </a:r>
            <a:r>
              <a:rPr lang="zh-CN" altLang="en-US"/>
              <a:t>；</a:t>
            </a:r>
            <a:r>
              <a:rPr lang="en-US" altLang="zh-CN"/>
              <a:t>project/docs/Specification/event_service/spec.md</a:t>
            </a:r>
            <a:r>
              <a:rPr lang="zh-CN" altLang="en-US"/>
              <a:t>；</a:t>
            </a:r>
            <a:r>
              <a:rPr lang="en-US" altLang="zh-CN"/>
              <a:t>project/docs/Specification/web_pwa_client/evidence/delivery_20261022.json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5A84A-955A-4F66-BEE8-EEB0EF6A393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4300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 altLang="zh-CN"/>
              <a:t>project/src/clients/web/src/pages/EventDetailPage.vue</a:t>
            </a:r>
            <a:r>
              <a:rPr lang="zh-CN" altLang="en-US"/>
              <a:t>；</a:t>
            </a:r>
            <a:r>
              <a:rPr lang="en-US" altLang="zh-CN"/>
              <a:t>project/docs/Specification/web_pwa_client/evidence/delivery_20261022.json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5A84A-955A-4F66-BEE8-EEB0EF6A393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2466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 altLang="zh-CN"/>
              <a:t>project/src/clients/web/src/pages/AnalyticsPage.vue</a:t>
            </a:r>
            <a:r>
              <a:rPr lang="zh-CN" altLang="en-US"/>
              <a:t>；</a:t>
            </a:r>
            <a:r>
              <a:rPr lang="en-US" altLang="zh-CN"/>
              <a:t>project/docs/Analysis/PRD.md</a:t>
            </a:r>
            <a:r>
              <a:rPr lang="zh-CN" altLang="en-US"/>
              <a:t>；</a:t>
            </a:r>
            <a:r>
              <a:rPr lang="en-US" altLang="zh-CN"/>
              <a:t>project/docs/Specification/web_pwa_client/evidence/delivery_20261022.json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5A84A-955A-4F66-BEE8-EEB0EF6A393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6006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 altLang="zh-CN"/>
              <a:t>project/src/tools/push-debug/CONTRACT.md</a:t>
            </a:r>
            <a:r>
              <a:rPr lang="zh-CN" altLang="en-US"/>
              <a:t>；</a:t>
            </a:r>
            <a:r>
              <a:rPr lang="en-US" altLang="zh-CN"/>
              <a:t>project/src/tools/push-debug/server.py</a:t>
            </a:r>
            <a:r>
              <a:rPr lang="zh-CN" altLang="en-US"/>
              <a:t>；</a:t>
            </a:r>
            <a:r>
              <a:rPr lang="en-US" altLang="zh-CN"/>
              <a:t>project/docs/Specification/web_pwa_client/evidence/delivery_20261022.json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5A84A-955A-4F66-BEE8-EEB0EF6A393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15993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 altLang="zh-CN"/>
              <a:t>project/docs/Specification/web_pwa_client/evidence/delivery_20261022.json</a:t>
            </a:r>
            <a:r>
              <a:rPr lang="zh-CN" altLang="en-US"/>
              <a:t>；</a:t>
            </a:r>
            <a:r>
              <a:rPr lang="en-US" altLang="zh-CN"/>
              <a:t>project/docs/Specification/push_service/tasks.md</a:t>
            </a:r>
            <a:r>
              <a:rPr lang="zh-CN" altLang="en-US"/>
              <a:t>；</a:t>
            </a:r>
            <a:r>
              <a:rPr lang="en-US" altLang="zh-CN"/>
              <a:t>project/docs/Specification/atlas_edge_runtime/tasks.md</a:t>
            </a:r>
            <a:r>
              <a:rPr lang="zh-CN" altLang="en-US"/>
              <a:t>；本轮用户明确将手机与 </a:t>
            </a:r>
            <a:r>
              <a:rPr lang="en-US" altLang="zh-CN"/>
              <a:t>CodeArts </a:t>
            </a:r>
            <a:r>
              <a:rPr lang="zh-CN" altLang="en-US"/>
              <a:t>实机证据后补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5A84A-955A-4F66-BEE8-EEB0EF6A393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780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182C44-0792-418A-3699-DDFD1F5CE8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2DE3D44-660D-0F64-DCE9-11325086A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ADC617-2C13-DDF1-D11D-439108460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686D2-CC00-40B3-B969-5929F5CEEDA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87CF6B-57F0-0920-E787-49CFFEDD6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A3ADA8-3CA2-72FA-D163-378729231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3049-5828-4A2F-AB16-0B1F9267E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86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0F4872-B287-5CDE-2B22-3CC60B44C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66C178-3DB3-A9AE-2BBE-700042073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6A3DDF-207D-CEAD-2213-438A7F88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686D2-CC00-40B3-B969-5929F5CEEDA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FD9727-62AB-6336-6C4D-53D974A01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5419C1-311C-EF68-D8FD-4279850F9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3049-5828-4A2F-AB16-0B1F9267E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280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F726EE-6FFC-5A8E-743D-605324D52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F3CE6D-4857-3833-BC15-E70DED976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1F2B95-5785-37BF-1C8E-CD095055E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686D2-CC00-40B3-B969-5929F5CEEDA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60A629-B450-017E-4D0F-8743431C1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29EF12-A5A8-A981-454C-6A737B3BA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3049-5828-4A2F-AB16-0B1F9267E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581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5000F6-5BA4-CDCD-0F5A-91A76C577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4C8DBA-75D1-DEA2-E5DE-995C175A50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E0D372-954B-52CC-83CF-EF4B59BAE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7B2DC0-A0A2-4F1A-363E-12111354C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686D2-CC00-40B3-B969-5929F5CEEDA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2878CE-12A1-D581-F34C-CA5AC9570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7C691B-7E0C-8A43-F8AC-06D22EA11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3049-5828-4A2F-AB16-0B1F9267E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959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322C55-2336-4B6F-A322-1DD903478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88B2EC-5D3E-BCBE-FA80-F265FF624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6AB187-F70A-EBB4-CC3F-A1FC6B2EF9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659DC60-5760-F18F-3EAA-090243B2EC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F12519D-B0DD-8386-E9C5-B66947787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D615FE1-E192-2CF8-32C6-C2EE04C45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686D2-CC00-40B3-B969-5929F5CEEDA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8CF8A50-F335-7E3D-2931-368C859F3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505B0A6-C885-86E7-0D75-6D82751B5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3049-5828-4A2F-AB16-0B1F9267E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065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08BC3E-F5C9-F530-2B89-B653166C1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B6220B4-6042-77DD-232A-2239B44EB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686D2-CC00-40B3-B969-5929F5CEEDA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BA04DE7-52D5-77D7-BA5B-7276390E6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336A9E-83BD-191F-15CF-B2AFDC99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3049-5828-4A2F-AB16-0B1F9267E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162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853C2DE-DC27-C80E-DB96-7D10D03A5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686D2-CC00-40B3-B969-5929F5CEEDA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2A58033-DBC0-D330-7F45-D9408C74A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4BB8F9-C103-463C-2111-41E66F373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3049-5828-4A2F-AB16-0B1F9267E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4469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4F5D4B-424E-DF46-969A-08EAE9201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2FDE7-0E7D-E59F-D234-E32A9C50D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30ABAA-F64F-519E-DBE8-8602AA1CC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EB08E6-95A4-07AB-1D1B-62C1882DE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686D2-CC00-40B3-B969-5929F5CEEDA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44CD9D-6A69-EACE-9C7C-E9C2CB333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E59BF9-9D93-BF37-D064-8178EFBEF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3049-5828-4A2F-AB16-0B1F9267E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7911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737201-5836-65AB-6703-89C4627DA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A0F51D0-D58A-1AF7-4B21-F470672ADDC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149938-5261-EFDA-3926-0E0BBB6F6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A2FA91-7D0A-C2F3-4EFA-DC49CA131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686D2-CC00-40B3-B969-5929F5CEEDA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98A949-10EC-CF1E-C407-459FC009C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8A4243-7DFC-4BB4-B309-2897F664B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3049-5828-4A2F-AB16-0B1F9267E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9897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23BA7F-5A46-C589-69FD-53866AD9A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EBB7071-3D6A-6ADC-65E2-EEE09D29B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340F6A-DA4B-E284-564E-1F23DFB4A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686D2-CC00-40B3-B969-5929F5CEEDA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C92430-D615-A457-9B17-281278027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E9860B-E974-222F-61DC-E3888B7BD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3049-5828-4A2F-AB16-0B1F9267E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1443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FE1A4D7-2E6C-3A5E-5407-807A13E419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0173081-E67F-5D80-8F8D-FA58EDB04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011761-E302-6049-6C78-CAD11BB5E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686D2-CC00-40B3-B969-5929F5CEEDA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EED4B9-4272-0A1E-7498-3CE13F515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698331-7FD3-38CB-E1CC-E10BC7C0F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3049-5828-4A2F-AB16-0B1F9267E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355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A24B5F-3F94-9479-D87C-9ED7B0400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C65969-0640-6146-6686-22E314637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30CBE8-25FF-1CFD-F0D6-592AA408B5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C686D2-CC00-40B3-B969-5929F5CEEDA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61683D-9963-8771-0A95-21DEB9A323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A25FC9-AB92-0548-0954-8184326A04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D3049-5828-4A2F-AB16-0B1F9267E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493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0893DC2-4EFD-EF87-A4B5-F5CA0D9C80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558800"/>
            <a:ext cx="787400" cy="7874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6E18693-DB91-CA7C-1591-EBBBFE99247E}"/>
              </a:ext>
            </a:extLst>
          </p:cNvPr>
          <p:cNvSpPr txBox="1"/>
          <p:nvPr/>
        </p:nvSpPr>
        <p:spPr>
          <a:xfrm>
            <a:off x="660400" y="18542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4400">
                <a:solidFill>
                  <a:srgbClr val="1C1917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云哨 </a:t>
            </a:r>
            <a:r>
              <a:rPr lang="en-US" altLang="zh-CN" sz="4400">
                <a:solidFill>
                  <a:srgbClr val="1C1917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· </a:t>
            </a:r>
            <a:r>
              <a:rPr lang="zh-CN" altLang="en-US" sz="4400">
                <a:solidFill>
                  <a:srgbClr val="1C1917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边缘智枢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5C7B481-8575-5F11-351B-BF3CA62AB6C3}"/>
              </a:ext>
            </a:extLst>
          </p:cNvPr>
          <p:cNvSpPr txBox="1"/>
          <p:nvPr/>
        </p:nvSpPr>
        <p:spPr>
          <a:xfrm>
            <a:off x="698500" y="30480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3000">
                <a:solidFill>
                  <a:srgbClr val="1F4D3A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面向多行业的 </a:t>
            </a:r>
            <a:r>
              <a:rPr lang="en-US" altLang="zh-CN" sz="3000">
                <a:solidFill>
                  <a:srgbClr val="1F4D3A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AIoT
</a:t>
            </a:r>
            <a:r>
              <a:rPr lang="zh-CN" altLang="en-US" sz="3000">
                <a:solidFill>
                  <a:srgbClr val="1F4D3A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边缘视频智能平台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9E689F-CA7A-82C1-FBA8-CA2D2E76C563}"/>
              </a:ext>
            </a:extLst>
          </p:cNvPr>
          <p:cNvSpPr txBox="1"/>
          <p:nvPr/>
        </p:nvSpPr>
        <p:spPr>
          <a:xfrm>
            <a:off x="698500" y="51054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19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边缘智能识别，云端统一处置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DD62903-DDB9-E7CB-4AC6-B5FE0C8CA1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3242454"/>
            <a:ext cx="4292600" cy="189709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B2322BB-DBAF-96CC-6676-F94AA8FF6907}"/>
              </a:ext>
            </a:extLst>
          </p:cNvPr>
          <p:cNvSpPr txBox="1"/>
          <p:nvPr/>
        </p:nvSpPr>
        <p:spPr>
          <a:xfrm>
            <a:off x="7289800" y="5397500"/>
            <a:ext cx="4292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1200">
                <a:solidFill>
                  <a:srgbClr val="746B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首发硬件：华为 </a:t>
            </a:r>
            <a:r>
              <a:rPr lang="en-US" altLang="zh-CN" sz="1200">
                <a:solidFill>
                  <a:srgbClr val="746B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Atlas 200I DK A2</a:t>
            </a:r>
            <a:endParaRPr lang="zh-CN" altLang="en-US" sz="1200">
              <a:solidFill>
                <a:srgbClr val="746B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F1E7018-BE4E-1CBF-C040-14BEB138E3B1}"/>
              </a:ext>
            </a:extLst>
          </p:cNvPr>
          <p:cNvSpPr txBox="1"/>
          <p:nvPr/>
        </p:nvSpPr>
        <p:spPr>
          <a:xfrm>
            <a:off x="698500" y="6121400"/>
            <a:ext cx="812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1300">
                <a:solidFill>
                  <a:srgbClr val="746B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产品与交付进展 </a:t>
            </a:r>
            <a:r>
              <a:rPr lang="en-US" altLang="zh-CN" sz="1300">
                <a:solidFill>
                  <a:srgbClr val="746B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2026.10</a:t>
            </a:r>
            <a:endParaRPr lang="zh-CN" altLang="en-US" sz="1300">
              <a:solidFill>
                <a:srgbClr val="746B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22105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EADA7CA-842D-066D-C2A4-4FC2B517DF25}"/>
              </a:ext>
            </a:extLst>
          </p:cNvPr>
          <p:cNvSpPr txBox="1"/>
          <p:nvPr/>
        </p:nvSpPr>
        <p:spPr>
          <a:xfrm>
            <a:off x="609600" y="419100"/>
            <a:ext cx="1092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3200">
                <a:solidFill>
                  <a:srgbClr val="1C1917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产品定位与应用场景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ED1B986-A593-4C09-9BE4-026B49B1C060}"/>
              </a:ext>
            </a:extLst>
          </p:cNvPr>
          <p:cNvSpPr txBox="1"/>
          <p:nvPr/>
        </p:nvSpPr>
        <p:spPr>
          <a:xfrm>
            <a:off x="635000" y="1422400"/>
            <a:ext cx="1092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2500">
                <a:solidFill>
                  <a:srgbClr val="1F4D3A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一套平台，连接视频、设备、事件与处置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88203A-9324-3A15-76EB-C3B537FC3D1D}"/>
              </a:ext>
            </a:extLst>
          </p:cNvPr>
          <p:cNvSpPr txBox="1"/>
          <p:nvPr/>
        </p:nvSpPr>
        <p:spPr>
          <a:xfrm>
            <a:off x="635000" y="2552700"/>
            <a:ext cx="1092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3400">
                <a:solidFill>
                  <a:srgbClr val="1C1917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园区      工厂      企业      校园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807375-E598-C4BC-7550-534BE70956D7}"/>
              </a:ext>
            </a:extLst>
          </p:cNvPr>
          <p:cNvSpPr txBox="1"/>
          <p:nvPr/>
        </p:nvSpPr>
        <p:spPr>
          <a:xfrm>
            <a:off x="660400" y="3759200"/>
            <a:ext cx="1035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21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面向园区、工厂、企业与校园，统一管理边缘设备、摄像头、视觉算法与异常事件。
教室行为检测是首发验证场景；行业扩展通过算法、规则和设备接入逐步推进。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469BD4-8C11-82B8-68F1-3ACACE6278A9}"/>
              </a:ext>
            </a:extLst>
          </p:cNvPr>
          <p:cNvSpPr txBox="1"/>
          <p:nvPr/>
        </p:nvSpPr>
        <p:spPr>
          <a:xfrm>
            <a:off x="660400" y="6489700"/>
            <a:ext cx="1085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云哨 </a:t>
            </a:r>
            <a:r>
              <a:rPr lang="en-US" altLang="zh-CN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边缘智枢    </a:t>
            </a:r>
            <a:r>
              <a:rPr lang="en-US" altLang="zh-CN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/ 12</a:t>
            </a:r>
            <a:endParaRPr lang="zh-CN" altLang="en-US" sz="1000">
              <a:solidFill>
                <a:srgbClr val="9B938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9503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54A8633-3C6F-AA01-84BC-CB2062975950}"/>
              </a:ext>
            </a:extLst>
          </p:cNvPr>
          <p:cNvSpPr txBox="1"/>
          <p:nvPr/>
        </p:nvSpPr>
        <p:spPr>
          <a:xfrm>
            <a:off x="609600" y="419100"/>
            <a:ext cx="1092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3200">
                <a:solidFill>
                  <a:srgbClr val="1C1917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云边端协同架构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535C21-6183-03F5-6DA6-DF862B095FBB}"/>
              </a:ext>
            </a:extLst>
          </p:cNvPr>
          <p:cNvSpPr txBox="1"/>
          <p:nvPr/>
        </p:nvSpPr>
        <p:spPr>
          <a:xfrm>
            <a:off x="635000" y="13335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2400">
                <a:solidFill>
                  <a:srgbClr val="1F4D3A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摄像头 → </a:t>
            </a:r>
            <a:r>
              <a:rPr lang="en-US" altLang="zh-CN" sz="2400">
                <a:solidFill>
                  <a:srgbClr val="1F4D3A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Atlas → </a:t>
            </a:r>
            <a:r>
              <a:rPr lang="zh-CN" altLang="en-US" sz="2400">
                <a:solidFill>
                  <a:srgbClr val="1F4D3A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云端 → </a:t>
            </a:r>
            <a:r>
              <a:rPr lang="en-US" altLang="zh-CN" sz="2400">
                <a:solidFill>
                  <a:srgbClr val="1F4D3A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Web / PWA</a:t>
            </a:r>
            <a:endParaRPr lang="zh-CN" altLang="en-US" sz="2400">
              <a:solidFill>
                <a:srgbClr val="1F4D3A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5F9A242-46BD-AC87-C9C2-86D909F4B087}"/>
              </a:ext>
            </a:extLst>
          </p:cNvPr>
          <p:cNvSpPr txBox="1"/>
          <p:nvPr/>
        </p:nvSpPr>
        <p:spPr>
          <a:xfrm>
            <a:off x="660400" y="23495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21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边缘：视频解码、推理与画面叠加
云端：认证、设备、事件、媒体、推送
终端：视频查看、事件追溯与处置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2F1231E-4965-64B1-BE54-A324E7596F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500" y="2209800"/>
            <a:ext cx="4826000" cy="36195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2EF4B99-EF1D-04A5-129A-8D73C5D166DF}"/>
              </a:ext>
            </a:extLst>
          </p:cNvPr>
          <p:cNvSpPr txBox="1"/>
          <p:nvPr/>
        </p:nvSpPr>
        <p:spPr>
          <a:xfrm>
            <a:off x="660400" y="59563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1100">
                <a:solidFill>
                  <a:srgbClr val="746B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方案示意图；本机演示使用模拟设备，未连接真实摄像头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989926-91E9-CC02-3B83-5471130EDB76}"/>
              </a:ext>
            </a:extLst>
          </p:cNvPr>
          <p:cNvSpPr txBox="1"/>
          <p:nvPr/>
        </p:nvSpPr>
        <p:spPr>
          <a:xfrm>
            <a:off x="660400" y="6489700"/>
            <a:ext cx="1085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云哨 </a:t>
            </a:r>
            <a:r>
              <a:rPr lang="en-US" altLang="zh-CN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边缘智枢    </a:t>
            </a:r>
            <a:r>
              <a:rPr lang="en-US" altLang="zh-CN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/ 12</a:t>
            </a:r>
            <a:endParaRPr lang="zh-CN" altLang="en-US" sz="1000">
              <a:solidFill>
                <a:srgbClr val="9B938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3776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0B24A69-CFED-BC0A-1B13-712DBDBAAD80}"/>
              </a:ext>
            </a:extLst>
          </p:cNvPr>
          <p:cNvSpPr txBox="1"/>
          <p:nvPr/>
        </p:nvSpPr>
        <p:spPr>
          <a:xfrm>
            <a:off x="609600" y="419100"/>
            <a:ext cx="1092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3200">
                <a:solidFill>
                  <a:srgbClr val="1C1917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当前交付规模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8ADFD72-422A-8149-1D9E-569B1F60E252}"/>
              </a:ext>
            </a:extLst>
          </p:cNvPr>
          <p:cNvSpPr txBox="1"/>
          <p:nvPr/>
        </p:nvSpPr>
        <p:spPr>
          <a:xfrm>
            <a:off x="635000" y="1409700"/>
            <a:ext cx="1092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2500">
                <a:solidFill>
                  <a:srgbClr val="1F4D3A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平台骨架与业务闭环已经落地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73DE763-4A89-D4ED-54C8-DE6E4DE59CAF}"/>
              </a:ext>
            </a:extLst>
          </p:cNvPr>
          <p:cNvSpPr txBox="1"/>
          <p:nvPr/>
        </p:nvSpPr>
        <p:spPr>
          <a:xfrm>
            <a:off x="660400" y="25146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 sz="23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</a:t>
            </a:r>
            <a:r>
              <a:rPr lang="zh-CN" altLang="en-US" sz="23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类业务服务 </a:t>
            </a:r>
            <a:r>
              <a:rPr lang="en-US" altLang="zh-CN" sz="23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8 </a:t>
            </a:r>
            <a:r>
              <a:rPr lang="zh-CN" altLang="en-US" sz="23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类工作台页面
</a:t>
            </a:r>
            <a:r>
              <a:rPr lang="en-US" altLang="zh-CN" sz="23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23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套模型准备流程 </a:t>
            </a:r>
            <a:r>
              <a:rPr lang="en-US" altLang="zh-CN" sz="23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3 </a:t>
            </a:r>
            <a:r>
              <a:rPr lang="zh-CN" altLang="en-US" sz="23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类课堂行为
账号隔离、设备与规则、事件证据、处置和统计已实现。
已验证单点位与本机模拟链路。
最多 </a:t>
            </a:r>
            <a:r>
              <a:rPr lang="en-US" altLang="zh-CN" sz="23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 </a:t>
            </a:r>
            <a:r>
              <a:rPr lang="zh-CN" altLang="en-US" sz="23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路为容量目标，并发性能待验收。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B770DA3-F07B-5E10-5A25-93FAA2829F3C}"/>
              </a:ext>
            </a:extLst>
          </p:cNvPr>
          <p:cNvSpPr txBox="1"/>
          <p:nvPr/>
        </p:nvSpPr>
        <p:spPr>
          <a:xfrm>
            <a:off x="660400" y="6489700"/>
            <a:ext cx="1085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云哨 </a:t>
            </a:r>
            <a:r>
              <a:rPr lang="en-US" altLang="zh-CN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边缘智枢    </a:t>
            </a:r>
            <a:r>
              <a:rPr lang="en-US" altLang="zh-CN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/ 12</a:t>
            </a:r>
            <a:endParaRPr lang="zh-CN" altLang="en-US" sz="1000">
              <a:solidFill>
                <a:srgbClr val="9B938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900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826FABF-F37D-44E2-1924-DF3A75F83D70}"/>
              </a:ext>
            </a:extLst>
          </p:cNvPr>
          <p:cNvSpPr txBox="1"/>
          <p:nvPr/>
        </p:nvSpPr>
        <p:spPr>
          <a:xfrm>
            <a:off x="609600" y="419100"/>
            <a:ext cx="1092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3200">
                <a:solidFill>
                  <a:srgbClr val="1C1917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运行概览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3EDF8FB-94F3-0DDA-8A99-030645A4FCC8}"/>
              </a:ext>
            </a:extLst>
          </p:cNvPr>
          <p:cNvSpPr txBox="1"/>
          <p:nvPr/>
        </p:nvSpPr>
        <p:spPr>
          <a:xfrm>
            <a:off x="635000" y="1320800"/>
            <a:ext cx="1092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2300">
                <a:solidFill>
                  <a:srgbClr val="1F4D3A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设备、事件与处理进度，在一个入口查看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E82C5A6-9710-564D-3666-1ADC0FB69F83}"/>
              </a:ext>
            </a:extLst>
          </p:cNvPr>
          <p:cNvSpPr txBox="1"/>
          <p:nvPr/>
        </p:nvSpPr>
        <p:spPr>
          <a:xfrm>
            <a:off x="660400" y="24638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19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设备在线概况
事件趋势与待处置数量
今天 </a:t>
            </a:r>
            <a:r>
              <a:rPr lang="en-US" altLang="zh-CN" sz="19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近 </a:t>
            </a:r>
            <a:r>
              <a:rPr lang="en-US" altLang="zh-CN" sz="19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天 </a:t>
            </a:r>
            <a:r>
              <a:rPr lang="en-US" altLang="zh-CN" sz="19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近 </a:t>
            </a:r>
            <a:r>
              <a:rPr lang="en-US" altLang="zh-CN" sz="19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 </a:t>
            </a:r>
            <a:r>
              <a:rPr lang="zh-CN" altLang="en-US" sz="19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天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E86C020-F94D-78C0-0BE7-9DDBAC6548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2082800"/>
            <a:ext cx="6858000" cy="3810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385C40D-CFBD-61AE-ABD1-F8F411F07E7D}"/>
              </a:ext>
            </a:extLst>
          </p:cNvPr>
          <p:cNvSpPr txBox="1"/>
          <p:nvPr/>
        </p:nvSpPr>
        <p:spPr>
          <a:xfrm>
            <a:off x="660400" y="60706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1100">
                <a:solidFill>
                  <a:srgbClr val="746B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本机真实系统截图 </a:t>
            </a:r>
            <a:r>
              <a:rPr lang="en-US" altLang="zh-CN" sz="1100">
                <a:solidFill>
                  <a:srgbClr val="746B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746B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统计来自后端，设备与事件为模拟数据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C043A3-F90C-695A-0F7D-F0CDC034CF33}"/>
              </a:ext>
            </a:extLst>
          </p:cNvPr>
          <p:cNvSpPr txBox="1"/>
          <p:nvPr/>
        </p:nvSpPr>
        <p:spPr>
          <a:xfrm>
            <a:off x="660400" y="6489700"/>
            <a:ext cx="1085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云哨 </a:t>
            </a:r>
            <a:r>
              <a:rPr lang="en-US" altLang="zh-CN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边缘智枢    </a:t>
            </a:r>
            <a:r>
              <a:rPr lang="en-US" altLang="zh-CN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 / 12</a:t>
            </a:r>
            <a:endParaRPr lang="zh-CN" altLang="en-US" sz="1000">
              <a:solidFill>
                <a:srgbClr val="9B938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6388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DFDF5AA-CF42-0A98-C170-ACB21ED22FF5}"/>
              </a:ext>
            </a:extLst>
          </p:cNvPr>
          <p:cNvSpPr txBox="1"/>
          <p:nvPr/>
        </p:nvSpPr>
        <p:spPr>
          <a:xfrm>
            <a:off x="609600" y="419100"/>
            <a:ext cx="1092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3200">
                <a:solidFill>
                  <a:srgbClr val="1C1917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设备与规则管理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343564F-5954-B237-DA9D-B1C6AA795F9D}"/>
              </a:ext>
            </a:extLst>
          </p:cNvPr>
          <p:cNvSpPr txBox="1"/>
          <p:nvPr/>
        </p:nvSpPr>
        <p:spPr>
          <a:xfrm>
            <a:off x="635000" y="1320800"/>
            <a:ext cx="1092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2300">
                <a:solidFill>
                  <a:srgbClr val="1F4D3A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区分设备、摄像头、算法与配置状态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CA1DAC0-84D5-7BC2-FB9E-7F3A0C024900}"/>
              </a:ext>
            </a:extLst>
          </p:cNvPr>
          <p:cNvSpPr txBox="1"/>
          <p:nvPr/>
        </p:nvSpPr>
        <p:spPr>
          <a:xfrm>
            <a:off x="660400" y="24638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19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设备与摄像头登记
告警规则开关与参数
配置版本与实际 </a:t>
            </a:r>
            <a:r>
              <a:rPr lang="en-US" altLang="zh-CN" sz="19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ACK
</a:t>
            </a:r>
            <a:r>
              <a:rPr lang="zh-CN" altLang="en-US" sz="19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单字段 </a:t>
            </a:r>
            <a:r>
              <a:rPr lang="en-US" altLang="zh-CN" sz="19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RTSP </a:t>
            </a:r>
            <a:r>
              <a:rPr lang="zh-CN" altLang="en-US" sz="19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84BC5B6-9A34-F40E-296F-73F4C72BC1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2082800"/>
            <a:ext cx="6858000" cy="3810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34E5DBC-5039-4F93-86ED-D1BB1DEB7BEE}"/>
              </a:ext>
            </a:extLst>
          </p:cNvPr>
          <p:cNvSpPr txBox="1"/>
          <p:nvPr/>
        </p:nvSpPr>
        <p:spPr>
          <a:xfrm>
            <a:off x="660400" y="60706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1100">
                <a:solidFill>
                  <a:srgbClr val="746B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专用模拟设备 </a:t>
            </a:r>
            <a:r>
              <a:rPr lang="en-US" altLang="zh-CN" sz="1100">
                <a:solidFill>
                  <a:srgbClr val="746B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746B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 </a:t>
            </a:r>
            <a:r>
              <a:rPr lang="en-US" altLang="zh-CN" sz="1100">
                <a:solidFill>
                  <a:srgbClr val="746B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Atlas </a:t>
            </a:r>
            <a:r>
              <a:rPr lang="zh-CN" altLang="en-US" sz="1100">
                <a:solidFill>
                  <a:srgbClr val="746B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推理或真实视频连接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8E2659-FC1A-BB96-1F10-75FA25AD8177}"/>
              </a:ext>
            </a:extLst>
          </p:cNvPr>
          <p:cNvSpPr txBox="1"/>
          <p:nvPr/>
        </p:nvSpPr>
        <p:spPr>
          <a:xfrm>
            <a:off x="660400" y="6489700"/>
            <a:ext cx="1085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云哨 </a:t>
            </a:r>
            <a:r>
              <a:rPr lang="en-US" altLang="zh-CN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边缘智枢    </a:t>
            </a:r>
            <a:r>
              <a:rPr lang="en-US" altLang="zh-CN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 / 12</a:t>
            </a:r>
            <a:endParaRPr lang="zh-CN" altLang="en-US" sz="1000">
              <a:solidFill>
                <a:srgbClr val="9B938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8690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D673161-D5C1-2392-F6A0-FD27D0DCED83}"/>
              </a:ext>
            </a:extLst>
          </p:cNvPr>
          <p:cNvSpPr txBox="1"/>
          <p:nvPr/>
        </p:nvSpPr>
        <p:spPr>
          <a:xfrm>
            <a:off x="609600" y="419100"/>
            <a:ext cx="1092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3200">
                <a:solidFill>
                  <a:srgbClr val="1C1917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边缘推理与实时监控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694241F-3C5F-E2F5-EE53-F437443A73B5}"/>
              </a:ext>
            </a:extLst>
          </p:cNvPr>
          <p:cNvSpPr txBox="1"/>
          <p:nvPr/>
        </p:nvSpPr>
        <p:spPr>
          <a:xfrm>
            <a:off x="635000" y="13335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2400">
                <a:solidFill>
                  <a:srgbClr val="1F4D3A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首发以教室行为验证边缘运行时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BAED863-B3C9-6619-AF5B-1DCFE5E24604}"/>
              </a:ext>
            </a:extLst>
          </p:cNvPr>
          <p:cNvSpPr txBox="1"/>
          <p:nvPr/>
        </p:nvSpPr>
        <p:spPr>
          <a:xfrm>
            <a:off x="660400" y="23495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21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举手、阅读、书写三类行为
既有板端合成流测试：
短测 </a:t>
            </a:r>
            <a:r>
              <a:rPr lang="en-US" altLang="zh-CN" sz="21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75 / 75 </a:t>
            </a:r>
            <a:r>
              <a:rPr lang="zh-CN" altLang="en-US" sz="21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帧
长测 </a:t>
            </a:r>
            <a:r>
              <a:rPr lang="en-US" altLang="zh-CN" sz="21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8997 / 9000 </a:t>
            </a:r>
            <a:r>
              <a:rPr lang="zh-CN" altLang="en-US" sz="21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帧
真实摄像头、完整媒体链路
与精度仍待验收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844004B-B11C-E2D7-61B8-75D86AF767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5184" y="2209800"/>
            <a:ext cx="2896633" cy="36195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53E75AE-E17F-D589-4BCA-7023FB3A9B2B}"/>
              </a:ext>
            </a:extLst>
          </p:cNvPr>
          <p:cNvSpPr txBox="1"/>
          <p:nvPr/>
        </p:nvSpPr>
        <p:spPr>
          <a:xfrm>
            <a:off x="660400" y="59563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1100">
                <a:solidFill>
                  <a:srgbClr val="746B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场景示意图；板端数据来自既有验收记录，非本轮实测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2F2DD7-EAE7-D033-956A-6D443E066BE2}"/>
              </a:ext>
            </a:extLst>
          </p:cNvPr>
          <p:cNvSpPr txBox="1"/>
          <p:nvPr/>
        </p:nvSpPr>
        <p:spPr>
          <a:xfrm>
            <a:off x="660400" y="6489700"/>
            <a:ext cx="1085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云哨 </a:t>
            </a:r>
            <a:r>
              <a:rPr lang="en-US" altLang="zh-CN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边缘智枢    </a:t>
            </a:r>
            <a:r>
              <a:rPr lang="en-US" altLang="zh-CN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07 / 12</a:t>
            </a:r>
            <a:endParaRPr lang="zh-CN" altLang="en-US" sz="1000">
              <a:solidFill>
                <a:srgbClr val="9B938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6834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8A45843-27D2-234F-CD17-AA413EABBE83}"/>
              </a:ext>
            </a:extLst>
          </p:cNvPr>
          <p:cNvSpPr txBox="1"/>
          <p:nvPr/>
        </p:nvSpPr>
        <p:spPr>
          <a:xfrm>
            <a:off x="609600" y="419100"/>
            <a:ext cx="1092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3200">
                <a:solidFill>
                  <a:srgbClr val="1C1917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异常事件查询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CD6D43-2441-6718-38ED-E2319B9C78E2}"/>
              </a:ext>
            </a:extLst>
          </p:cNvPr>
          <p:cNvSpPr txBox="1"/>
          <p:nvPr/>
        </p:nvSpPr>
        <p:spPr>
          <a:xfrm>
            <a:off x="635000" y="1320800"/>
            <a:ext cx="1092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2300">
                <a:solidFill>
                  <a:srgbClr val="1F4D3A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按类型、等级、地点和处置状态追溯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7EA746B-70AA-8A34-60DE-C9A04562E4C8}"/>
              </a:ext>
            </a:extLst>
          </p:cNvPr>
          <p:cNvSpPr txBox="1"/>
          <p:nvPr/>
        </p:nvSpPr>
        <p:spPr>
          <a:xfrm>
            <a:off x="660400" y="24638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19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稳定分页与条件筛选
按账号隔离事件
关联设备、摄像头与时间
普通检测不自动变成告警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48F6639-BD72-EB6D-70DC-680D129EA5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2082800"/>
            <a:ext cx="6858000" cy="3810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43451AB-036E-03E1-17D3-FA4DC54190F5}"/>
              </a:ext>
            </a:extLst>
          </p:cNvPr>
          <p:cNvSpPr txBox="1"/>
          <p:nvPr/>
        </p:nvSpPr>
        <p:spPr>
          <a:xfrm>
            <a:off x="660400" y="60706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1100">
                <a:solidFill>
                  <a:srgbClr val="746B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本机真实系统截图 </a:t>
            </a:r>
            <a:r>
              <a:rPr lang="en-US" altLang="zh-CN" sz="1100">
                <a:solidFill>
                  <a:srgbClr val="746B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746B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列表中的测试事件均来自模拟链路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5E4C3DC-2878-EBD5-ED49-2F0349711FDC}"/>
              </a:ext>
            </a:extLst>
          </p:cNvPr>
          <p:cNvSpPr txBox="1"/>
          <p:nvPr/>
        </p:nvSpPr>
        <p:spPr>
          <a:xfrm>
            <a:off x="660400" y="6489700"/>
            <a:ext cx="1085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云哨 </a:t>
            </a:r>
            <a:r>
              <a:rPr lang="en-US" altLang="zh-CN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边缘智枢    </a:t>
            </a:r>
            <a:r>
              <a:rPr lang="en-US" altLang="zh-CN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08 / 12</a:t>
            </a:r>
            <a:endParaRPr lang="zh-CN" altLang="en-US" sz="1000">
              <a:solidFill>
                <a:srgbClr val="9B938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924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4A5ED4A-280E-1825-0775-4225A340FD4A}"/>
              </a:ext>
            </a:extLst>
          </p:cNvPr>
          <p:cNvSpPr txBox="1"/>
          <p:nvPr/>
        </p:nvSpPr>
        <p:spPr>
          <a:xfrm>
            <a:off x="609600" y="419100"/>
            <a:ext cx="1092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3200">
                <a:solidFill>
                  <a:srgbClr val="1C1917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事件证据与处置闭环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467FB99-CA9F-9324-F93C-42CCD5435E72}"/>
              </a:ext>
            </a:extLst>
          </p:cNvPr>
          <p:cNvSpPr txBox="1"/>
          <p:nvPr/>
        </p:nvSpPr>
        <p:spPr>
          <a:xfrm>
            <a:off x="635000" y="1320800"/>
            <a:ext cx="1092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2300">
                <a:solidFill>
                  <a:srgbClr val="1F4D3A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一条事件关联截图、状态与处理记录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101000B-B4D0-A72B-F866-BCC7C8C91A89}"/>
              </a:ext>
            </a:extLst>
          </p:cNvPr>
          <p:cNvSpPr txBox="1"/>
          <p:nvPr/>
        </p:nvSpPr>
        <p:spPr>
          <a:xfrm>
            <a:off x="660400" y="24638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19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授权读取事件截图
待处置 → 处理中 → 已解除
保留处置时间与结果
并发更新由版本校验保护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05BB35D-7C8D-6223-9A00-5BB0C7F3C9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2082800"/>
            <a:ext cx="6858000" cy="3810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E21DC6F-0114-69B5-1290-C1432794EEC1}"/>
              </a:ext>
            </a:extLst>
          </p:cNvPr>
          <p:cNvSpPr txBox="1"/>
          <p:nvPr/>
        </p:nvSpPr>
        <p:spPr>
          <a:xfrm>
            <a:off x="660400" y="60706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1100">
                <a:solidFill>
                  <a:srgbClr val="746B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模拟证据明确标识；本轮已验证完整浏览器处置流程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A8F9BA0-298D-0FD1-83A2-71FCA8652718}"/>
              </a:ext>
            </a:extLst>
          </p:cNvPr>
          <p:cNvSpPr txBox="1"/>
          <p:nvPr/>
        </p:nvSpPr>
        <p:spPr>
          <a:xfrm>
            <a:off x="660400" y="6489700"/>
            <a:ext cx="1085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云哨 </a:t>
            </a:r>
            <a:r>
              <a:rPr lang="en-US" altLang="zh-CN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边缘智枢    </a:t>
            </a:r>
            <a:r>
              <a:rPr lang="en-US" altLang="zh-CN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09 / 12</a:t>
            </a:r>
            <a:endParaRPr lang="zh-CN" altLang="en-US" sz="1000">
              <a:solidFill>
                <a:srgbClr val="9B938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9952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839F527-CBFC-C8EC-1A5E-EBD755FCA86F}"/>
              </a:ext>
            </a:extLst>
          </p:cNvPr>
          <p:cNvSpPr txBox="1"/>
          <p:nvPr/>
        </p:nvSpPr>
        <p:spPr>
          <a:xfrm>
            <a:off x="609600" y="419100"/>
            <a:ext cx="1092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3200">
                <a:solidFill>
                  <a:srgbClr val="1C1917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基础数据分析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750690-1271-56EC-279D-302EB55664CA}"/>
              </a:ext>
            </a:extLst>
          </p:cNvPr>
          <p:cNvSpPr txBox="1"/>
          <p:nvPr/>
        </p:nvSpPr>
        <p:spPr>
          <a:xfrm>
            <a:off x="635000" y="1320800"/>
            <a:ext cx="1092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2300">
                <a:solidFill>
                  <a:srgbClr val="1F4D3A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用事件分布辅助日常巡查与复盘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A9BB24A-8752-D974-60EE-A8440D1EFD51}"/>
              </a:ext>
            </a:extLst>
          </p:cNvPr>
          <p:cNvSpPr txBox="1"/>
          <p:nvPr/>
        </p:nvSpPr>
        <p:spPr>
          <a:xfrm>
            <a:off x="660400" y="24638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19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事件趋势与时间范围
类型与危险等级
高发位置与处置状态
当前账号的后端统计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03759BF-865D-A50D-F3A9-98329087C6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2082800"/>
            <a:ext cx="6858000" cy="3810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7C2693D-1DB1-1435-9A12-3198650D212D}"/>
              </a:ext>
            </a:extLst>
          </p:cNvPr>
          <p:cNvSpPr txBox="1"/>
          <p:nvPr/>
        </p:nvSpPr>
        <p:spPr>
          <a:xfrm>
            <a:off x="660400" y="60706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1100">
                <a:solidFill>
                  <a:srgbClr val="746B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基础统计已实现；</a:t>
            </a:r>
            <a:r>
              <a:rPr lang="en-US" altLang="zh-CN" sz="1100">
                <a:solidFill>
                  <a:srgbClr val="746B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100">
                <a:solidFill>
                  <a:srgbClr val="746B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自动研判与 </a:t>
            </a:r>
            <a:r>
              <a:rPr lang="en-US" altLang="zh-CN" sz="1100">
                <a:solidFill>
                  <a:srgbClr val="746B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MCP </a:t>
            </a:r>
            <a:r>
              <a:rPr lang="zh-CN" altLang="en-US" sz="1100">
                <a:solidFill>
                  <a:srgbClr val="746B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接入属于后续规划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C8B831D-2659-B585-929B-9A1B840EC768}"/>
              </a:ext>
            </a:extLst>
          </p:cNvPr>
          <p:cNvSpPr txBox="1"/>
          <p:nvPr/>
        </p:nvSpPr>
        <p:spPr>
          <a:xfrm>
            <a:off x="660400" y="6489700"/>
            <a:ext cx="1085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云哨 </a:t>
            </a:r>
            <a:r>
              <a:rPr lang="en-US" altLang="zh-CN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边缘智枢    </a:t>
            </a:r>
            <a:r>
              <a:rPr lang="en-US" altLang="zh-CN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/ 12</a:t>
            </a:r>
            <a:endParaRPr lang="zh-CN" altLang="en-US" sz="1000">
              <a:solidFill>
                <a:srgbClr val="9B938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4499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F7C890E-B8FB-26E6-43B8-33F5B702AA88}"/>
              </a:ext>
            </a:extLst>
          </p:cNvPr>
          <p:cNvSpPr txBox="1"/>
          <p:nvPr/>
        </p:nvSpPr>
        <p:spPr>
          <a:xfrm>
            <a:off x="609600" y="419100"/>
            <a:ext cx="1092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3200">
                <a:solidFill>
                  <a:srgbClr val="1C1917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推送链路调试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A49A4DC-4659-B2DC-C02E-5A4C2BD6812B}"/>
              </a:ext>
            </a:extLst>
          </p:cNvPr>
          <p:cNvSpPr txBox="1"/>
          <p:nvPr/>
        </p:nvSpPr>
        <p:spPr>
          <a:xfrm>
            <a:off x="635000" y="1320800"/>
            <a:ext cx="1092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2300">
                <a:solidFill>
                  <a:srgbClr val="1F4D3A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选择测试账号，创建可追溯的模拟告警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EC6778-5A91-161E-5DFB-097046FE8BBC}"/>
              </a:ext>
            </a:extLst>
          </p:cNvPr>
          <p:cNvSpPr txBox="1"/>
          <p:nvPr/>
        </p:nvSpPr>
        <p:spPr>
          <a:xfrm>
            <a:off x="660400" y="24638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19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类型、地点、时间、等级
配置规则并等待 </a:t>
            </a:r>
            <a:r>
              <a:rPr lang="en-US" altLang="zh-CN" sz="19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ACK
MQTT → </a:t>
            </a:r>
            <a:r>
              <a:rPr lang="zh-CN" altLang="en-US" sz="19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 → </a:t>
            </a:r>
            <a:r>
              <a:rPr lang="en-US" altLang="zh-CN" sz="19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Push
</a:t>
            </a:r>
            <a:r>
              <a:rPr lang="zh-CN" altLang="en-US" sz="1900">
                <a:solidFill>
                  <a:srgbClr val="5C54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只读投递状态
手机显示与点击后补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3CE3DE4-8D3E-4900-B40E-E48D6AA9C1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917" y="2082800"/>
            <a:ext cx="6254566" cy="3810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50076CA-BB28-580B-876C-4CA47BC0606E}"/>
              </a:ext>
            </a:extLst>
          </p:cNvPr>
          <p:cNvSpPr txBox="1"/>
          <p:nvPr/>
        </p:nvSpPr>
        <p:spPr>
          <a:xfrm>
            <a:off x="660400" y="60706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1100">
                <a:solidFill>
                  <a:srgbClr val="746B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当前无有效订阅时不会伪报通知成功；</a:t>
            </a:r>
            <a:r>
              <a:rPr lang="en-US" altLang="zh-CN" sz="1100">
                <a:solidFill>
                  <a:srgbClr val="746B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provider accepted </a:t>
            </a:r>
            <a:r>
              <a:rPr lang="zh-CN" altLang="en-US" sz="1100">
                <a:solidFill>
                  <a:srgbClr val="746B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不等于手机已显示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5D75EF6-492C-97F9-6897-93B3C896CFE5}"/>
              </a:ext>
            </a:extLst>
          </p:cNvPr>
          <p:cNvSpPr txBox="1"/>
          <p:nvPr/>
        </p:nvSpPr>
        <p:spPr>
          <a:xfrm>
            <a:off x="660400" y="6489700"/>
            <a:ext cx="1085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云哨 </a:t>
            </a:r>
            <a:r>
              <a:rPr lang="en-US" altLang="zh-CN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边缘智枢    </a:t>
            </a:r>
            <a:r>
              <a:rPr lang="en-US" altLang="zh-CN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 / 12</a:t>
            </a:r>
            <a:endParaRPr lang="zh-CN" altLang="en-US" sz="1000">
              <a:solidFill>
                <a:srgbClr val="9B938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38198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D5E7F0E-578A-9331-51F7-3C41A1476220}"/>
              </a:ext>
            </a:extLst>
          </p:cNvPr>
          <p:cNvSpPr txBox="1"/>
          <p:nvPr/>
        </p:nvSpPr>
        <p:spPr>
          <a:xfrm>
            <a:off x="609600" y="419100"/>
            <a:ext cx="1092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3200">
                <a:solidFill>
                  <a:srgbClr val="1C1917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验证结果与下一步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7EFE7A5-91DE-27A8-333A-15B6D2A5D68E}"/>
              </a:ext>
            </a:extLst>
          </p:cNvPr>
          <p:cNvSpPr txBox="1"/>
          <p:nvPr/>
        </p:nvSpPr>
        <p:spPr>
          <a:xfrm>
            <a:off x="635000" y="1333500"/>
            <a:ext cx="1092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2300">
                <a:solidFill>
                  <a:srgbClr val="1F4D3A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区分已实现、已验证与后续规划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A6E41DF-76C6-7675-1A7F-8F5778BBD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97711"/>
              </p:ext>
            </p:extLst>
          </p:nvPr>
        </p:nvGraphicFramePr>
        <p:xfrm>
          <a:off x="635000" y="2159000"/>
          <a:ext cx="10922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0400">
                  <a:extLst>
                    <a:ext uri="{9D8B030D-6E8A-4147-A177-3AD203B41FA5}">
                      <a16:colId xmlns:a16="http://schemas.microsoft.com/office/drawing/2014/main" val="28052083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73046946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342321183"/>
                    </a:ext>
                  </a:extLst>
                </a:gridCol>
              </a:tblGrid>
              <a:tr h="618067">
                <a:tc>
                  <a:txBody>
                    <a:bodyPr/>
                    <a:lstStyle/>
                    <a:p>
                      <a:r>
                        <a:rPr lang="zh-CN" altLang="en-US" sz="1500">
                          <a:solidFill>
                            <a:srgbClr val="F5F1E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能力</a:t>
                      </a:r>
                    </a:p>
                  </a:txBody>
                  <a:tcPr marL="152400" marR="152400" marT="114300" marB="76200"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>
                          <a:solidFill>
                            <a:srgbClr val="F5F1E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当前证据</a:t>
                      </a:r>
                    </a:p>
                  </a:txBody>
                  <a:tcPr marL="152400" marR="152400" marT="114300" marB="76200"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>
                          <a:solidFill>
                            <a:srgbClr val="F5F1E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下一步</a:t>
                      </a:r>
                    </a:p>
                  </a:txBody>
                  <a:tcPr marL="152400" marR="152400" marT="114300" marB="76200">
                    <a:solidFill>
                      <a:srgbClr val="1F4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750490"/>
                  </a:ext>
                </a:extLst>
              </a:tr>
              <a:tr h="618067">
                <a:tc>
                  <a:txBody>
                    <a:bodyPr/>
                    <a:lstStyle/>
                    <a:p>
                      <a:r>
                        <a:rPr lang="en-US" altLang="zh-CN" sz="1500">
                          <a:solidFill>
                            <a:srgbClr val="1C191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Web </a:t>
                      </a:r>
                      <a:r>
                        <a:rPr lang="zh-CN" altLang="en-US" sz="1500">
                          <a:solidFill>
                            <a:srgbClr val="1C191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与业务闭环</a:t>
                      </a:r>
                    </a:p>
                  </a:txBody>
                  <a:tcPr marL="152400" marR="152400" marT="114300" marB="76200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>
                          <a:solidFill>
                            <a:srgbClr val="1C191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本机 </a:t>
                      </a:r>
                      <a:r>
                        <a:rPr lang="en-US" altLang="zh-CN" sz="1500">
                          <a:solidFill>
                            <a:srgbClr val="1C191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HTTPS / MQTT / </a:t>
                      </a:r>
                      <a:r>
                        <a:rPr lang="zh-CN" altLang="en-US" sz="1500">
                          <a:solidFill>
                            <a:srgbClr val="1C191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数据库 </a:t>
                      </a:r>
                      <a:r>
                        <a:rPr lang="en-US" altLang="zh-CN" sz="1500">
                          <a:solidFill>
                            <a:srgbClr val="1C191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1500">
                          <a:solidFill>
                            <a:srgbClr val="1C191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浏览器验证</a:t>
                      </a:r>
                    </a:p>
                  </a:txBody>
                  <a:tcPr marL="152400" marR="152400" marT="114300" marB="76200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>
                          <a:solidFill>
                            <a:srgbClr val="1C191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真实园区与长期运行</a:t>
                      </a:r>
                    </a:p>
                  </a:txBody>
                  <a:tcPr marL="152400" marR="152400" marT="114300" marB="76200">
                    <a:solidFill>
                      <a:srgbClr val="F1ED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547927"/>
                  </a:ext>
                </a:extLst>
              </a:tr>
              <a:tr h="618067">
                <a:tc>
                  <a:txBody>
                    <a:bodyPr/>
                    <a:lstStyle/>
                    <a:p>
                      <a:r>
                        <a:rPr lang="zh-CN" altLang="en-US" sz="1500">
                          <a:solidFill>
                            <a:srgbClr val="1C191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推送</a:t>
                      </a:r>
                    </a:p>
                  </a:txBody>
                  <a:tcPr marL="152400" marR="152400" marT="114300" marB="76200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>
                          <a:solidFill>
                            <a:srgbClr val="1C191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订阅、投递代码与本机事件接入</a:t>
                      </a:r>
                    </a:p>
                  </a:txBody>
                  <a:tcPr marL="152400" marR="152400" marT="114300" marB="76200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>
                          <a:solidFill>
                            <a:srgbClr val="1C191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手机通知显示与点击</a:t>
                      </a:r>
                    </a:p>
                  </a:txBody>
                  <a:tcPr marL="152400" marR="152400" marT="114300" marB="76200">
                    <a:solidFill>
                      <a:srgbClr val="FA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751176"/>
                  </a:ext>
                </a:extLst>
              </a:tr>
              <a:tr h="618067">
                <a:tc>
                  <a:txBody>
                    <a:bodyPr/>
                    <a:lstStyle/>
                    <a:p>
                      <a:r>
                        <a:rPr lang="en-US" altLang="zh-CN" sz="1500">
                          <a:solidFill>
                            <a:srgbClr val="1C191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Atlas </a:t>
                      </a:r>
                      <a:r>
                        <a:rPr lang="zh-CN" altLang="en-US" sz="1500">
                          <a:solidFill>
                            <a:srgbClr val="1C191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与视频</a:t>
                      </a:r>
                    </a:p>
                  </a:txBody>
                  <a:tcPr marL="152400" marR="152400" marT="114300" marB="76200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>
                          <a:solidFill>
                            <a:srgbClr val="1C191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既有合成流推理记录</a:t>
                      </a:r>
                    </a:p>
                  </a:txBody>
                  <a:tcPr marL="152400" marR="152400" marT="114300" marB="76200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>
                          <a:solidFill>
                            <a:srgbClr val="1C191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真实摄像头、媒体与精度</a:t>
                      </a:r>
                    </a:p>
                  </a:txBody>
                  <a:tcPr marL="152400" marR="152400" marT="114300" marB="76200">
                    <a:solidFill>
                      <a:srgbClr val="F1ED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677588"/>
                  </a:ext>
                </a:extLst>
              </a:tr>
              <a:tr h="618067">
                <a:tc>
                  <a:txBody>
                    <a:bodyPr/>
                    <a:lstStyle/>
                    <a:p>
                      <a:r>
                        <a:rPr lang="zh-CN" altLang="en-US" sz="1500">
                          <a:solidFill>
                            <a:srgbClr val="1C191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扩展能力</a:t>
                      </a:r>
                    </a:p>
                  </a:txBody>
                  <a:tcPr marL="152400" marR="152400" marT="114300" marB="76200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>
                          <a:solidFill>
                            <a:srgbClr val="1C191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三套模型准备流程</a:t>
                      </a:r>
                    </a:p>
                  </a:txBody>
                  <a:tcPr marL="152400" marR="152400" marT="114300" marB="76200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>
                          <a:solidFill>
                            <a:srgbClr val="1C191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多行业验证；</a:t>
                      </a:r>
                      <a:r>
                        <a:rPr lang="en-US" altLang="zh-CN" sz="1500">
                          <a:solidFill>
                            <a:srgbClr val="1C191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MCP </a:t>
                      </a:r>
                      <a:r>
                        <a:rPr lang="zh-CN" altLang="en-US" sz="1500">
                          <a:solidFill>
                            <a:srgbClr val="1C191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与原生 </a:t>
                      </a:r>
                      <a:r>
                        <a:rPr lang="en-US" altLang="zh-CN" sz="1500">
                          <a:solidFill>
                            <a:srgbClr val="1C191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App</a:t>
                      </a:r>
                      <a:endParaRPr lang="zh-CN" altLang="en-US" sz="1500">
                        <a:solidFill>
                          <a:srgbClr val="1C191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52400" marR="152400" marT="114300" marB="76200">
                    <a:solidFill>
                      <a:srgbClr val="FA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315376"/>
                  </a:ext>
                </a:extLst>
              </a:tr>
              <a:tr h="618067">
                <a:tc>
                  <a:txBody>
                    <a:bodyPr/>
                    <a:lstStyle/>
                    <a:p>
                      <a:r>
                        <a:rPr lang="en-US" altLang="zh-CN" sz="1500">
                          <a:solidFill>
                            <a:srgbClr val="1C191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CodeArts </a:t>
                      </a:r>
                      <a:r>
                        <a:rPr lang="zh-CN" altLang="en-US" sz="1500">
                          <a:solidFill>
                            <a:srgbClr val="1C191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证据</a:t>
                      </a:r>
                    </a:p>
                  </a:txBody>
                  <a:tcPr marL="152400" marR="152400" marT="114300" marB="76200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>
                          <a:solidFill>
                            <a:srgbClr val="1C191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保留证据目录与补录说明</a:t>
                      </a:r>
                    </a:p>
                  </a:txBody>
                  <a:tcPr marL="152400" marR="152400" marT="114300" marB="76200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>
                          <a:solidFill>
                            <a:srgbClr val="1C191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实际操作截图由用户后补</a:t>
                      </a:r>
                    </a:p>
                  </a:txBody>
                  <a:tcPr marL="152400" marR="152400" marT="114300" marB="76200">
                    <a:solidFill>
                      <a:srgbClr val="F1ED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88526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7829CA51-D227-4D44-8552-39C1C20B8C22}"/>
              </a:ext>
            </a:extLst>
          </p:cNvPr>
          <p:cNvSpPr txBox="1"/>
          <p:nvPr/>
        </p:nvSpPr>
        <p:spPr>
          <a:xfrm>
            <a:off x="660400" y="6489700"/>
            <a:ext cx="1085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zh-CN" altLang="en-US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云哨 </a:t>
            </a:r>
            <a:r>
              <a:rPr lang="en-US" altLang="zh-CN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边缘智枢    </a:t>
            </a:r>
            <a:r>
              <a:rPr lang="en-US" altLang="zh-CN" sz="1000">
                <a:solidFill>
                  <a:srgbClr val="9B93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 / 12</a:t>
            </a:r>
            <a:endParaRPr lang="zh-CN" altLang="en-US" sz="1000">
              <a:solidFill>
                <a:srgbClr val="9B938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8547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1808</Words>
  <Application>Microsoft Office PowerPoint</Application>
  <PresentationFormat>自定义</PresentationFormat>
  <Paragraphs>99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等线</vt:lpstr>
      <vt:lpstr>等线 Light</vt:lpstr>
      <vt:lpstr>SimSun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宇 谢</dc:creator>
  <cp:lastModifiedBy>宇 谢</cp:lastModifiedBy>
  <cp:revision>1</cp:revision>
  <dcterms:created xsi:type="dcterms:W3CDTF">2026-10-22T10:33:58Z</dcterms:created>
  <dcterms:modified xsi:type="dcterms:W3CDTF">2026-10-22T10:33:58Z</dcterms:modified>
</cp:coreProperties>
</file>